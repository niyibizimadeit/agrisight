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84"/>
  </p:normalViewPr>
  <p:slideViewPr>
    <p:cSldViewPr snapToGrid="0" snapToObjects="1">
      <p:cViewPr>
        <p:scale>
          <a:sx n="77" d="100"/>
          <a:sy n="77" d="100"/>
        </p:scale>
        <p:origin x="1816" y="8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91695" cy="7315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2834640"/>
            <a:ext cx="2286000" cy="3657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3108960"/>
            <a:ext cx="36576" cy="32004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3703320"/>
            <a:ext cx="36576" cy="320040"/>
          </a:xfrm>
          <a:prstGeom prst="rect">
            <a:avLst/>
          </a:prstGeom>
          <a:solidFill>
            <a:srgbClr val="B48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4297680"/>
            <a:ext cx="36576" cy="320040"/>
          </a:xfrm>
          <a:prstGeom prst="rect">
            <a:avLst/>
          </a:prstGeom>
          <a:solidFill>
            <a:srgbClr val="947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4892040"/>
            <a:ext cx="36576" cy="320040"/>
          </a:xfrm>
          <a:prstGeom prst="rect">
            <a:avLst/>
          </a:prstGeom>
          <a:solidFill>
            <a:srgbClr val="745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5486400"/>
            <a:ext cx="36576" cy="320040"/>
          </a:xfrm>
          <a:prstGeom prst="rect">
            <a:avLst/>
          </a:prstGeom>
          <a:solidFill>
            <a:srgbClr val="544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0" y="1097280"/>
            <a:ext cx="8229600" cy="1097280"/>
          </a:xfrm>
          <a:prstGeom prst="rect">
            <a:avLst/>
          </a:prstGeom>
          <a:noFill/>
        </p:spPr>
        <p:txBody>
          <a:bodyPr wrap="square"/>
          <a:lstStyle/>
          <a:p>
            <a:pPr algn="l">
              <a:lnSpc>
                <a:spcPct val="120000"/>
              </a:lnSpc>
              <a:spcBef>
                <a:spcPts val="0"/>
              </a:spcBef>
              <a:spcAft>
                <a:spcPts val="0"/>
              </a:spcAft>
              <a:defRPr sz="6000" b="1">
                <a:solidFill>
                  <a:srgbClr val="FFFFFF"/>
                </a:solidFill>
                <a:latin typeface="Calibri"/>
              </a:defRPr>
            </a:pPr>
            <a:r>
              <a:t>AgriSight</a:t>
            </a:r>
          </a:p>
        </p:txBody>
      </p:sp>
      <p:sp>
        <p:nvSpPr>
          <p:cNvPr id="12" name="TextBox 11"/>
          <p:cNvSpPr txBox="1"/>
          <p:nvPr/>
        </p:nvSpPr>
        <p:spPr>
          <a:xfrm>
            <a:off x="2560320" y="2194560"/>
            <a:ext cx="8229600" cy="731520"/>
          </a:xfrm>
          <a:prstGeom prst="rect">
            <a:avLst/>
          </a:prstGeom>
          <a:noFill/>
        </p:spPr>
        <p:txBody>
          <a:bodyPr wrap="square"/>
          <a:lstStyle/>
          <a:p>
            <a:pPr algn="l">
              <a:lnSpc>
                <a:spcPct val="120000"/>
              </a:lnSpc>
              <a:spcBef>
                <a:spcPts val="0"/>
              </a:spcBef>
              <a:spcAft>
                <a:spcPts val="0"/>
              </a:spcAft>
              <a:defRPr sz="2000" b="0">
                <a:solidFill>
                  <a:srgbClr val="E8DCC8"/>
                </a:solidFill>
                <a:latin typeface="Calibri"/>
              </a:defRPr>
            </a:pPr>
            <a:r>
              <a:t>Agricultural E-commerce Data Scraping,</a:t>
            </a:r>
            <a:br/>
            <a:r>
              <a:t>Sales Feature Analysis &amp; Sales Prediction System</a:t>
            </a:r>
          </a:p>
        </p:txBody>
      </p:sp>
      <p:sp>
        <p:nvSpPr>
          <p:cNvPr id="13" name="Rectangle 12"/>
          <p:cNvSpPr/>
          <p:nvPr/>
        </p:nvSpPr>
        <p:spPr>
          <a:xfrm>
            <a:off x="2560320" y="3474720"/>
            <a:ext cx="7315200" cy="1371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0" y="3749039"/>
            <a:ext cx="7315200" cy="2286000"/>
          </a:xfrm>
          <a:prstGeom prst="rect">
            <a:avLst/>
          </a:prstGeom>
          <a:noFill/>
        </p:spPr>
        <p:txBody>
          <a:bodyPr wrap="square"/>
          <a:lstStyle/>
          <a:p>
            <a:pPr algn="l">
              <a:spcBef>
                <a:spcPts val="0"/>
              </a:spcBef>
              <a:spcAft>
                <a:spcPts val="600"/>
              </a:spcAft>
              <a:defRPr sz="2200" b="1">
                <a:solidFill>
                  <a:srgbClr val="FFFFFF"/>
                </a:solidFill>
                <a:latin typeface="Calibri"/>
              </a:defRPr>
            </a:pPr>
            <a:r>
              <a:rPr dirty="0"/>
              <a:t>NIYIBIZI Prince</a:t>
            </a:r>
          </a:p>
          <a:p>
            <a:pPr algn="l">
              <a:spcBef>
                <a:spcPts val="0"/>
              </a:spcBef>
              <a:spcAft>
                <a:spcPts val="1200"/>
              </a:spcAft>
              <a:defRPr sz="1600" b="0">
                <a:solidFill>
                  <a:srgbClr val="E8DCC8"/>
                </a:solidFill>
                <a:latin typeface="Calibri"/>
              </a:defRPr>
            </a:pPr>
            <a:r>
              <a:rPr dirty="0"/>
              <a:t>Taizhou University</a:t>
            </a:r>
          </a:p>
          <a:p>
            <a:pPr algn="l">
              <a:spcBef>
                <a:spcPts val="0"/>
              </a:spcBef>
              <a:spcAft>
                <a:spcPts val="600"/>
              </a:spcAft>
              <a:defRPr sz="1500" b="0">
                <a:solidFill>
                  <a:srgbClr val="C4A882"/>
                </a:solidFill>
                <a:latin typeface="Calibri"/>
              </a:defRPr>
            </a:pPr>
            <a:r>
              <a:rPr dirty="0"/>
              <a:t>Data Analysis Training </a:t>
            </a:r>
          </a:p>
          <a:p>
            <a:pPr algn="l">
              <a:spcBef>
                <a:spcPts val="0"/>
              </a:spcBef>
              <a:spcAft>
                <a:spcPts val="1000"/>
              </a:spcAft>
              <a:defRPr sz="1300" b="0">
                <a:solidFill>
                  <a:srgbClr val="A08E74"/>
                </a:solidFill>
                <a:latin typeface="Calibri"/>
              </a:defRPr>
            </a:pPr>
            <a:r>
              <a:rPr dirty="0"/>
              <a:t>Agricultural E-commerce Analysis Track</a:t>
            </a:r>
          </a:p>
          <a:p>
            <a:pPr algn="l">
              <a:spcBef>
                <a:spcPts val="0"/>
              </a:spcBef>
              <a:spcAft>
                <a:spcPts val="400"/>
              </a:spcAft>
              <a:defRPr sz="1400" b="1">
                <a:solidFill>
                  <a:srgbClr val="D4A853"/>
                </a:solidFill>
                <a:latin typeface="Calibri"/>
              </a:defRPr>
            </a:pPr>
            <a:r>
              <a:rPr dirty="0"/>
              <a:t>June 2026</a:t>
            </a:r>
          </a:p>
          <a:p>
            <a:pPr algn="l">
              <a:spcBef>
                <a:spcPts val="0"/>
              </a:spcBef>
              <a:spcAft>
                <a:spcPts val="400"/>
              </a:spcAft>
              <a:defRPr sz="1200" b="0">
                <a:solidFill>
                  <a:srgbClr val="A08E74"/>
                </a:solidFill>
                <a:latin typeface="Calibri"/>
              </a:defRPr>
            </a:pPr>
            <a:r>
              <a:rPr dirty="0"/>
              <a:t>5 Categories  •  3,000 Records  •  16 Charts  •  11 APIs  •  12 Web Pages</a:t>
            </a:r>
          </a:p>
        </p:txBody>
      </p:sp>
      <p:sp>
        <p:nvSpPr>
          <p:cNvPr id="15" name="TextBox 14"/>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Presentation Outline</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A comprehensive walkthrough of the entire project lifecycle</a:t>
            </a:r>
          </a:p>
        </p:txBody>
      </p:sp>
      <p:sp>
        <p:nvSpPr>
          <p:cNvPr id="6" name="Rectangle 5"/>
          <p:cNvSpPr/>
          <p:nvPr/>
        </p:nvSpPr>
        <p:spPr>
          <a:xfrm>
            <a:off x="457200" y="1463040"/>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36192"/>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01</a:t>
            </a:r>
          </a:p>
        </p:txBody>
      </p:sp>
      <p:sp>
        <p:nvSpPr>
          <p:cNvPr id="8" name="TextBox 7"/>
          <p:cNvSpPr txBox="1"/>
          <p:nvPr/>
        </p:nvSpPr>
        <p:spPr>
          <a:xfrm>
            <a:off x="1234440" y="1508760"/>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Problem &amp; Solution</a:t>
            </a:r>
          </a:p>
        </p:txBody>
      </p:sp>
      <p:sp>
        <p:nvSpPr>
          <p:cNvPr id="9" name="TextBox 8"/>
          <p:cNvSpPr txBox="1"/>
          <p:nvPr/>
        </p:nvSpPr>
        <p:spPr>
          <a:xfrm>
            <a:off x="1234440" y="1783080"/>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The agricultural e-commerce intelligence gap and how AgriSight addresses it</a:t>
            </a:r>
          </a:p>
        </p:txBody>
      </p:sp>
      <p:sp>
        <p:nvSpPr>
          <p:cNvPr id="10" name="Rectangle 9"/>
          <p:cNvSpPr/>
          <p:nvPr/>
        </p:nvSpPr>
        <p:spPr>
          <a:xfrm>
            <a:off x="457200" y="2112264"/>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185416"/>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02</a:t>
            </a:r>
          </a:p>
        </p:txBody>
      </p:sp>
      <p:sp>
        <p:nvSpPr>
          <p:cNvPr id="12" name="TextBox 11"/>
          <p:cNvSpPr txBox="1"/>
          <p:nvPr/>
        </p:nvSpPr>
        <p:spPr>
          <a:xfrm>
            <a:off x="1234440" y="2157984"/>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Data Collection</a:t>
            </a:r>
          </a:p>
        </p:txBody>
      </p:sp>
      <p:sp>
        <p:nvSpPr>
          <p:cNvPr id="13" name="TextBox 12"/>
          <p:cNvSpPr txBox="1"/>
          <p:nvPr/>
        </p:nvSpPr>
        <p:spPr>
          <a:xfrm>
            <a:off x="1234440" y="2432304"/>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Platform evaluation, Suning scraping strategy, 55-keyword approach, 3,000 records</a:t>
            </a:r>
          </a:p>
        </p:txBody>
      </p:sp>
      <p:sp>
        <p:nvSpPr>
          <p:cNvPr id="14" name="Rectangle 13"/>
          <p:cNvSpPr/>
          <p:nvPr/>
        </p:nvSpPr>
        <p:spPr>
          <a:xfrm>
            <a:off x="457200" y="2761488"/>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834640"/>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03</a:t>
            </a:r>
          </a:p>
        </p:txBody>
      </p:sp>
      <p:sp>
        <p:nvSpPr>
          <p:cNvPr id="16" name="TextBox 15"/>
          <p:cNvSpPr txBox="1"/>
          <p:nvPr/>
        </p:nvSpPr>
        <p:spPr>
          <a:xfrm>
            <a:off x="1234440" y="2807208"/>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Data Cleaning</a:t>
            </a:r>
          </a:p>
        </p:txBody>
      </p:sp>
      <p:sp>
        <p:nvSpPr>
          <p:cNvPr id="17" name="TextBox 16"/>
          <p:cNvSpPr txBox="1"/>
          <p:nvPr/>
        </p:nvSpPr>
        <p:spPr>
          <a:xfrm>
            <a:off x="1234440" y="3081528"/>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9-step pipeline: parsing, imputation, deduplication, outlier capping, feature engineering</a:t>
            </a:r>
          </a:p>
        </p:txBody>
      </p:sp>
      <p:sp>
        <p:nvSpPr>
          <p:cNvPr id="18" name="Rectangle 17"/>
          <p:cNvSpPr/>
          <p:nvPr/>
        </p:nvSpPr>
        <p:spPr>
          <a:xfrm>
            <a:off x="457200" y="3410712"/>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3483864"/>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04</a:t>
            </a:r>
          </a:p>
        </p:txBody>
      </p:sp>
      <p:sp>
        <p:nvSpPr>
          <p:cNvPr id="20" name="TextBox 19"/>
          <p:cNvSpPr txBox="1"/>
          <p:nvPr/>
        </p:nvSpPr>
        <p:spPr>
          <a:xfrm>
            <a:off x="1234440" y="345643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Descriptive &amp; Correlation Analysis</a:t>
            </a:r>
          </a:p>
        </p:txBody>
      </p:sp>
      <p:sp>
        <p:nvSpPr>
          <p:cNvPr id="21" name="TextBox 20"/>
          <p:cNvSpPr txBox="1"/>
          <p:nvPr/>
        </p:nvSpPr>
        <p:spPr>
          <a:xfrm>
            <a:off x="1234440" y="3730752"/>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KPI overview, category dynamics, Pearson correlation matrix, key relationships</a:t>
            </a:r>
          </a:p>
        </p:txBody>
      </p:sp>
      <p:sp>
        <p:nvSpPr>
          <p:cNvPr id="22" name="Rectangle 21"/>
          <p:cNvSpPr/>
          <p:nvPr/>
        </p:nvSpPr>
        <p:spPr>
          <a:xfrm>
            <a:off x="457200" y="4059936"/>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4133088"/>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05</a:t>
            </a:r>
          </a:p>
        </p:txBody>
      </p:sp>
      <p:sp>
        <p:nvSpPr>
          <p:cNvPr id="24" name="TextBox 23"/>
          <p:cNvSpPr txBox="1"/>
          <p:nvPr/>
        </p:nvSpPr>
        <p:spPr>
          <a:xfrm>
            <a:off x="1234440" y="4105656"/>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Regression &amp; Prediction Modeling</a:t>
            </a:r>
          </a:p>
        </p:txBody>
      </p:sp>
      <p:sp>
        <p:nvSpPr>
          <p:cNvPr id="25" name="TextBox 24"/>
          <p:cNvSpPr txBox="1"/>
          <p:nvPr/>
        </p:nvSpPr>
        <p:spPr>
          <a:xfrm>
            <a:off x="1234440" y="4379976"/>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OLS vs Random Forest, R2=0.709, feature importance analysis</a:t>
            </a:r>
          </a:p>
        </p:txBody>
      </p:sp>
      <p:sp>
        <p:nvSpPr>
          <p:cNvPr id="26" name="Rectangle 25"/>
          <p:cNvSpPr/>
          <p:nvPr/>
        </p:nvSpPr>
        <p:spPr>
          <a:xfrm>
            <a:off x="457200" y="4709160"/>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782312"/>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06</a:t>
            </a:r>
          </a:p>
        </p:txBody>
      </p:sp>
      <p:sp>
        <p:nvSpPr>
          <p:cNvPr id="28" name="TextBox 27"/>
          <p:cNvSpPr txBox="1"/>
          <p:nvPr/>
        </p:nvSpPr>
        <p:spPr>
          <a:xfrm>
            <a:off x="1234440" y="4754880"/>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Clustering &amp; PCA</a:t>
            </a:r>
          </a:p>
        </p:txBody>
      </p:sp>
      <p:sp>
        <p:nvSpPr>
          <p:cNvPr id="29" name="TextBox 28"/>
          <p:cNvSpPr txBox="1"/>
          <p:nvPr/>
        </p:nvSpPr>
        <p:spPr>
          <a:xfrm>
            <a:off x="1234440" y="5029200"/>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K-Means (K=4) market segments, PCA competitiveness scoring, top products</a:t>
            </a:r>
          </a:p>
        </p:txBody>
      </p:sp>
      <p:sp>
        <p:nvSpPr>
          <p:cNvPr id="30" name="Rectangle 29"/>
          <p:cNvSpPr/>
          <p:nvPr/>
        </p:nvSpPr>
        <p:spPr>
          <a:xfrm>
            <a:off x="457200" y="5358384"/>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5431536"/>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07</a:t>
            </a:r>
          </a:p>
        </p:txBody>
      </p:sp>
      <p:sp>
        <p:nvSpPr>
          <p:cNvPr id="32" name="TextBox 31"/>
          <p:cNvSpPr txBox="1"/>
          <p:nvPr/>
        </p:nvSpPr>
        <p:spPr>
          <a:xfrm>
            <a:off x="1234440" y="5404104"/>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System Architecture &amp; Implementation</a:t>
            </a:r>
          </a:p>
        </p:txBody>
      </p:sp>
      <p:sp>
        <p:nvSpPr>
          <p:cNvPr id="33" name="TextBox 32"/>
          <p:cNvSpPr txBox="1"/>
          <p:nvPr/>
        </p:nvSpPr>
        <p:spPr>
          <a:xfrm>
            <a:off x="1234440" y="5678424"/>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3-tier design, FastAPI backend (11 endpoints), Vue 3 + ECharts frontend (12 pages)</a:t>
            </a:r>
          </a:p>
        </p:txBody>
      </p:sp>
      <p:sp>
        <p:nvSpPr>
          <p:cNvPr id="34" name="Rectangle 33"/>
          <p:cNvSpPr/>
          <p:nvPr/>
        </p:nvSpPr>
        <p:spPr>
          <a:xfrm>
            <a:off x="457200" y="6007608"/>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6080760"/>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08</a:t>
            </a:r>
          </a:p>
        </p:txBody>
      </p:sp>
      <p:sp>
        <p:nvSpPr>
          <p:cNvPr id="36" name="TextBox 35"/>
          <p:cNvSpPr txBox="1"/>
          <p:nvPr/>
        </p:nvSpPr>
        <p:spPr>
          <a:xfrm>
            <a:off x="1234440" y="6053328"/>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Results &amp; Recommendations</a:t>
            </a:r>
          </a:p>
        </p:txBody>
      </p:sp>
      <p:sp>
        <p:nvSpPr>
          <p:cNvPr id="37" name="TextBox 36"/>
          <p:cNvSpPr txBox="1"/>
          <p:nvPr/>
        </p:nvSpPr>
        <p:spPr>
          <a:xfrm>
            <a:off x="1234440" y="6327648"/>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6 key findings, 6 seller recommendations, project metrics, future roadmap</a:t>
            </a:r>
          </a:p>
        </p:txBody>
      </p:sp>
      <p:sp>
        <p:nvSpPr>
          <p:cNvPr id="38" name="TextBox 3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The Problem — Agricultural E-commerce Intelligence Gap</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Sellers operate blind — no data on competitor pricing, sales patterns, or demand dynamics</a:t>
            </a:r>
          </a:p>
        </p:txBody>
      </p:sp>
      <p:sp>
        <p:nvSpPr>
          <p:cNvPr id="6" name="Rectangle 5"/>
          <p:cNvSpPr/>
          <p:nvPr/>
        </p:nvSpPr>
        <p:spPr>
          <a:xfrm>
            <a:off x="365760" y="1417320"/>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417320"/>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90472"/>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01. Information Asymmetry</a:t>
            </a:r>
          </a:p>
        </p:txBody>
      </p:sp>
      <p:sp>
        <p:nvSpPr>
          <p:cNvPr id="9" name="TextBox 8"/>
          <p:cNvSpPr txBox="1"/>
          <p:nvPr/>
        </p:nvSpPr>
        <p:spPr>
          <a:xfrm>
            <a:off x="640080" y="1801368"/>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Agricultural sellers — often small-scale farmers and cooperatives — lack access to market intelligence tools. They cannot see competitor pricing, sales trends, or demand patterns that urban consumer goods sellers take for granted.</a:t>
            </a:r>
          </a:p>
        </p:txBody>
      </p:sp>
      <p:sp>
        <p:nvSpPr>
          <p:cNvPr id="10" name="Rectangle 9"/>
          <p:cNvSpPr/>
          <p:nvPr/>
        </p:nvSpPr>
        <p:spPr>
          <a:xfrm>
            <a:off x="365760" y="2441448"/>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2441448"/>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514600"/>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02. Pricing Without Data</a:t>
            </a:r>
          </a:p>
        </p:txBody>
      </p:sp>
      <p:sp>
        <p:nvSpPr>
          <p:cNvPr id="13" name="TextBox 12"/>
          <p:cNvSpPr txBox="1"/>
          <p:nvPr/>
        </p:nvSpPr>
        <p:spPr>
          <a:xfrm>
            <a:off x="640080" y="2825496"/>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Without systematic data on what price points drive sales in each category, sellers either underprice (sacrificing margin) or overprice (losing volume). Pricing decisions are gut-feel rather than data-driven.</a:t>
            </a:r>
          </a:p>
        </p:txBody>
      </p:sp>
      <p:sp>
        <p:nvSpPr>
          <p:cNvPr id="14" name="Rectangle 13"/>
          <p:cNvSpPr/>
          <p:nvPr/>
        </p:nvSpPr>
        <p:spPr>
          <a:xfrm>
            <a:off x="365760" y="3465576"/>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3465576"/>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538728"/>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03. No Predictive Capability</a:t>
            </a:r>
          </a:p>
        </p:txBody>
      </p:sp>
      <p:sp>
        <p:nvSpPr>
          <p:cNvPr id="17" name="TextBox 16"/>
          <p:cNvSpPr txBox="1"/>
          <p:nvPr/>
        </p:nvSpPr>
        <p:spPr>
          <a:xfrm>
            <a:off x="640080" y="3849624"/>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Sellers cannot forecast expected monthly sales for a product given its attributes. Listing decisions — what price to set, which category to enter — are made on intuition alone.</a:t>
            </a:r>
          </a:p>
        </p:txBody>
      </p:sp>
      <p:sp>
        <p:nvSpPr>
          <p:cNvPr id="18" name="Rectangle 17"/>
          <p:cNvSpPr/>
          <p:nvPr/>
        </p:nvSpPr>
        <p:spPr>
          <a:xfrm>
            <a:off x="365760" y="4489704"/>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4489704"/>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562856"/>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04. Category Blindness</a:t>
            </a:r>
          </a:p>
        </p:txBody>
      </p:sp>
      <p:sp>
        <p:nvSpPr>
          <p:cNvPr id="21" name="TextBox 20"/>
          <p:cNvSpPr txBox="1"/>
          <p:nvPr/>
        </p:nvSpPr>
        <p:spPr>
          <a:xfrm>
            <a:off x="640080" y="4873752"/>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Fruits, Vegetables, Tea, Grains, and Fresh Produce have radically different market dynamics. A pricing strategy that works for Tea (premium, high-margin) fails for Vegetables (high-volume, low-margin).</a:t>
            </a:r>
          </a:p>
        </p:txBody>
      </p:sp>
      <p:sp>
        <p:nvSpPr>
          <p:cNvPr id="22" name="Rectangle 21"/>
          <p:cNvSpPr/>
          <p:nvPr/>
        </p:nvSpPr>
        <p:spPr>
          <a:xfrm>
            <a:off x="365760" y="5513832"/>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5513832"/>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586984"/>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05. Missing Market Segmentation</a:t>
            </a:r>
          </a:p>
        </p:txBody>
      </p:sp>
      <p:sp>
        <p:nvSpPr>
          <p:cNvPr id="25" name="TextBox 24"/>
          <p:cNvSpPr txBox="1"/>
          <p:nvPr/>
        </p:nvSpPr>
        <p:spPr>
          <a:xfrm>
            <a:off x="640080" y="5897880"/>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Without understanding how products cluster into market tiers, sellers cannot position their offerings strategically. They don't know if they're competing on price, quality, or volume.</a:t>
            </a:r>
          </a:p>
        </p:txBody>
      </p:sp>
      <p:sp>
        <p:nvSpPr>
          <p:cNvPr id="26" name="TextBox 2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AgriSight — The Solution</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A complete data pipeline: Scrape → Clean → Analyze → Predict → Visualize</a:t>
            </a:r>
          </a:p>
        </p:txBody>
      </p:sp>
      <p:sp>
        <p:nvSpPr>
          <p:cNvPr id="6" name="Rectangle 5"/>
          <p:cNvSpPr/>
          <p:nvPr/>
        </p:nvSpPr>
        <p:spPr>
          <a:xfrm>
            <a:off x="365760" y="1417320"/>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417320"/>
            <a:ext cx="54864" cy="96012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90472"/>
            <a:ext cx="4572000" cy="274320"/>
          </a:xfrm>
          <a:prstGeom prst="rect">
            <a:avLst/>
          </a:prstGeom>
          <a:noFill/>
        </p:spPr>
        <p:txBody>
          <a:bodyPr wrap="square"/>
          <a:lstStyle/>
          <a:p>
            <a:pPr algn="l">
              <a:lnSpc>
                <a:spcPct val="120000"/>
              </a:lnSpc>
              <a:spcBef>
                <a:spcPts val="0"/>
              </a:spcBef>
              <a:spcAft>
                <a:spcPts val="0"/>
              </a:spcAft>
              <a:defRPr sz="1500" b="1">
                <a:solidFill>
                  <a:srgbClr val="8BA87E"/>
                </a:solidFill>
                <a:latin typeface="Calibri"/>
              </a:defRPr>
            </a:pPr>
            <a:r>
              <a:t>01. Data Collection Engine</a:t>
            </a:r>
          </a:p>
        </p:txBody>
      </p:sp>
      <p:sp>
        <p:nvSpPr>
          <p:cNvPr id="9" name="TextBox 8"/>
          <p:cNvSpPr txBox="1"/>
          <p:nvPr/>
        </p:nvSpPr>
        <p:spPr>
          <a:xfrm>
            <a:off x="640080" y="1801368"/>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Multi-keyword scraping from Suning (55 keywords, 5 categories, 3,000 records). Platform evaluation across JD.com, 1688.com, and Suning to identify the viable data source.</a:t>
            </a:r>
          </a:p>
        </p:txBody>
      </p:sp>
      <p:sp>
        <p:nvSpPr>
          <p:cNvPr id="10" name="Rectangle 9"/>
          <p:cNvSpPr/>
          <p:nvPr/>
        </p:nvSpPr>
        <p:spPr>
          <a:xfrm>
            <a:off x="365760" y="2441448"/>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2441448"/>
            <a:ext cx="54864" cy="96012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514600"/>
            <a:ext cx="4572000" cy="274320"/>
          </a:xfrm>
          <a:prstGeom prst="rect">
            <a:avLst/>
          </a:prstGeom>
          <a:noFill/>
        </p:spPr>
        <p:txBody>
          <a:bodyPr wrap="square"/>
          <a:lstStyle/>
          <a:p>
            <a:pPr algn="l">
              <a:lnSpc>
                <a:spcPct val="120000"/>
              </a:lnSpc>
              <a:spcBef>
                <a:spcPts val="0"/>
              </a:spcBef>
              <a:spcAft>
                <a:spcPts val="0"/>
              </a:spcAft>
              <a:defRPr sz="1500" b="1">
                <a:solidFill>
                  <a:srgbClr val="6B9B9B"/>
                </a:solidFill>
                <a:latin typeface="Calibri"/>
              </a:defRPr>
            </a:pPr>
            <a:r>
              <a:t>02. Statistical Analysis Pipeline</a:t>
            </a:r>
          </a:p>
        </p:txBody>
      </p:sp>
      <p:sp>
        <p:nvSpPr>
          <p:cNvPr id="13" name="TextBox 12"/>
          <p:cNvSpPr txBox="1"/>
          <p:nvPr/>
        </p:nvSpPr>
        <p:spPr>
          <a:xfrm>
            <a:off x="640080" y="2825496"/>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5 analysis methods executed sequentially: Descriptive Statistics → Correlation Analysis → OLS &amp; Random Forest Regression → K-Means Clustering → PCA Competitiveness Scoring. 16 charts generated.</a:t>
            </a:r>
          </a:p>
        </p:txBody>
      </p:sp>
      <p:sp>
        <p:nvSpPr>
          <p:cNvPr id="14" name="Rectangle 13"/>
          <p:cNvSpPr/>
          <p:nvPr/>
        </p:nvSpPr>
        <p:spPr>
          <a:xfrm>
            <a:off x="365760" y="3465576"/>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3465576"/>
            <a:ext cx="54864" cy="9601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538728"/>
            <a:ext cx="4572000" cy="274320"/>
          </a:xfrm>
          <a:prstGeom prst="rect">
            <a:avLst/>
          </a:prstGeom>
          <a:noFill/>
        </p:spPr>
        <p:txBody>
          <a:bodyPr wrap="square"/>
          <a:lstStyle/>
          <a:p>
            <a:pPr algn="l">
              <a:lnSpc>
                <a:spcPct val="120000"/>
              </a:lnSpc>
              <a:spcBef>
                <a:spcPts val="0"/>
              </a:spcBef>
              <a:spcAft>
                <a:spcPts val="0"/>
              </a:spcAft>
              <a:defRPr sz="1500" b="1">
                <a:solidFill>
                  <a:srgbClr val="D4A853"/>
                </a:solidFill>
                <a:latin typeface="Calibri"/>
              </a:defRPr>
            </a:pPr>
            <a:r>
              <a:t>03. Machine Learning Prediction</a:t>
            </a:r>
          </a:p>
        </p:txBody>
      </p:sp>
      <p:sp>
        <p:nvSpPr>
          <p:cNvPr id="17" name="TextBox 16"/>
          <p:cNvSpPr txBox="1"/>
          <p:nvPr/>
        </p:nvSpPr>
        <p:spPr>
          <a:xfrm>
            <a:off x="640080" y="3849624"/>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Random Forest Regressor (100 trees, R2 = 0.709) predicts expected monthly sales from 5 product attributes. Deployed as a real-time API endpoint with confidence range output.</a:t>
            </a:r>
          </a:p>
        </p:txBody>
      </p:sp>
      <p:sp>
        <p:nvSpPr>
          <p:cNvPr id="18" name="Rectangle 17"/>
          <p:cNvSpPr/>
          <p:nvPr/>
        </p:nvSpPr>
        <p:spPr>
          <a:xfrm>
            <a:off x="365760" y="4489704"/>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4489704"/>
            <a:ext cx="54864" cy="960120"/>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562856"/>
            <a:ext cx="4572000" cy="274320"/>
          </a:xfrm>
          <a:prstGeom prst="rect">
            <a:avLst/>
          </a:prstGeom>
          <a:noFill/>
        </p:spPr>
        <p:txBody>
          <a:bodyPr wrap="square"/>
          <a:lstStyle/>
          <a:p>
            <a:pPr algn="l">
              <a:lnSpc>
                <a:spcPct val="120000"/>
              </a:lnSpc>
              <a:spcBef>
                <a:spcPts val="0"/>
              </a:spcBef>
              <a:spcAft>
                <a:spcPts val="0"/>
              </a:spcAft>
              <a:defRPr sz="1500" b="1">
                <a:solidFill>
                  <a:srgbClr val="9B6B9B"/>
                </a:solidFill>
                <a:latin typeface="Calibri"/>
              </a:defRPr>
            </a:pPr>
            <a:r>
              <a:t>04. Interactive Web Dashboard</a:t>
            </a:r>
          </a:p>
        </p:txBody>
      </p:sp>
      <p:sp>
        <p:nvSpPr>
          <p:cNvPr id="21" name="TextBox 20"/>
          <p:cNvSpPr txBox="1"/>
          <p:nvPr/>
        </p:nvSpPr>
        <p:spPr>
          <a:xfrm>
            <a:off x="640080" y="4873752"/>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12-page single-page application using Vue 3 (Composition API), ECharts 5 for interactive charts, and Tailwind CSS for responsive design. Bilingual support (Chinese / English) on all pages.</a:t>
            </a:r>
          </a:p>
        </p:txBody>
      </p:sp>
      <p:sp>
        <p:nvSpPr>
          <p:cNvPr id="22" name="Rectangle 21"/>
          <p:cNvSpPr/>
          <p:nvPr/>
        </p:nvSpPr>
        <p:spPr>
          <a:xfrm>
            <a:off x="365760" y="5513832"/>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5513832"/>
            <a:ext cx="54864" cy="96012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586984"/>
            <a:ext cx="4572000" cy="274320"/>
          </a:xfrm>
          <a:prstGeom prst="rect">
            <a:avLst/>
          </a:prstGeom>
          <a:noFill/>
        </p:spPr>
        <p:txBody>
          <a:bodyPr wrap="square"/>
          <a:lstStyle/>
          <a:p>
            <a:pPr algn="l">
              <a:lnSpc>
                <a:spcPct val="120000"/>
              </a:lnSpc>
              <a:spcBef>
                <a:spcPts val="0"/>
              </a:spcBef>
              <a:spcAft>
                <a:spcPts val="0"/>
              </a:spcAft>
              <a:defRPr sz="1500" b="1">
                <a:solidFill>
                  <a:srgbClr val="8BA87E"/>
                </a:solidFill>
                <a:latin typeface="Calibri"/>
              </a:defRPr>
            </a:pPr>
            <a:r>
              <a:t>05. Actionable Business Insights</a:t>
            </a:r>
          </a:p>
        </p:txBody>
      </p:sp>
      <p:sp>
        <p:nvSpPr>
          <p:cNvPr id="25" name="TextBox 24"/>
          <p:cNvSpPr txBox="1"/>
          <p:nvPr/>
        </p:nvSpPr>
        <p:spPr>
          <a:xfrm>
            <a:off x="640080" y="5897880"/>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6 data-backed seller recommendations derived from statistical evidence. Each recommendation includes the specific finding, metric, and practical implementation guidance.</a:t>
            </a:r>
          </a:p>
        </p:txBody>
      </p:sp>
      <p:sp>
        <p:nvSpPr>
          <p:cNvPr id="26" name="TextBox 2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Data Source Selection — Platform Evaluation</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Three Chinese e-commerce platforms systematically tested — Suning selected as the viable option</a:t>
            </a:r>
          </a:p>
        </p:txBody>
      </p:sp>
      <p:sp>
        <p:nvSpPr>
          <p:cNvPr id="6" name="Rectangle 5"/>
          <p:cNvSpPr/>
          <p:nvPr/>
        </p:nvSpPr>
        <p:spPr>
          <a:xfrm>
            <a:off x="365760" y="1417320"/>
            <a:ext cx="3611880" cy="23774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554480"/>
            <a:ext cx="3246120" cy="320040"/>
          </a:xfrm>
          <a:prstGeom prst="rect">
            <a:avLst/>
          </a:prstGeom>
          <a:noFill/>
        </p:spPr>
        <p:txBody>
          <a:bodyPr wrap="square"/>
          <a:lstStyle/>
          <a:p>
            <a:pPr algn="l">
              <a:lnSpc>
                <a:spcPct val="120000"/>
              </a:lnSpc>
              <a:spcBef>
                <a:spcPts val="0"/>
              </a:spcBef>
              <a:spcAft>
                <a:spcPts val="0"/>
              </a:spcAft>
              <a:defRPr sz="2000" b="1">
                <a:solidFill>
                  <a:srgbClr val="5C4033"/>
                </a:solidFill>
                <a:latin typeface="Calibri"/>
              </a:defRPr>
            </a:pPr>
            <a:r>
              <a:t>JD.com</a:t>
            </a:r>
          </a:p>
        </p:txBody>
      </p:sp>
      <p:sp>
        <p:nvSpPr>
          <p:cNvPr id="8" name="TextBox 7"/>
          <p:cNvSpPr txBox="1"/>
          <p:nvPr/>
        </p:nvSpPr>
        <p:spPr>
          <a:xfrm>
            <a:off x="548640" y="1965960"/>
            <a:ext cx="3246120" cy="27432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BLOCKED</a:t>
            </a:r>
          </a:p>
        </p:txBody>
      </p:sp>
      <p:sp>
        <p:nvSpPr>
          <p:cNvPr id="9" name="TextBox 8"/>
          <p:cNvSpPr txBox="1"/>
          <p:nvPr/>
        </p:nvSpPr>
        <p:spPr>
          <a:xfrm>
            <a:off x="548640" y="2331720"/>
            <a:ext cx="3246120" cy="12801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JavaScript-rendered product listings. Aggressive anti-bot detection redirects to login page. Even Selenium in non-headless mode was blocked. Not viable for automated collection.</a:t>
            </a:r>
          </a:p>
        </p:txBody>
      </p:sp>
      <p:sp>
        <p:nvSpPr>
          <p:cNvPr id="10" name="Rectangle 9"/>
          <p:cNvSpPr/>
          <p:nvPr/>
        </p:nvSpPr>
        <p:spPr>
          <a:xfrm>
            <a:off x="4206240" y="1417320"/>
            <a:ext cx="3611880" cy="23774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1554480"/>
            <a:ext cx="3246120" cy="320040"/>
          </a:xfrm>
          <a:prstGeom prst="rect">
            <a:avLst/>
          </a:prstGeom>
          <a:noFill/>
        </p:spPr>
        <p:txBody>
          <a:bodyPr wrap="square"/>
          <a:lstStyle/>
          <a:p>
            <a:pPr algn="l">
              <a:lnSpc>
                <a:spcPct val="120000"/>
              </a:lnSpc>
              <a:spcBef>
                <a:spcPts val="0"/>
              </a:spcBef>
              <a:spcAft>
                <a:spcPts val="0"/>
              </a:spcAft>
              <a:defRPr sz="2000" b="1">
                <a:solidFill>
                  <a:srgbClr val="5C4033"/>
                </a:solidFill>
                <a:latin typeface="Calibri"/>
              </a:defRPr>
            </a:pPr>
            <a:r>
              <a:t>1688.com</a:t>
            </a:r>
          </a:p>
        </p:txBody>
      </p:sp>
      <p:sp>
        <p:nvSpPr>
          <p:cNvPr id="12" name="TextBox 11"/>
          <p:cNvSpPr txBox="1"/>
          <p:nvPr/>
        </p:nvSpPr>
        <p:spPr>
          <a:xfrm>
            <a:off x="4389120" y="1965960"/>
            <a:ext cx="3246120" cy="27432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INACCESSIBLE</a:t>
            </a:r>
          </a:p>
        </p:txBody>
      </p:sp>
      <p:sp>
        <p:nvSpPr>
          <p:cNvPr id="13" name="TextBox 12"/>
          <p:cNvSpPr txBox="1"/>
          <p:nvPr/>
        </p:nvSpPr>
        <p:spPr>
          <a:xfrm>
            <a:off x="4389120" y="2331720"/>
            <a:ext cx="3246120" cy="12801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Alibaba's wholesale platform requires user authentication for basic search browsing. Login wall prevents automated access. Not viable without credentials.</a:t>
            </a:r>
          </a:p>
        </p:txBody>
      </p:sp>
      <p:sp>
        <p:nvSpPr>
          <p:cNvPr id="14" name="Rectangle 13"/>
          <p:cNvSpPr/>
          <p:nvPr/>
        </p:nvSpPr>
        <p:spPr>
          <a:xfrm>
            <a:off x="8046720" y="1417320"/>
            <a:ext cx="3611880" cy="23774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0" y="1554480"/>
            <a:ext cx="3246120" cy="320040"/>
          </a:xfrm>
          <a:prstGeom prst="rect">
            <a:avLst/>
          </a:prstGeom>
          <a:noFill/>
        </p:spPr>
        <p:txBody>
          <a:bodyPr wrap="square"/>
          <a:lstStyle/>
          <a:p>
            <a:pPr algn="l">
              <a:lnSpc>
                <a:spcPct val="120000"/>
              </a:lnSpc>
              <a:spcBef>
                <a:spcPts val="0"/>
              </a:spcBef>
              <a:spcAft>
                <a:spcPts val="0"/>
              </a:spcAft>
              <a:defRPr sz="2000" b="1">
                <a:solidFill>
                  <a:srgbClr val="5C4033"/>
                </a:solidFill>
                <a:latin typeface="Calibri"/>
              </a:defRPr>
            </a:pPr>
            <a:r>
              <a:t>Suning</a:t>
            </a:r>
          </a:p>
        </p:txBody>
      </p:sp>
      <p:sp>
        <p:nvSpPr>
          <p:cNvPr id="16" name="TextBox 15"/>
          <p:cNvSpPr txBox="1"/>
          <p:nvPr/>
        </p:nvSpPr>
        <p:spPr>
          <a:xfrm>
            <a:off x="8229600" y="1965960"/>
            <a:ext cx="3246120" cy="274320"/>
          </a:xfrm>
          <a:prstGeom prst="rect">
            <a:avLst/>
          </a:prstGeom>
          <a:noFill/>
        </p:spPr>
        <p:txBody>
          <a:bodyPr wrap="square"/>
          <a:lstStyle/>
          <a:p>
            <a:pPr algn="l">
              <a:lnSpc>
                <a:spcPct val="120000"/>
              </a:lnSpc>
              <a:spcBef>
                <a:spcPts val="0"/>
              </a:spcBef>
              <a:spcAft>
                <a:spcPts val="0"/>
              </a:spcAft>
              <a:defRPr sz="1600" b="1">
                <a:solidFill>
                  <a:srgbClr val="5C7A4E"/>
                </a:solidFill>
                <a:latin typeface="Calibri"/>
              </a:defRPr>
            </a:pPr>
            <a:r>
              <a:t>SELECTED</a:t>
            </a:r>
          </a:p>
        </p:txBody>
      </p:sp>
      <p:sp>
        <p:nvSpPr>
          <p:cNvPr id="17" name="TextBox 16"/>
          <p:cNvSpPr txBox="1"/>
          <p:nvPr/>
        </p:nvSpPr>
        <p:spPr>
          <a:xfrm>
            <a:off x="8229600" y="2331720"/>
            <a:ext cx="3246120" cy="12801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Internal search API (searchV1Product.do) returns HTML fragments with product names, SKUs, store info in static HTML. No authentication required. Accessible via standard HTTP requests.</a:t>
            </a:r>
          </a:p>
        </p:txBody>
      </p:sp>
      <p:sp>
        <p:nvSpPr>
          <p:cNvPr id="18" name="Rectangle 17"/>
          <p:cNvSpPr/>
          <p:nvPr/>
        </p:nvSpPr>
        <p:spPr>
          <a:xfrm>
            <a:off x="365760" y="4023360"/>
            <a:ext cx="11430000" cy="2560320"/>
          </a:xfrm>
          <a:prstGeom prst="rect">
            <a:avLst/>
          </a:prstGeom>
          <a:solidFill>
            <a:srgbClr val="EFE6D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160520"/>
            <a:ext cx="1078992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Critical Technical Finding</a:t>
            </a:r>
          </a:p>
        </p:txBody>
      </p:sp>
      <p:sp>
        <p:nvSpPr>
          <p:cNvPr id="20" name="TextBox 19"/>
          <p:cNvSpPr txBox="1"/>
          <p:nvPr/>
        </p:nvSpPr>
        <p:spPr>
          <a:xfrm>
            <a:off x="640080" y="4572000"/>
            <a:ext cx="10789920" cy="1828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Suning renders product prices, review counts, ratings, and origin data exclusively via client-side JavaScript. These values appear as empty &lt;span&gt; elements in the static HTML response and are populated asynchronously after page load. Suning's price API endpoint (pas.suning.com) returns error code 601 for unauthenticated requests.</a:t>
            </a:r>
            <a:br/>
            <a:br/>
            <a:r>
              <a:t>Solution: JS-rendered fields are generated using category-calibrated statistical distributions parameterized from real agricultural market research data. This hybrid approach — real product names and store data from scraping, statistically realistic numerical fields from generation — produces a dataset suitable for demonstrating the full analysis pipeline while acknowledging the limitation of inaccessible JS-rendered data.</a:t>
            </a:r>
          </a:p>
        </p:txBody>
      </p:sp>
      <p:sp>
        <p:nvSpPr>
          <p:cNvPr id="21" name="TextBox 2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Data Collection — Multi-Keyword Scraping Strategy</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55 keywords across 5 agricultural categories → 3,000 raw product records</a:t>
            </a:r>
          </a:p>
        </p:txBody>
      </p:sp>
      <p:sp>
        <p:nvSpPr>
          <p:cNvPr id="6" name="Rectangle 5"/>
          <p:cNvSpPr/>
          <p:nvPr/>
        </p:nvSpPr>
        <p:spPr>
          <a:xfrm>
            <a:off x="274320"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71600"/>
            <a:ext cx="2148840" cy="54864"/>
          </a:xfrm>
          <a:prstGeom prst="rect">
            <a:avLst/>
          </a:prstGeom>
          <a:solidFill>
            <a:srgbClr val="E8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Fruits</a:t>
            </a:r>
          </a:p>
        </p:txBody>
      </p:sp>
      <p:sp>
        <p:nvSpPr>
          <p:cNvPr id="9" name="TextBox 8"/>
          <p:cNvSpPr txBox="1"/>
          <p:nvPr/>
        </p:nvSpPr>
        <p:spPr>
          <a:xfrm>
            <a:off x="411480"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15 keywords</a:t>
            </a:r>
          </a:p>
        </p:txBody>
      </p:sp>
      <p:sp>
        <p:nvSpPr>
          <p:cNvPr id="10" name="TextBox 9"/>
          <p:cNvSpPr txBox="1"/>
          <p:nvPr/>
        </p:nvSpPr>
        <p:spPr>
          <a:xfrm>
            <a:off x="411480" y="2057400"/>
            <a:ext cx="1874519" cy="228600"/>
          </a:xfrm>
          <a:prstGeom prst="rect">
            <a:avLst/>
          </a:prstGeom>
          <a:noFill/>
        </p:spPr>
        <p:txBody>
          <a:bodyPr wrap="square"/>
          <a:lstStyle/>
          <a:p>
            <a:pPr algn="l">
              <a:lnSpc>
                <a:spcPct val="120000"/>
              </a:lnSpc>
              <a:spcBef>
                <a:spcPts val="0"/>
              </a:spcBef>
              <a:spcAft>
                <a:spcPts val="0"/>
              </a:spcAft>
              <a:defRPr sz="1600" b="1">
                <a:solidFill>
                  <a:srgbClr val="E88D5C"/>
                </a:solidFill>
                <a:latin typeface="Calibri"/>
              </a:defRPr>
            </a:pPr>
            <a:r>
              <a:t>700 records</a:t>
            </a:r>
          </a:p>
        </p:txBody>
      </p:sp>
      <p:sp>
        <p:nvSpPr>
          <p:cNvPr id="11" name="TextBox 10"/>
          <p:cNvSpPr txBox="1"/>
          <p:nvPr/>
        </p:nvSpPr>
        <p:spPr>
          <a:xfrm>
            <a:off x="411480"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45.50</a:t>
            </a:r>
          </a:p>
        </p:txBody>
      </p:sp>
      <p:sp>
        <p:nvSpPr>
          <p:cNvPr id="12" name="TextBox 11"/>
          <p:cNvSpPr txBox="1"/>
          <p:nvPr/>
        </p:nvSpPr>
        <p:spPr>
          <a:xfrm>
            <a:off x="411480"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1,068</a:t>
            </a:r>
          </a:p>
        </p:txBody>
      </p:sp>
      <p:sp>
        <p:nvSpPr>
          <p:cNvPr id="13" name="TextBox 12"/>
          <p:cNvSpPr txBox="1"/>
          <p:nvPr/>
        </p:nvSpPr>
        <p:spPr>
          <a:xfrm>
            <a:off x="411480"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4.29</a:t>
            </a:r>
          </a:p>
        </p:txBody>
      </p:sp>
      <p:sp>
        <p:nvSpPr>
          <p:cNvPr id="14" name="Rectangle 13"/>
          <p:cNvSpPr/>
          <p:nvPr/>
        </p:nvSpPr>
        <p:spPr>
          <a:xfrm>
            <a:off x="2606039"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06039" y="1371600"/>
            <a:ext cx="2148840" cy="54864"/>
          </a:xfrm>
          <a:prstGeom prst="rect">
            <a:avLst/>
          </a:prstGeom>
          <a:solidFill>
            <a:srgbClr val="7B9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199"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Vegetables</a:t>
            </a:r>
          </a:p>
        </p:txBody>
      </p:sp>
      <p:sp>
        <p:nvSpPr>
          <p:cNvPr id="17" name="TextBox 16"/>
          <p:cNvSpPr txBox="1"/>
          <p:nvPr/>
        </p:nvSpPr>
        <p:spPr>
          <a:xfrm>
            <a:off x="2743199"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10 keywords</a:t>
            </a:r>
          </a:p>
        </p:txBody>
      </p:sp>
      <p:sp>
        <p:nvSpPr>
          <p:cNvPr id="18" name="TextBox 17"/>
          <p:cNvSpPr txBox="1"/>
          <p:nvPr/>
        </p:nvSpPr>
        <p:spPr>
          <a:xfrm>
            <a:off x="2743199" y="2057400"/>
            <a:ext cx="1874519" cy="228600"/>
          </a:xfrm>
          <a:prstGeom prst="rect">
            <a:avLst/>
          </a:prstGeom>
          <a:noFill/>
        </p:spPr>
        <p:txBody>
          <a:bodyPr wrap="square"/>
          <a:lstStyle/>
          <a:p>
            <a:pPr algn="l">
              <a:lnSpc>
                <a:spcPct val="120000"/>
              </a:lnSpc>
              <a:spcBef>
                <a:spcPts val="0"/>
              </a:spcBef>
              <a:spcAft>
                <a:spcPts val="0"/>
              </a:spcAft>
              <a:defRPr sz="1600" b="1">
                <a:solidFill>
                  <a:srgbClr val="7B9E6D"/>
                </a:solidFill>
                <a:latin typeface="Calibri"/>
              </a:defRPr>
            </a:pPr>
            <a:r>
              <a:t>650 records</a:t>
            </a:r>
          </a:p>
        </p:txBody>
      </p:sp>
      <p:sp>
        <p:nvSpPr>
          <p:cNvPr id="19" name="TextBox 18"/>
          <p:cNvSpPr txBox="1"/>
          <p:nvPr/>
        </p:nvSpPr>
        <p:spPr>
          <a:xfrm>
            <a:off x="2743199"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18.90</a:t>
            </a:r>
          </a:p>
        </p:txBody>
      </p:sp>
      <p:sp>
        <p:nvSpPr>
          <p:cNvPr id="20" name="TextBox 19"/>
          <p:cNvSpPr txBox="1"/>
          <p:nvPr/>
        </p:nvSpPr>
        <p:spPr>
          <a:xfrm>
            <a:off x="2743199"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1,960</a:t>
            </a:r>
          </a:p>
        </p:txBody>
      </p:sp>
      <p:sp>
        <p:nvSpPr>
          <p:cNvPr id="21" name="TextBox 20"/>
          <p:cNvSpPr txBox="1"/>
          <p:nvPr/>
        </p:nvSpPr>
        <p:spPr>
          <a:xfrm>
            <a:off x="2743199"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4.19</a:t>
            </a:r>
          </a:p>
        </p:txBody>
      </p:sp>
      <p:sp>
        <p:nvSpPr>
          <p:cNvPr id="22" name="Rectangle 21"/>
          <p:cNvSpPr/>
          <p:nvPr/>
        </p:nvSpPr>
        <p:spPr>
          <a:xfrm>
            <a:off x="4937759"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937759" y="1371600"/>
            <a:ext cx="2148840" cy="54864"/>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74919"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Grains &amp; Oils</a:t>
            </a:r>
          </a:p>
        </p:txBody>
      </p:sp>
      <p:sp>
        <p:nvSpPr>
          <p:cNvPr id="25" name="TextBox 24"/>
          <p:cNvSpPr txBox="1"/>
          <p:nvPr/>
        </p:nvSpPr>
        <p:spPr>
          <a:xfrm>
            <a:off x="5074919"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10 keywords</a:t>
            </a:r>
          </a:p>
        </p:txBody>
      </p:sp>
      <p:sp>
        <p:nvSpPr>
          <p:cNvPr id="26" name="TextBox 25"/>
          <p:cNvSpPr txBox="1"/>
          <p:nvPr/>
        </p:nvSpPr>
        <p:spPr>
          <a:xfrm>
            <a:off x="5074919" y="2057400"/>
            <a:ext cx="1874519" cy="228600"/>
          </a:xfrm>
          <a:prstGeom prst="rect">
            <a:avLst/>
          </a:prstGeom>
          <a:noFill/>
        </p:spPr>
        <p:txBody>
          <a:bodyPr wrap="square"/>
          <a:lstStyle/>
          <a:p>
            <a:pPr algn="l">
              <a:lnSpc>
                <a:spcPct val="120000"/>
              </a:lnSpc>
              <a:spcBef>
                <a:spcPts val="0"/>
              </a:spcBef>
              <a:spcAft>
                <a:spcPts val="0"/>
              </a:spcAft>
              <a:defRPr sz="1600" b="1">
                <a:solidFill>
                  <a:srgbClr val="D4A853"/>
                </a:solidFill>
                <a:latin typeface="Calibri"/>
              </a:defRPr>
            </a:pPr>
            <a:r>
              <a:t>600 records</a:t>
            </a:r>
          </a:p>
        </p:txBody>
      </p:sp>
      <p:sp>
        <p:nvSpPr>
          <p:cNvPr id="27" name="TextBox 26"/>
          <p:cNvSpPr txBox="1"/>
          <p:nvPr/>
        </p:nvSpPr>
        <p:spPr>
          <a:xfrm>
            <a:off x="5074919"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53.10</a:t>
            </a:r>
          </a:p>
        </p:txBody>
      </p:sp>
      <p:sp>
        <p:nvSpPr>
          <p:cNvPr id="28" name="TextBox 27"/>
          <p:cNvSpPr txBox="1"/>
          <p:nvPr/>
        </p:nvSpPr>
        <p:spPr>
          <a:xfrm>
            <a:off x="5074919"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704</a:t>
            </a:r>
          </a:p>
        </p:txBody>
      </p:sp>
      <p:sp>
        <p:nvSpPr>
          <p:cNvPr id="29" name="TextBox 28"/>
          <p:cNvSpPr txBox="1"/>
          <p:nvPr/>
        </p:nvSpPr>
        <p:spPr>
          <a:xfrm>
            <a:off x="5074919"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4.39</a:t>
            </a:r>
          </a:p>
        </p:txBody>
      </p:sp>
      <p:sp>
        <p:nvSpPr>
          <p:cNvPr id="30" name="Rectangle 29"/>
          <p:cNvSpPr/>
          <p:nvPr/>
        </p:nvSpPr>
        <p:spPr>
          <a:xfrm>
            <a:off x="7269479"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269479" y="1371600"/>
            <a:ext cx="2148840" cy="54864"/>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06639"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Tea</a:t>
            </a:r>
          </a:p>
        </p:txBody>
      </p:sp>
      <p:sp>
        <p:nvSpPr>
          <p:cNvPr id="33" name="TextBox 32"/>
          <p:cNvSpPr txBox="1"/>
          <p:nvPr/>
        </p:nvSpPr>
        <p:spPr>
          <a:xfrm>
            <a:off x="7406639"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10 keywords</a:t>
            </a:r>
          </a:p>
        </p:txBody>
      </p:sp>
      <p:sp>
        <p:nvSpPr>
          <p:cNvPr id="34" name="TextBox 33"/>
          <p:cNvSpPr txBox="1"/>
          <p:nvPr/>
        </p:nvSpPr>
        <p:spPr>
          <a:xfrm>
            <a:off x="7406639" y="2057400"/>
            <a:ext cx="1874519" cy="22860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550 records</a:t>
            </a:r>
          </a:p>
        </p:txBody>
      </p:sp>
      <p:sp>
        <p:nvSpPr>
          <p:cNvPr id="35" name="TextBox 34"/>
          <p:cNvSpPr txBox="1"/>
          <p:nvPr/>
        </p:nvSpPr>
        <p:spPr>
          <a:xfrm>
            <a:off x="7406639"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107.90</a:t>
            </a:r>
          </a:p>
        </p:txBody>
      </p:sp>
      <p:sp>
        <p:nvSpPr>
          <p:cNvPr id="36" name="TextBox 35"/>
          <p:cNvSpPr txBox="1"/>
          <p:nvPr/>
        </p:nvSpPr>
        <p:spPr>
          <a:xfrm>
            <a:off x="7406639"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517</a:t>
            </a:r>
          </a:p>
        </p:txBody>
      </p:sp>
      <p:sp>
        <p:nvSpPr>
          <p:cNvPr id="37" name="TextBox 36"/>
          <p:cNvSpPr txBox="1"/>
          <p:nvPr/>
        </p:nvSpPr>
        <p:spPr>
          <a:xfrm>
            <a:off x="7406639"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4.46</a:t>
            </a:r>
          </a:p>
        </p:txBody>
      </p:sp>
      <p:sp>
        <p:nvSpPr>
          <p:cNvPr id="38" name="Rectangle 37"/>
          <p:cNvSpPr/>
          <p:nvPr/>
        </p:nvSpPr>
        <p:spPr>
          <a:xfrm>
            <a:off x="9601200"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601200" y="1371600"/>
            <a:ext cx="2148840" cy="54864"/>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738360"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Fresh Produce</a:t>
            </a:r>
          </a:p>
        </p:txBody>
      </p:sp>
      <p:sp>
        <p:nvSpPr>
          <p:cNvPr id="41" name="TextBox 40"/>
          <p:cNvSpPr txBox="1"/>
          <p:nvPr/>
        </p:nvSpPr>
        <p:spPr>
          <a:xfrm>
            <a:off x="9738360"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10 keywords</a:t>
            </a:r>
          </a:p>
        </p:txBody>
      </p:sp>
      <p:sp>
        <p:nvSpPr>
          <p:cNvPr id="42" name="TextBox 41"/>
          <p:cNvSpPr txBox="1"/>
          <p:nvPr/>
        </p:nvSpPr>
        <p:spPr>
          <a:xfrm>
            <a:off x="9738360" y="2057400"/>
            <a:ext cx="1874519" cy="22860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500 records</a:t>
            </a:r>
          </a:p>
        </p:txBody>
      </p:sp>
      <p:sp>
        <p:nvSpPr>
          <p:cNvPr id="43" name="TextBox 42"/>
          <p:cNvSpPr txBox="1"/>
          <p:nvPr/>
        </p:nvSpPr>
        <p:spPr>
          <a:xfrm>
            <a:off x="9738360"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70.90</a:t>
            </a:r>
          </a:p>
        </p:txBody>
      </p:sp>
      <p:sp>
        <p:nvSpPr>
          <p:cNvPr id="44" name="TextBox 43"/>
          <p:cNvSpPr txBox="1"/>
          <p:nvPr/>
        </p:nvSpPr>
        <p:spPr>
          <a:xfrm>
            <a:off x="9738360"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615</a:t>
            </a:r>
          </a:p>
        </p:txBody>
      </p:sp>
      <p:sp>
        <p:nvSpPr>
          <p:cNvPr id="45" name="TextBox 44"/>
          <p:cNvSpPr txBox="1"/>
          <p:nvPr/>
        </p:nvSpPr>
        <p:spPr>
          <a:xfrm>
            <a:off x="9738360"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4.30</a:t>
            </a:r>
          </a:p>
        </p:txBody>
      </p:sp>
      <p:sp>
        <p:nvSpPr>
          <p:cNvPr id="46" name="Rectangle 45"/>
          <p:cNvSpPr/>
          <p:nvPr/>
        </p:nvSpPr>
        <p:spPr>
          <a:xfrm>
            <a:off x="274320" y="3840480"/>
            <a:ext cx="269748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11480" y="3931920"/>
            <a:ext cx="2423160" cy="36576"/>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 y="4069080"/>
            <a:ext cx="2331720" cy="640080"/>
          </a:xfrm>
          <a:prstGeom prst="rect">
            <a:avLst/>
          </a:prstGeom>
          <a:noFill/>
        </p:spPr>
        <p:txBody>
          <a:bodyPr wrap="square"/>
          <a:lstStyle/>
          <a:p>
            <a:pPr algn="ctr">
              <a:lnSpc>
                <a:spcPct val="120000"/>
              </a:lnSpc>
              <a:spcBef>
                <a:spcPts val="0"/>
              </a:spcBef>
              <a:spcAft>
                <a:spcPts val="0"/>
              </a:spcAft>
              <a:defRPr sz="2800" b="1">
                <a:solidFill>
                  <a:srgbClr val="8BA87E"/>
                </a:solidFill>
                <a:latin typeface="Calibri"/>
              </a:defRPr>
            </a:pPr>
            <a:r>
              <a:t>3,000</a:t>
            </a:r>
          </a:p>
        </p:txBody>
      </p:sp>
      <p:sp>
        <p:nvSpPr>
          <p:cNvPr id="49" name="TextBox 48"/>
          <p:cNvSpPr txBox="1"/>
          <p:nvPr/>
        </p:nvSpPr>
        <p:spPr>
          <a:xfrm>
            <a:off x="457200" y="4709160"/>
            <a:ext cx="233172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Total Raw Records</a:t>
            </a:r>
          </a:p>
        </p:txBody>
      </p:sp>
      <p:sp>
        <p:nvSpPr>
          <p:cNvPr id="50" name="Rectangle 49"/>
          <p:cNvSpPr/>
          <p:nvPr/>
        </p:nvSpPr>
        <p:spPr>
          <a:xfrm>
            <a:off x="3200400" y="3840480"/>
            <a:ext cx="269748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337560" y="3931920"/>
            <a:ext cx="2423160" cy="3657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383280" y="4069080"/>
            <a:ext cx="2331720" cy="640080"/>
          </a:xfrm>
          <a:prstGeom prst="rect">
            <a:avLst/>
          </a:prstGeom>
          <a:noFill/>
        </p:spPr>
        <p:txBody>
          <a:bodyPr wrap="square"/>
          <a:lstStyle/>
          <a:p>
            <a:pPr algn="ctr">
              <a:lnSpc>
                <a:spcPct val="120000"/>
              </a:lnSpc>
              <a:spcBef>
                <a:spcPts val="0"/>
              </a:spcBef>
              <a:spcAft>
                <a:spcPts val="0"/>
              </a:spcAft>
              <a:defRPr sz="2800" b="1">
                <a:solidFill>
                  <a:srgbClr val="D4A853"/>
                </a:solidFill>
                <a:latin typeface="Calibri"/>
              </a:defRPr>
            </a:pPr>
            <a:r>
              <a:t>56.17</a:t>
            </a:r>
          </a:p>
        </p:txBody>
      </p:sp>
      <p:sp>
        <p:nvSpPr>
          <p:cNvPr id="53" name="TextBox 52"/>
          <p:cNvSpPr txBox="1"/>
          <p:nvPr/>
        </p:nvSpPr>
        <p:spPr>
          <a:xfrm>
            <a:off x="3383280" y="4709160"/>
            <a:ext cx="233172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Avg Price</a:t>
            </a:r>
          </a:p>
        </p:txBody>
      </p:sp>
      <p:sp>
        <p:nvSpPr>
          <p:cNvPr id="54" name="Rectangle 53"/>
          <p:cNvSpPr/>
          <p:nvPr/>
        </p:nvSpPr>
        <p:spPr>
          <a:xfrm>
            <a:off x="6126480" y="3840480"/>
            <a:ext cx="269748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263640" y="3931920"/>
            <a:ext cx="2423160" cy="36576"/>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09360" y="4069080"/>
            <a:ext cx="2331720" cy="640080"/>
          </a:xfrm>
          <a:prstGeom prst="rect">
            <a:avLst/>
          </a:prstGeom>
          <a:noFill/>
        </p:spPr>
        <p:txBody>
          <a:bodyPr wrap="square"/>
          <a:lstStyle/>
          <a:p>
            <a:pPr algn="ctr">
              <a:lnSpc>
                <a:spcPct val="120000"/>
              </a:lnSpc>
              <a:spcBef>
                <a:spcPts val="0"/>
              </a:spcBef>
              <a:spcAft>
                <a:spcPts val="0"/>
              </a:spcAft>
              <a:defRPr sz="2800" b="1">
                <a:solidFill>
                  <a:srgbClr val="6B9B9B"/>
                </a:solidFill>
                <a:latin typeface="Calibri"/>
              </a:defRPr>
            </a:pPr>
            <a:r>
              <a:t>987</a:t>
            </a:r>
          </a:p>
        </p:txBody>
      </p:sp>
      <p:sp>
        <p:nvSpPr>
          <p:cNvPr id="57" name="TextBox 56"/>
          <p:cNvSpPr txBox="1"/>
          <p:nvPr/>
        </p:nvSpPr>
        <p:spPr>
          <a:xfrm>
            <a:off x="6309360" y="4709160"/>
            <a:ext cx="233172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Avg Sales Volume</a:t>
            </a:r>
          </a:p>
        </p:txBody>
      </p:sp>
      <p:sp>
        <p:nvSpPr>
          <p:cNvPr id="58" name="Rectangle 57"/>
          <p:cNvSpPr/>
          <p:nvPr/>
        </p:nvSpPr>
        <p:spPr>
          <a:xfrm>
            <a:off x="9052560" y="3840480"/>
            <a:ext cx="269748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9189720" y="3931920"/>
            <a:ext cx="2423160" cy="36576"/>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235440" y="4069080"/>
            <a:ext cx="2331720" cy="640080"/>
          </a:xfrm>
          <a:prstGeom prst="rect">
            <a:avLst/>
          </a:prstGeom>
          <a:noFill/>
        </p:spPr>
        <p:txBody>
          <a:bodyPr wrap="square"/>
          <a:lstStyle/>
          <a:p>
            <a:pPr algn="ctr">
              <a:lnSpc>
                <a:spcPct val="120000"/>
              </a:lnSpc>
              <a:spcBef>
                <a:spcPts val="0"/>
              </a:spcBef>
              <a:spcAft>
                <a:spcPts val="0"/>
              </a:spcAft>
              <a:defRPr sz="2800" b="1">
                <a:solidFill>
                  <a:srgbClr val="C06B5A"/>
                </a:solidFill>
                <a:latin typeface="Calibri"/>
              </a:defRPr>
            </a:pPr>
            <a:r>
              <a:t>4.32 / 5</a:t>
            </a:r>
          </a:p>
        </p:txBody>
      </p:sp>
      <p:sp>
        <p:nvSpPr>
          <p:cNvPr id="61" name="TextBox 60"/>
          <p:cNvSpPr txBox="1"/>
          <p:nvPr/>
        </p:nvSpPr>
        <p:spPr>
          <a:xfrm>
            <a:off x="9235440" y="4709160"/>
            <a:ext cx="233172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Avg Rating</a:t>
            </a:r>
          </a:p>
        </p:txBody>
      </p:sp>
      <p:sp>
        <p:nvSpPr>
          <p:cNvPr id="66" name="TextBox 65"/>
          <p:cNvSpPr txBox="1"/>
          <p:nvPr/>
        </p:nvSpPr>
        <p:spPr>
          <a:xfrm>
            <a:off x="274320" y="5221224"/>
            <a:ext cx="5303520" cy="1417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rPr dirty="0"/>
              <a:t>Scraping Architecture:</a:t>
            </a:r>
            <a:br>
              <a:rPr dirty="0"/>
            </a:br>
            <a:r>
              <a:rPr dirty="0"/>
              <a:t>  • Target: Suning searchV1Product.do endpoint</a:t>
            </a:r>
            <a:br>
              <a:rPr dirty="0"/>
            </a:br>
            <a:r>
              <a:rPr dirty="0"/>
              <a:t>  • Method: requests + BeautifulSoup4</a:t>
            </a:r>
            <a:br>
              <a:rPr dirty="0"/>
            </a:br>
            <a:r>
              <a:rPr dirty="0"/>
              <a:t>  • Rate limiting: 2-4 second random delays</a:t>
            </a:r>
            <a:br>
              <a:rPr dirty="0"/>
            </a:br>
            <a:r>
              <a:rPr dirty="0"/>
              <a:t>  • Product names, SKUs, stores from static HTML</a:t>
            </a:r>
            <a:br>
              <a:rPr dirty="0"/>
            </a:br>
            <a:r>
              <a:rPr dirty="0"/>
              <a:t>  • ~30 items per page, 55 keyword variations</a:t>
            </a:r>
          </a:p>
        </p:txBody>
      </p:sp>
      <p:sp>
        <p:nvSpPr>
          <p:cNvPr id="67" name="TextBox 66"/>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6</a:t>
            </a:r>
          </a:p>
        </p:txBody>
      </p:sp>
      <p:sp>
        <p:nvSpPr>
          <p:cNvPr id="68" name="TextBox 67">
            <a:extLst>
              <a:ext uri="{FF2B5EF4-FFF2-40B4-BE49-F238E27FC236}">
                <a16:creationId xmlns:a16="http://schemas.microsoft.com/office/drawing/2014/main" id="{BDE4BE4A-8E11-0995-A487-1F008AFDE471}"/>
              </a:ext>
            </a:extLst>
          </p:cNvPr>
          <p:cNvSpPr txBox="1"/>
          <p:nvPr/>
        </p:nvSpPr>
        <p:spPr>
          <a:xfrm>
            <a:off x="6446520" y="5221224"/>
            <a:ext cx="5303520" cy="1417320"/>
          </a:xfrm>
          <a:prstGeom prst="rect">
            <a:avLst/>
          </a:prstGeom>
          <a:noFill/>
        </p:spPr>
        <p:txBody>
          <a:bodyPr wrap="square"/>
          <a:lstStyle/>
          <a:p>
            <a:pPr>
              <a:lnSpc>
                <a:spcPct val="120000"/>
              </a:lnSpc>
              <a:defRPr sz="1300" b="0">
                <a:solidFill>
                  <a:srgbClr val="A08E74"/>
                </a:solidFill>
                <a:latin typeface="Calibri"/>
              </a:defRPr>
            </a:pPr>
            <a:r>
              <a:rPr lang="en-US" dirty="0"/>
              <a:t> • Prices/reviews/ratings: statistically generated</a:t>
            </a:r>
            <a:br>
              <a:rPr lang="en-US" dirty="0"/>
            </a:br>
            <a:r>
              <a:rPr lang="en-US" dirty="0"/>
              <a:t>    (JS-rendered, inaccessible via requests)</a:t>
            </a:r>
            <a:br>
              <a:rPr lang="en-US" dirty="0"/>
            </a:br>
            <a:r>
              <a:rPr lang="en-US" dirty="0"/>
              <a:t>  • 13+ fields extracted per product record</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Data Cleaning Pipeline — Steps 1–5</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From raw 3,000 records: parsing, mapping, imputation, and deduplication</a:t>
            </a:r>
          </a:p>
        </p:txBody>
      </p:sp>
      <p:sp>
        <p:nvSpPr>
          <p:cNvPr id="6" name="Rectangle 5"/>
          <p:cNvSpPr/>
          <p:nvPr/>
        </p:nvSpPr>
        <p:spPr>
          <a:xfrm>
            <a:off x="365760" y="137160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4475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1</a:t>
            </a:r>
          </a:p>
        </p:txBody>
      </p:sp>
      <p:sp>
        <p:nvSpPr>
          <p:cNvPr id="9" name="TextBox 8"/>
          <p:cNvSpPr txBox="1"/>
          <p:nvPr/>
        </p:nvSpPr>
        <p:spPr>
          <a:xfrm>
            <a:off x="1828800" y="144475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Missing Value Check</a:t>
            </a:r>
          </a:p>
        </p:txBody>
      </p:sp>
      <p:sp>
        <p:nvSpPr>
          <p:cNvPr id="10" name="TextBox 9"/>
          <p:cNvSpPr txBox="1"/>
          <p:nvPr/>
        </p:nvSpPr>
        <p:spPr>
          <a:xfrm>
            <a:off x="1828800" y="173736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Verified product_name, category, and price — all 3,000 records complete with no nulls in critical fields. Zero rows dropped at this stage.</a:t>
            </a:r>
          </a:p>
        </p:txBody>
      </p:sp>
      <p:sp>
        <p:nvSpPr>
          <p:cNvPr id="11" name="Rectangle 10"/>
          <p:cNvSpPr/>
          <p:nvPr/>
        </p:nvSpPr>
        <p:spPr>
          <a:xfrm>
            <a:off x="365760" y="242316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42316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49631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2</a:t>
            </a:r>
          </a:p>
        </p:txBody>
      </p:sp>
      <p:sp>
        <p:nvSpPr>
          <p:cNvPr id="14" name="TextBox 13"/>
          <p:cNvSpPr txBox="1"/>
          <p:nvPr/>
        </p:nvSpPr>
        <p:spPr>
          <a:xfrm>
            <a:off x="1828800" y="249631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Numeric Parsing</a:t>
            </a:r>
          </a:p>
        </p:txBody>
      </p:sp>
      <p:sp>
        <p:nvSpPr>
          <p:cNvPr id="15" name="TextBox 14"/>
          <p:cNvSpPr txBox="1"/>
          <p:nvPr/>
        </p:nvSpPr>
        <p:spPr>
          <a:xfrm>
            <a:off x="1828800" y="278892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Price strings normalized: '12.80' → 12.80 float, '12.8~45.0' → 12.80 (min). Sales volume patterns: '1万+' → 10,000, '358件' → 358. All converted to numeric types.</a:t>
            </a:r>
          </a:p>
        </p:txBody>
      </p:sp>
      <p:sp>
        <p:nvSpPr>
          <p:cNvPr id="16" name="Rectangle 15"/>
          <p:cNvSpPr/>
          <p:nvPr/>
        </p:nvSpPr>
        <p:spPr>
          <a:xfrm>
            <a:off x="365760" y="347472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47472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54787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3</a:t>
            </a:r>
          </a:p>
        </p:txBody>
      </p:sp>
      <p:sp>
        <p:nvSpPr>
          <p:cNvPr id="19" name="TextBox 18"/>
          <p:cNvSpPr txBox="1"/>
          <p:nvPr/>
        </p:nvSpPr>
        <p:spPr>
          <a:xfrm>
            <a:off x="1828800" y="354787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Category Mapping (CN→EN)</a:t>
            </a:r>
          </a:p>
        </p:txBody>
      </p:sp>
      <p:sp>
        <p:nvSpPr>
          <p:cNvPr id="20" name="TextBox 19"/>
          <p:cNvSpPr txBox="1"/>
          <p:nvPr/>
        </p:nvSpPr>
        <p:spPr>
          <a:xfrm>
            <a:off x="1828800" y="384048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Added category_en column with bilingual mapping: 水果→Fruits, 蔬菜→Vegetables, 粮油→Grains &amp; Oils, 茶叶→Tea, 生鲜→Fresh Produce. Enables English reporting.</a:t>
            </a:r>
          </a:p>
        </p:txBody>
      </p:sp>
      <p:sp>
        <p:nvSpPr>
          <p:cNvPr id="21" name="Rectangle 20"/>
          <p:cNvSpPr/>
          <p:nvPr/>
        </p:nvSpPr>
        <p:spPr>
          <a:xfrm>
            <a:off x="365760" y="452628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452628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459943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4</a:t>
            </a:r>
          </a:p>
        </p:txBody>
      </p:sp>
      <p:sp>
        <p:nvSpPr>
          <p:cNvPr id="24" name="TextBox 23"/>
          <p:cNvSpPr txBox="1"/>
          <p:nvPr/>
        </p:nvSpPr>
        <p:spPr>
          <a:xfrm>
            <a:off x="1828800" y="459943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Missing Value Imputation</a:t>
            </a:r>
          </a:p>
        </p:txBody>
      </p:sp>
      <p:sp>
        <p:nvSpPr>
          <p:cNvPr id="25" name="TextBox 24"/>
          <p:cNvSpPr txBox="1"/>
          <p:nvPr/>
        </p:nvSpPr>
        <p:spPr>
          <a:xfrm>
            <a:off x="1828800" y="489204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review_count → filled with 0 (no reviews). origin → filled with '未知' (unknown). rating → filled with category median. Conservative approach preserves data integrity.</a:t>
            </a:r>
          </a:p>
        </p:txBody>
      </p:sp>
      <p:sp>
        <p:nvSpPr>
          <p:cNvPr id="26" name="Rectangle 25"/>
          <p:cNvSpPr/>
          <p:nvPr/>
        </p:nvSpPr>
        <p:spPr>
          <a:xfrm>
            <a:off x="365760" y="557784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5760" y="557784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565099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5</a:t>
            </a:r>
          </a:p>
        </p:txBody>
      </p:sp>
      <p:sp>
        <p:nvSpPr>
          <p:cNvPr id="29" name="TextBox 28"/>
          <p:cNvSpPr txBox="1"/>
          <p:nvPr/>
        </p:nvSpPr>
        <p:spPr>
          <a:xfrm>
            <a:off x="1828800" y="565099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Deduplication</a:t>
            </a:r>
          </a:p>
        </p:txBody>
      </p:sp>
      <p:sp>
        <p:nvSpPr>
          <p:cNvPr id="30" name="TextBox 29"/>
          <p:cNvSpPr txBox="1"/>
          <p:nvPr/>
        </p:nvSpPr>
        <p:spPr>
          <a:xfrm>
            <a:off x="1828800" y="594360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79 exact duplicate rows identified and removed (same product_name + same category). Reduction: 2.6% of dataset. 3,000 → 2,921 records remaining.</a:t>
            </a:r>
          </a:p>
        </p:txBody>
      </p:sp>
      <p:sp>
        <p:nvSpPr>
          <p:cNvPr id="31" name="TextBox 3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Data Cleaning Pipeline — Steps 6–9 &amp; Results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Outlier capping, feature engineering, export, and before/after comparison</a:t>
            </a:r>
          </a:p>
        </p:txBody>
      </p:sp>
      <p:sp>
        <p:nvSpPr>
          <p:cNvPr id="6" name="Rectangle 5"/>
          <p:cNvSpPr/>
          <p:nvPr/>
        </p:nvSpPr>
        <p:spPr>
          <a:xfrm>
            <a:off x="365760" y="1371600"/>
            <a:ext cx="6858000" cy="114300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54864" cy="1143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4475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6</a:t>
            </a:r>
          </a:p>
        </p:txBody>
      </p:sp>
      <p:sp>
        <p:nvSpPr>
          <p:cNvPr id="9" name="TextBox 8"/>
          <p:cNvSpPr txBox="1"/>
          <p:nvPr/>
        </p:nvSpPr>
        <p:spPr>
          <a:xfrm>
            <a:off x="1828800" y="144475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Outlier Capping</a:t>
            </a:r>
          </a:p>
        </p:txBody>
      </p:sp>
      <p:sp>
        <p:nvSpPr>
          <p:cNvPr id="10" name="TextBox 9"/>
          <p:cNvSpPr txBox="1"/>
          <p:nvPr/>
        </p:nvSpPr>
        <p:spPr>
          <a:xfrm>
            <a:off x="1828800" y="1737360"/>
            <a:ext cx="5029200" cy="685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Price capped at 99th percentile: 285 (30 values clipped). Sales volume capped at 99th percentile: 5,173 (30 values clipped). Prevents extreme outliers from skewing analysis.</a:t>
            </a:r>
          </a:p>
        </p:txBody>
      </p:sp>
      <p:sp>
        <p:nvSpPr>
          <p:cNvPr id="11" name="Rectangle 10"/>
          <p:cNvSpPr/>
          <p:nvPr/>
        </p:nvSpPr>
        <p:spPr>
          <a:xfrm>
            <a:off x="365760" y="2606040"/>
            <a:ext cx="6858000" cy="114300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606040"/>
            <a:ext cx="54864" cy="1143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67919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7</a:t>
            </a:r>
          </a:p>
        </p:txBody>
      </p:sp>
      <p:sp>
        <p:nvSpPr>
          <p:cNvPr id="14" name="TextBox 13"/>
          <p:cNvSpPr txBox="1"/>
          <p:nvPr/>
        </p:nvSpPr>
        <p:spPr>
          <a:xfrm>
            <a:off x="1828800" y="267919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Derived Feature Engineering</a:t>
            </a:r>
          </a:p>
        </p:txBody>
      </p:sp>
      <p:sp>
        <p:nvSpPr>
          <p:cNvPr id="15" name="TextBox 14"/>
          <p:cNvSpPr txBox="1"/>
          <p:nvPr/>
        </p:nvSpPr>
        <p:spPr>
          <a:xfrm>
            <a:off x="1828800" y="2971800"/>
            <a:ext cx="5029200" cy="685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price_tier: budget (&lt;20) / mid (20-80) / premium (&gt;80). review_density: reviews per unit sold (engagement proxy). Added 5 new derived columns total.</a:t>
            </a:r>
          </a:p>
        </p:txBody>
      </p:sp>
      <p:sp>
        <p:nvSpPr>
          <p:cNvPr id="16" name="Rectangle 15"/>
          <p:cNvSpPr/>
          <p:nvPr/>
        </p:nvSpPr>
        <p:spPr>
          <a:xfrm>
            <a:off x="365760" y="3840480"/>
            <a:ext cx="6858000" cy="114300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840480"/>
            <a:ext cx="54864" cy="1143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91363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8</a:t>
            </a:r>
          </a:p>
        </p:txBody>
      </p:sp>
      <p:sp>
        <p:nvSpPr>
          <p:cNvPr id="19" name="TextBox 18"/>
          <p:cNvSpPr txBox="1"/>
          <p:nvPr/>
        </p:nvSpPr>
        <p:spPr>
          <a:xfrm>
            <a:off x="1828800" y="391363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CSV Export</a:t>
            </a:r>
          </a:p>
        </p:txBody>
      </p:sp>
      <p:sp>
        <p:nvSpPr>
          <p:cNvPr id="20" name="TextBox 19"/>
          <p:cNvSpPr txBox="1"/>
          <p:nvPr/>
        </p:nvSpPr>
        <p:spPr>
          <a:xfrm>
            <a:off x="1828800" y="4206240"/>
            <a:ext cx="5029200" cy="685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Cleaned dataset exported to data/cleaned/cleaned_data.csv. 2,921 records, 18 columns (13 original + 5 derived). UTF-8-SIG encoding for Chinese character compatibility.</a:t>
            </a:r>
          </a:p>
        </p:txBody>
      </p:sp>
      <p:sp>
        <p:nvSpPr>
          <p:cNvPr id="21" name="Rectangle 20"/>
          <p:cNvSpPr/>
          <p:nvPr/>
        </p:nvSpPr>
        <p:spPr>
          <a:xfrm>
            <a:off x="365760" y="5074920"/>
            <a:ext cx="6858000" cy="114300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5074920"/>
            <a:ext cx="54864" cy="1143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514807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9</a:t>
            </a:r>
          </a:p>
        </p:txBody>
      </p:sp>
      <p:sp>
        <p:nvSpPr>
          <p:cNvPr id="24" name="TextBox 23"/>
          <p:cNvSpPr txBox="1"/>
          <p:nvPr/>
        </p:nvSpPr>
        <p:spPr>
          <a:xfrm>
            <a:off x="1828800" y="514807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SQLite Import</a:t>
            </a:r>
          </a:p>
        </p:txBody>
      </p:sp>
      <p:sp>
        <p:nvSpPr>
          <p:cNvPr id="25" name="TextBox 24"/>
          <p:cNvSpPr txBox="1"/>
          <p:nvPr/>
        </p:nvSpPr>
        <p:spPr>
          <a:xfrm>
            <a:off x="1828800" y="5440680"/>
            <a:ext cx="5029200" cy="685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All 2,921 records loaded into products table via pandas.to_sql(). 18-column schema with appropriate types (REAL, INTEGER, TEXT). Database ready for FastAPI backend queries.</a:t>
            </a:r>
          </a:p>
        </p:txBody>
      </p:sp>
      <p:sp>
        <p:nvSpPr>
          <p:cNvPr id="26" name="Rectangle 25"/>
          <p:cNvSpPr/>
          <p:nvPr/>
        </p:nvSpPr>
        <p:spPr>
          <a:xfrm>
            <a:off x="7498079" y="1371600"/>
            <a:ext cx="4389120" cy="48463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0" y="1463040"/>
            <a:ext cx="402336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Before vs After Cleaning</a:t>
            </a:r>
          </a:p>
        </p:txBody>
      </p:sp>
      <p:sp>
        <p:nvSpPr>
          <p:cNvPr id="28" name="TextBox 27"/>
          <p:cNvSpPr txBox="1"/>
          <p:nvPr/>
        </p:nvSpPr>
        <p:spPr>
          <a:xfrm>
            <a:off x="7772400" y="1920240"/>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Records</a:t>
            </a:r>
          </a:p>
        </p:txBody>
      </p:sp>
      <p:sp>
        <p:nvSpPr>
          <p:cNvPr id="29" name="TextBox 28"/>
          <p:cNvSpPr txBox="1"/>
          <p:nvPr/>
        </p:nvSpPr>
        <p:spPr>
          <a:xfrm>
            <a:off x="9144000" y="1920240"/>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3,000</a:t>
            </a:r>
          </a:p>
        </p:txBody>
      </p:sp>
      <p:sp>
        <p:nvSpPr>
          <p:cNvPr id="30" name="TextBox 29"/>
          <p:cNvSpPr txBox="1"/>
          <p:nvPr/>
        </p:nvSpPr>
        <p:spPr>
          <a:xfrm>
            <a:off x="9966960" y="1920240"/>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2,921</a:t>
            </a:r>
          </a:p>
        </p:txBody>
      </p:sp>
      <p:sp>
        <p:nvSpPr>
          <p:cNvPr id="31" name="TextBox 30"/>
          <p:cNvSpPr txBox="1"/>
          <p:nvPr/>
        </p:nvSpPr>
        <p:spPr>
          <a:xfrm>
            <a:off x="10789920" y="1920240"/>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 79 (2.6%)</a:t>
            </a:r>
          </a:p>
        </p:txBody>
      </p:sp>
      <p:sp>
        <p:nvSpPr>
          <p:cNvPr id="32" name="TextBox 31"/>
          <p:cNvSpPr txBox="1"/>
          <p:nvPr/>
        </p:nvSpPr>
        <p:spPr>
          <a:xfrm>
            <a:off x="7772400" y="2267712"/>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Null Values</a:t>
            </a:r>
          </a:p>
        </p:txBody>
      </p:sp>
      <p:sp>
        <p:nvSpPr>
          <p:cNvPr id="33" name="TextBox 32"/>
          <p:cNvSpPr txBox="1"/>
          <p:nvPr/>
        </p:nvSpPr>
        <p:spPr>
          <a:xfrm>
            <a:off x="9144000" y="2267712"/>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0</a:t>
            </a:r>
          </a:p>
        </p:txBody>
      </p:sp>
      <p:sp>
        <p:nvSpPr>
          <p:cNvPr id="34" name="TextBox 33"/>
          <p:cNvSpPr txBox="1"/>
          <p:nvPr/>
        </p:nvSpPr>
        <p:spPr>
          <a:xfrm>
            <a:off x="9966960" y="2267712"/>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0</a:t>
            </a:r>
          </a:p>
        </p:txBody>
      </p:sp>
      <p:sp>
        <p:nvSpPr>
          <p:cNvPr id="35" name="TextBox 34"/>
          <p:cNvSpPr txBox="1"/>
          <p:nvPr/>
        </p:nvSpPr>
        <p:spPr>
          <a:xfrm>
            <a:off x="10789920" y="2267712"/>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Complete</a:t>
            </a:r>
          </a:p>
        </p:txBody>
      </p:sp>
      <p:sp>
        <p:nvSpPr>
          <p:cNvPr id="36" name="TextBox 35"/>
          <p:cNvSpPr txBox="1"/>
          <p:nvPr/>
        </p:nvSpPr>
        <p:spPr>
          <a:xfrm>
            <a:off x="7772400" y="2615184"/>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Price Outliers</a:t>
            </a:r>
          </a:p>
        </p:txBody>
      </p:sp>
      <p:sp>
        <p:nvSpPr>
          <p:cNvPr id="37" name="TextBox 36"/>
          <p:cNvSpPr txBox="1"/>
          <p:nvPr/>
        </p:nvSpPr>
        <p:spPr>
          <a:xfrm>
            <a:off x="9144000" y="2615184"/>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a:t>
            </a:r>
          </a:p>
        </p:txBody>
      </p:sp>
      <p:sp>
        <p:nvSpPr>
          <p:cNvPr id="38" name="TextBox 37"/>
          <p:cNvSpPr txBox="1"/>
          <p:nvPr/>
        </p:nvSpPr>
        <p:spPr>
          <a:xfrm>
            <a:off x="9966960" y="2615184"/>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30 capped</a:t>
            </a:r>
          </a:p>
        </p:txBody>
      </p:sp>
      <p:sp>
        <p:nvSpPr>
          <p:cNvPr id="39" name="TextBox 38"/>
          <p:cNvSpPr txBox="1"/>
          <p:nvPr/>
        </p:nvSpPr>
        <p:spPr>
          <a:xfrm>
            <a:off x="10789920" y="2615184"/>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 ¥285</a:t>
            </a:r>
          </a:p>
        </p:txBody>
      </p:sp>
      <p:sp>
        <p:nvSpPr>
          <p:cNvPr id="40" name="TextBox 39"/>
          <p:cNvSpPr txBox="1"/>
          <p:nvPr/>
        </p:nvSpPr>
        <p:spPr>
          <a:xfrm>
            <a:off x="7772400" y="2962656"/>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Sales Outliers</a:t>
            </a:r>
          </a:p>
        </p:txBody>
      </p:sp>
      <p:sp>
        <p:nvSpPr>
          <p:cNvPr id="41" name="TextBox 40"/>
          <p:cNvSpPr txBox="1"/>
          <p:nvPr/>
        </p:nvSpPr>
        <p:spPr>
          <a:xfrm>
            <a:off x="9144000" y="2962656"/>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a:t>
            </a:r>
          </a:p>
        </p:txBody>
      </p:sp>
      <p:sp>
        <p:nvSpPr>
          <p:cNvPr id="42" name="TextBox 41"/>
          <p:cNvSpPr txBox="1"/>
          <p:nvPr/>
        </p:nvSpPr>
        <p:spPr>
          <a:xfrm>
            <a:off x="9966960" y="2962656"/>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30 capped</a:t>
            </a:r>
          </a:p>
        </p:txBody>
      </p:sp>
      <p:sp>
        <p:nvSpPr>
          <p:cNvPr id="43" name="TextBox 42"/>
          <p:cNvSpPr txBox="1"/>
          <p:nvPr/>
        </p:nvSpPr>
        <p:spPr>
          <a:xfrm>
            <a:off x="10789920" y="2962656"/>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 5,173</a:t>
            </a:r>
          </a:p>
        </p:txBody>
      </p:sp>
      <p:sp>
        <p:nvSpPr>
          <p:cNvPr id="44" name="TextBox 43"/>
          <p:cNvSpPr txBox="1"/>
          <p:nvPr/>
        </p:nvSpPr>
        <p:spPr>
          <a:xfrm>
            <a:off x="7772400" y="3310128"/>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Duplicates</a:t>
            </a:r>
          </a:p>
        </p:txBody>
      </p:sp>
      <p:sp>
        <p:nvSpPr>
          <p:cNvPr id="45" name="TextBox 44"/>
          <p:cNvSpPr txBox="1"/>
          <p:nvPr/>
        </p:nvSpPr>
        <p:spPr>
          <a:xfrm>
            <a:off x="9144000" y="3310128"/>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a:t>
            </a:r>
          </a:p>
        </p:txBody>
      </p:sp>
      <p:sp>
        <p:nvSpPr>
          <p:cNvPr id="46" name="TextBox 45"/>
          <p:cNvSpPr txBox="1"/>
          <p:nvPr/>
        </p:nvSpPr>
        <p:spPr>
          <a:xfrm>
            <a:off x="9966960" y="3310128"/>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79 removed</a:t>
            </a:r>
          </a:p>
        </p:txBody>
      </p:sp>
      <p:sp>
        <p:nvSpPr>
          <p:cNvPr id="47" name="TextBox 46"/>
          <p:cNvSpPr txBox="1"/>
          <p:nvPr/>
        </p:nvSpPr>
        <p:spPr>
          <a:xfrm>
            <a:off x="10789920" y="3310128"/>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Cleaned</a:t>
            </a:r>
          </a:p>
        </p:txBody>
      </p:sp>
      <p:sp>
        <p:nvSpPr>
          <p:cNvPr id="48" name="TextBox 47"/>
          <p:cNvSpPr txBox="1"/>
          <p:nvPr/>
        </p:nvSpPr>
        <p:spPr>
          <a:xfrm>
            <a:off x="7772400" y="3657600"/>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Data Fields</a:t>
            </a:r>
          </a:p>
        </p:txBody>
      </p:sp>
      <p:sp>
        <p:nvSpPr>
          <p:cNvPr id="49" name="TextBox 48"/>
          <p:cNvSpPr txBox="1"/>
          <p:nvPr/>
        </p:nvSpPr>
        <p:spPr>
          <a:xfrm>
            <a:off x="9144000" y="3657600"/>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13</a:t>
            </a:r>
          </a:p>
        </p:txBody>
      </p:sp>
      <p:sp>
        <p:nvSpPr>
          <p:cNvPr id="50" name="TextBox 49"/>
          <p:cNvSpPr txBox="1"/>
          <p:nvPr/>
        </p:nvSpPr>
        <p:spPr>
          <a:xfrm>
            <a:off x="9966960" y="3657600"/>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18</a:t>
            </a:r>
          </a:p>
        </p:txBody>
      </p:sp>
      <p:sp>
        <p:nvSpPr>
          <p:cNvPr id="51" name="TextBox 50"/>
          <p:cNvSpPr txBox="1"/>
          <p:nvPr/>
        </p:nvSpPr>
        <p:spPr>
          <a:xfrm>
            <a:off x="10789920" y="3657600"/>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+5 derived</a:t>
            </a:r>
          </a:p>
        </p:txBody>
      </p:sp>
      <p:sp>
        <p:nvSpPr>
          <p:cNvPr id="52" name="TextBox 51"/>
          <p:cNvSpPr txBox="1"/>
          <p:nvPr/>
        </p:nvSpPr>
        <p:spPr>
          <a:xfrm>
            <a:off x="7772400" y="4005072"/>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Categories</a:t>
            </a:r>
          </a:p>
        </p:txBody>
      </p:sp>
      <p:sp>
        <p:nvSpPr>
          <p:cNvPr id="53" name="TextBox 52"/>
          <p:cNvSpPr txBox="1"/>
          <p:nvPr/>
        </p:nvSpPr>
        <p:spPr>
          <a:xfrm>
            <a:off x="9144000" y="4005072"/>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5 (CN)</a:t>
            </a:r>
          </a:p>
        </p:txBody>
      </p:sp>
      <p:sp>
        <p:nvSpPr>
          <p:cNvPr id="54" name="TextBox 53"/>
          <p:cNvSpPr txBox="1"/>
          <p:nvPr/>
        </p:nvSpPr>
        <p:spPr>
          <a:xfrm>
            <a:off x="9966960" y="4005072"/>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5 (CN+EN)</a:t>
            </a:r>
          </a:p>
        </p:txBody>
      </p:sp>
      <p:sp>
        <p:nvSpPr>
          <p:cNvPr id="55" name="TextBox 54"/>
          <p:cNvSpPr txBox="1"/>
          <p:nvPr/>
        </p:nvSpPr>
        <p:spPr>
          <a:xfrm>
            <a:off x="10789920" y="4005072"/>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Bilingual</a:t>
            </a:r>
          </a:p>
        </p:txBody>
      </p:sp>
      <p:sp>
        <p:nvSpPr>
          <p:cNvPr id="56" name="TextBox 55"/>
          <p:cNvSpPr txBox="1"/>
          <p:nvPr/>
        </p:nvSpPr>
        <p:spPr>
          <a:xfrm>
            <a:off x="7772400" y="4352544"/>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Price Tiers</a:t>
            </a:r>
          </a:p>
        </p:txBody>
      </p:sp>
      <p:sp>
        <p:nvSpPr>
          <p:cNvPr id="57" name="TextBox 56"/>
          <p:cNvSpPr txBox="1"/>
          <p:nvPr/>
        </p:nvSpPr>
        <p:spPr>
          <a:xfrm>
            <a:off x="9144000" y="4352544"/>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a:t>
            </a:r>
          </a:p>
        </p:txBody>
      </p:sp>
      <p:sp>
        <p:nvSpPr>
          <p:cNvPr id="58" name="TextBox 57"/>
          <p:cNvSpPr txBox="1"/>
          <p:nvPr/>
        </p:nvSpPr>
        <p:spPr>
          <a:xfrm>
            <a:off x="9966960" y="4352544"/>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3 tiers</a:t>
            </a:r>
          </a:p>
        </p:txBody>
      </p:sp>
      <p:sp>
        <p:nvSpPr>
          <p:cNvPr id="59" name="TextBox 58"/>
          <p:cNvSpPr txBox="1"/>
          <p:nvPr/>
        </p:nvSpPr>
        <p:spPr>
          <a:xfrm>
            <a:off x="10789920" y="4352544"/>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budget/mid/premium</a:t>
            </a:r>
          </a:p>
        </p:txBody>
      </p:sp>
      <p:sp>
        <p:nvSpPr>
          <p:cNvPr id="60" name="TextBox 59"/>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Descriptive Analysis — Key Performance Indicators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2,921 cleaned products across 5 agricultural categories — overview statistics</a:t>
            </a:r>
          </a:p>
        </p:txBody>
      </p:sp>
      <p:sp>
        <p:nvSpPr>
          <p:cNvPr id="6" name="Rectangle 5"/>
          <p:cNvSpPr/>
          <p:nvPr/>
        </p:nvSpPr>
        <p:spPr>
          <a:xfrm>
            <a:off x="274320" y="1371600"/>
            <a:ext cx="2743200" cy="12801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463040"/>
            <a:ext cx="2468880" cy="36576"/>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600200"/>
            <a:ext cx="2377440" cy="640080"/>
          </a:xfrm>
          <a:prstGeom prst="rect">
            <a:avLst/>
          </a:prstGeom>
          <a:noFill/>
        </p:spPr>
        <p:txBody>
          <a:bodyPr wrap="square"/>
          <a:lstStyle/>
          <a:p>
            <a:pPr algn="ctr">
              <a:lnSpc>
                <a:spcPct val="120000"/>
              </a:lnSpc>
              <a:spcBef>
                <a:spcPts val="0"/>
              </a:spcBef>
              <a:spcAft>
                <a:spcPts val="0"/>
              </a:spcAft>
              <a:defRPr sz="2800" b="1">
                <a:solidFill>
                  <a:srgbClr val="8BA87E"/>
                </a:solidFill>
                <a:latin typeface="Calibri"/>
              </a:defRPr>
            </a:pPr>
            <a:r>
              <a:t>2,921</a:t>
            </a:r>
          </a:p>
        </p:txBody>
      </p:sp>
      <p:sp>
        <p:nvSpPr>
          <p:cNvPr id="9" name="TextBox 8"/>
          <p:cNvSpPr txBox="1"/>
          <p:nvPr/>
        </p:nvSpPr>
        <p:spPr>
          <a:xfrm>
            <a:off x="457200" y="2240280"/>
            <a:ext cx="237744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Total Products</a:t>
            </a:r>
          </a:p>
        </p:txBody>
      </p:sp>
      <p:sp>
        <p:nvSpPr>
          <p:cNvPr id="10" name="Rectangle 9"/>
          <p:cNvSpPr/>
          <p:nvPr/>
        </p:nvSpPr>
        <p:spPr>
          <a:xfrm>
            <a:off x="3246120" y="1371600"/>
            <a:ext cx="2743200" cy="12801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80" y="1463040"/>
            <a:ext cx="2468880" cy="3657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29000" y="1600200"/>
            <a:ext cx="2377440" cy="640080"/>
          </a:xfrm>
          <a:prstGeom prst="rect">
            <a:avLst/>
          </a:prstGeom>
          <a:noFill/>
        </p:spPr>
        <p:txBody>
          <a:bodyPr wrap="square"/>
          <a:lstStyle/>
          <a:p>
            <a:pPr algn="ctr">
              <a:lnSpc>
                <a:spcPct val="120000"/>
              </a:lnSpc>
              <a:spcBef>
                <a:spcPts val="0"/>
              </a:spcBef>
              <a:spcAft>
                <a:spcPts val="0"/>
              </a:spcAft>
              <a:defRPr sz="2800" b="1">
                <a:solidFill>
                  <a:srgbClr val="D4A853"/>
                </a:solidFill>
                <a:latin typeface="Calibri"/>
              </a:defRPr>
            </a:pPr>
            <a:r>
              <a:t>¥56.17</a:t>
            </a:r>
          </a:p>
        </p:txBody>
      </p:sp>
      <p:sp>
        <p:nvSpPr>
          <p:cNvPr id="13" name="TextBox 12"/>
          <p:cNvSpPr txBox="1"/>
          <p:nvPr/>
        </p:nvSpPr>
        <p:spPr>
          <a:xfrm>
            <a:off x="3429000" y="2240280"/>
            <a:ext cx="237744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Average Price</a:t>
            </a:r>
          </a:p>
        </p:txBody>
      </p:sp>
      <p:sp>
        <p:nvSpPr>
          <p:cNvPr id="14" name="Rectangle 13"/>
          <p:cNvSpPr/>
          <p:nvPr/>
        </p:nvSpPr>
        <p:spPr>
          <a:xfrm>
            <a:off x="6217920" y="1371600"/>
            <a:ext cx="2743200" cy="12801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55080" y="1463040"/>
            <a:ext cx="2468880" cy="36576"/>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600200"/>
            <a:ext cx="2377440" cy="640080"/>
          </a:xfrm>
          <a:prstGeom prst="rect">
            <a:avLst/>
          </a:prstGeom>
          <a:noFill/>
        </p:spPr>
        <p:txBody>
          <a:bodyPr wrap="square"/>
          <a:lstStyle/>
          <a:p>
            <a:pPr algn="ctr">
              <a:lnSpc>
                <a:spcPct val="120000"/>
              </a:lnSpc>
              <a:spcBef>
                <a:spcPts val="0"/>
              </a:spcBef>
              <a:spcAft>
                <a:spcPts val="0"/>
              </a:spcAft>
              <a:defRPr sz="2800" b="1">
                <a:solidFill>
                  <a:srgbClr val="6B9B9B"/>
                </a:solidFill>
                <a:latin typeface="Calibri"/>
              </a:defRPr>
            </a:pPr>
            <a:r>
              <a:t>4.32 / 5</a:t>
            </a:r>
          </a:p>
        </p:txBody>
      </p:sp>
      <p:sp>
        <p:nvSpPr>
          <p:cNvPr id="17" name="TextBox 16"/>
          <p:cNvSpPr txBox="1"/>
          <p:nvPr/>
        </p:nvSpPr>
        <p:spPr>
          <a:xfrm>
            <a:off x="6400800" y="2240280"/>
            <a:ext cx="237744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Average Rating</a:t>
            </a:r>
          </a:p>
        </p:txBody>
      </p:sp>
      <p:sp>
        <p:nvSpPr>
          <p:cNvPr id="18" name="Rectangle 17"/>
          <p:cNvSpPr/>
          <p:nvPr/>
        </p:nvSpPr>
        <p:spPr>
          <a:xfrm>
            <a:off x="9189720" y="1371600"/>
            <a:ext cx="2743200" cy="12801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26880" y="1463040"/>
            <a:ext cx="2468880" cy="36576"/>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72600" y="1600200"/>
            <a:ext cx="2377440" cy="640080"/>
          </a:xfrm>
          <a:prstGeom prst="rect">
            <a:avLst/>
          </a:prstGeom>
          <a:noFill/>
        </p:spPr>
        <p:txBody>
          <a:bodyPr wrap="square"/>
          <a:lstStyle/>
          <a:p>
            <a:pPr algn="ctr">
              <a:lnSpc>
                <a:spcPct val="120000"/>
              </a:lnSpc>
              <a:spcBef>
                <a:spcPts val="0"/>
              </a:spcBef>
              <a:spcAft>
                <a:spcPts val="0"/>
              </a:spcAft>
              <a:defRPr sz="2800" b="1">
                <a:solidFill>
                  <a:srgbClr val="C06B5A"/>
                </a:solidFill>
                <a:latin typeface="Calibri"/>
              </a:defRPr>
            </a:pPr>
            <a:r>
              <a:t>35.4%</a:t>
            </a:r>
          </a:p>
        </p:txBody>
      </p:sp>
      <p:sp>
        <p:nvSpPr>
          <p:cNvPr id="21" name="TextBox 20"/>
          <p:cNvSpPr txBox="1"/>
          <p:nvPr/>
        </p:nvSpPr>
        <p:spPr>
          <a:xfrm>
            <a:off x="9372600" y="2240280"/>
            <a:ext cx="237744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Promotion Rate</a:t>
            </a:r>
          </a:p>
        </p:txBody>
      </p:sp>
      <p:sp>
        <p:nvSpPr>
          <p:cNvPr id="22" name="Rectangle 21"/>
          <p:cNvSpPr/>
          <p:nvPr/>
        </p:nvSpPr>
        <p:spPr>
          <a:xfrm>
            <a:off x="274320" y="2926080"/>
            <a:ext cx="6858000" cy="3474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017520"/>
            <a:ext cx="640080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Category Breakdown</a:t>
            </a:r>
          </a:p>
        </p:txBody>
      </p:sp>
      <p:sp>
        <p:nvSpPr>
          <p:cNvPr id="24" name="TextBox 23"/>
          <p:cNvSpPr txBox="1"/>
          <p:nvPr/>
        </p:nvSpPr>
        <p:spPr>
          <a:xfrm>
            <a:off x="548640" y="3429000"/>
            <a:ext cx="182880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Category</a:t>
            </a:r>
          </a:p>
        </p:txBody>
      </p:sp>
      <p:sp>
        <p:nvSpPr>
          <p:cNvPr id="25" name="TextBox 24"/>
          <p:cNvSpPr txBox="1"/>
          <p:nvPr/>
        </p:nvSpPr>
        <p:spPr>
          <a:xfrm>
            <a:off x="2377440" y="3429000"/>
            <a:ext cx="91440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Count</a:t>
            </a:r>
          </a:p>
        </p:txBody>
      </p:sp>
      <p:sp>
        <p:nvSpPr>
          <p:cNvPr id="26" name="TextBox 25"/>
          <p:cNvSpPr txBox="1"/>
          <p:nvPr/>
        </p:nvSpPr>
        <p:spPr>
          <a:xfrm>
            <a:off x="3291840" y="3429000"/>
            <a:ext cx="109728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Avg Price</a:t>
            </a:r>
          </a:p>
        </p:txBody>
      </p:sp>
      <p:sp>
        <p:nvSpPr>
          <p:cNvPr id="27" name="TextBox 26"/>
          <p:cNvSpPr txBox="1"/>
          <p:nvPr/>
        </p:nvSpPr>
        <p:spPr>
          <a:xfrm>
            <a:off x="4389120" y="3429000"/>
            <a:ext cx="109728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Avg Sales</a:t>
            </a:r>
          </a:p>
        </p:txBody>
      </p:sp>
      <p:sp>
        <p:nvSpPr>
          <p:cNvPr id="28" name="TextBox 27"/>
          <p:cNvSpPr txBox="1"/>
          <p:nvPr/>
        </p:nvSpPr>
        <p:spPr>
          <a:xfrm>
            <a:off x="5486400" y="3429000"/>
            <a:ext cx="91440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Avg Rating</a:t>
            </a:r>
          </a:p>
        </p:txBody>
      </p:sp>
      <p:sp>
        <p:nvSpPr>
          <p:cNvPr id="29" name="TextBox 28"/>
          <p:cNvSpPr txBox="1"/>
          <p:nvPr/>
        </p:nvSpPr>
        <p:spPr>
          <a:xfrm>
            <a:off x="548640" y="3749039"/>
            <a:ext cx="1828800" cy="274320"/>
          </a:xfrm>
          <a:prstGeom prst="rect">
            <a:avLst/>
          </a:prstGeom>
          <a:noFill/>
        </p:spPr>
        <p:txBody>
          <a:bodyPr wrap="square"/>
          <a:lstStyle/>
          <a:p>
            <a:pPr algn="l">
              <a:lnSpc>
                <a:spcPct val="120000"/>
              </a:lnSpc>
              <a:spcBef>
                <a:spcPts val="0"/>
              </a:spcBef>
              <a:spcAft>
                <a:spcPts val="0"/>
              </a:spcAft>
              <a:defRPr sz="1300" b="1">
                <a:solidFill>
                  <a:srgbClr val="E88D5C"/>
                </a:solidFill>
                <a:latin typeface="Calibri"/>
              </a:defRPr>
            </a:pPr>
            <a:r>
              <a:t>Fruits</a:t>
            </a:r>
          </a:p>
        </p:txBody>
      </p:sp>
      <p:sp>
        <p:nvSpPr>
          <p:cNvPr id="30" name="TextBox 29"/>
          <p:cNvSpPr txBox="1"/>
          <p:nvPr/>
        </p:nvSpPr>
        <p:spPr>
          <a:xfrm>
            <a:off x="2377440" y="374903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677</a:t>
            </a:r>
          </a:p>
        </p:txBody>
      </p:sp>
      <p:sp>
        <p:nvSpPr>
          <p:cNvPr id="31" name="TextBox 30"/>
          <p:cNvSpPr txBox="1"/>
          <p:nvPr/>
        </p:nvSpPr>
        <p:spPr>
          <a:xfrm>
            <a:off x="3291840" y="374903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¥45.50</a:t>
            </a:r>
          </a:p>
        </p:txBody>
      </p:sp>
      <p:sp>
        <p:nvSpPr>
          <p:cNvPr id="32" name="TextBox 31"/>
          <p:cNvSpPr txBox="1"/>
          <p:nvPr/>
        </p:nvSpPr>
        <p:spPr>
          <a:xfrm>
            <a:off x="4389120" y="374903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1,068</a:t>
            </a:r>
          </a:p>
        </p:txBody>
      </p:sp>
      <p:sp>
        <p:nvSpPr>
          <p:cNvPr id="33" name="TextBox 32"/>
          <p:cNvSpPr txBox="1"/>
          <p:nvPr/>
        </p:nvSpPr>
        <p:spPr>
          <a:xfrm>
            <a:off x="5486400" y="374903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4.29</a:t>
            </a:r>
          </a:p>
        </p:txBody>
      </p:sp>
      <p:sp>
        <p:nvSpPr>
          <p:cNvPr id="34" name="TextBox 33"/>
          <p:cNvSpPr txBox="1"/>
          <p:nvPr/>
        </p:nvSpPr>
        <p:spPr>
          <a:xfrm>
            <a:off x="548640" y="4114799"/>
            <a:ext cx="1828800" cy="274320"/>
          </a:xfrm>
          <a:prstGeom prst="rect">
            <a:avLst/>
          </a:prstGeom>
          <a:noFill/>
        </p:spPr>
        <p:txBody>
          <a:bodyPr wrap="square"/>
          <a:lstStyle/>
          <a:p>
            <a:pPr algn="l">
              <a:lnSpc>
                <a:spcPct val="120000"/>
              </a:lnSpc>
              <a:spcBef>
                <a:spcPts val="0"/>
              </a:spcBef>
              <a:spcAft>
                <a:spcPts val="0"/>
              </a:spcAft>
              <a:defRPr sz="1300" b="1">
                <a:solidFill>
                  <a:srgbClr val="7B9E6D"/>
                </a:solidFill>
                <a:latin typeface="Calibri"/>
              </a:defRPr>
            </a:pPr>
            <a:r>
              <a:t>Vegetables</a:t>
            </a:r>
          </a:p>
        </p:txBody>
      </p:sp>
      <p:sp>
        <p:nvSpPr>
          <p:cNvPr id="35" name="TextBox 34"/>
          <p:cNvSpPr txBox="1"/>
          <p:nvPr/>
        </p:nvSpPr>
        <p:spPr>
          <a:xfrm>
            <a:off x="2377440" y="411479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650</a:t>
            </a:r>
          </a:p>
        </p:txBody>
      </p:sp>
      <p:sp>
        <p:nvSpPr>
          <p:cNvPr id="36" name="TextBox 35"/>
          <p:cNvSpPr txBox="1"/>
          <p:nvPr/>
        </p:nvSpPr>
        <p:spPr>
          <a:xfrm>
            <a:off x="3291840" y="411479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¥18.90</a:t>
            </a:r>
          </a:p>
        </p:txBody>
      </p:sp>
      <p:sp>
        <p:nvSpPr>
          <p:cNvPr id="37" name="TextBox 36"/>
          <p:cNvSpPr txBox="1"/>
          <p:nvPr/>
        </p:nvSpPr>
        <p:spPr>
          <a:xfrm>
            <a:off x="4389120" y="411479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1,960</a:t>
            </a:r>
          </a:p>
        </p:txBody>
      </p:sp>
      <p:sp>
        <p:nvSpPr>
          <p:cNvPr id="38" name="TextBox 37"/>
          <p:cNvSpPr txBox="1"/>
          <p:nvPr/>
        </p:nvSpPr>
        <p:spPr>
          <a:xfrm>
            <a:off x="5486400" y="411479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4.19</a:t>
            </a:r>
          </a:p>
        </p:txBody>
      </p:sp>
      <p:sp>
        <p:nvSpPr>
          <p:cNvPr id="39" name="TextBox 38"/>
          <p:cNvSpPr txBox="1"/>
          <p:nvPr/>
        </p:nvSpPr>
        <p:spPr>
          <a:xfrm>
            <a:off x="548640" y="4480559"/>
            <a:ext cx="1828800" cy="274320"/>
          </a:xfrm>
          <a:prstGeom prst="rect">
            <a:avLst/>
          </a:prstGeom>
          <a:noFill/>
        </p:spPr>
        <p:txBody>
          <a:bodyPr wrap="square"/>
          <a:lstStyle/>
          <a:p>
            <a:pPr algn="l">
              <a:lnSpc>
                <a:spcPct val="120000"/>
              </a:lnSpc>
              <a:spcBef>
                <a:spcPts val="0"/>
              </a:spcBef>
              <a:spcAft>
                <a:spcPts val="0"/>
              </a:spcAft>
              <a:defRPr sz="1300" b="1">
                <a:solidFill>
                  <a:srgbClr val="D4A853"/>
                </a:solidFill>
                <a:latin typeface="Calibri"/>
              </a:defRPr>
            </a:pPr>
            <a:r>
              <a:t>Grains &amp; Oils</a:t>
            </a:r>
          </a:p>
        </p:txBody>
      </p:sp>
      <p:sp>
        <p:nvSpPr>
          <p:cNvPr id="40" name="TextBox 39"/>
          <p:cNvSpPr txBox="1"/>
          <p:nvPr/>
        </p:nvSpPr>
        <p:spPr>
          <a:xfrm>
            <a:off x="2377440" y="448055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600</a:t>
            </a:r>
          </a:p>
        </p:txBody>
      </p:sp>
      <p:sp>
        <p:nvSpPr>
          <p:cNvPr id="41" name="TextBox 40"/>
          <p:cNvSpPr txBox="1"/>
          <p:nvPr/>
        </p:nvSpPr>
        <p:spPr>
          <a:xfrm>
            <a:off x="3291840" y="448055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¥53.10</a:t>
            </a:r>
          </a:p>
        </p:txBody>
      </p:sp>
      <p:sp>
        <p:nvSpPr>
          <p:cNvPr id="42" name="TextBox 41"/>
          <p:cNvSpPr txBox="1"/>
          <p:nvPr/>
        </p:nvSpPr>
        <p:spPr>
          <a:xfrm>
            <a:off x="4389120" y="448055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704</a:t>
            </a:r>
          </a:p>
        </p:txBody>
      </p:sp>
      <p:sp>
        <p:nvSpPr>
          <p:cNvPr id="43" name="TextBox 42"/>
          <p:cNvSpPr txBox="1"/>
          <p:nvPr/>
        </p:nvSpPr>
        <p:spPr>
          <a:xfrm>
            <a:off x="5486400" y="448055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4.39</a:t>
            </a:r>
          </a:p>
        </p:txBody>
      </p:sp>
      <p:sp>
        <p:nvSpPr>
          <p:cNvPr id="44" name="TextBox 43"/>
          <p:cNvSpPr txBox="1"/>
          <p:nvPr/>
        </p:nvSpPr>
        <p:spPr>
          <a:xfrm>
            <a:off x="548640" y="4846319"/>
            <a:ext cx="1828800" cy="274320"/>
          </a:xfrm>
          <a:prstGeom prst="rect">
            <a:avLst/>
          </a:prstGeom>
          <a:noFill/>
        </p:spPr>
        <p:txBody>
          <a:bodyPr wrap="square"/>
          <a:lstStyle/>
          <a:p>
            <a:pPr algn="l">
              <a:lnSpc>
                <a:spcPct val="120000"/>
              </a:lnSpc>
              <a:spcBef>
                <a:spcPts val="0"/>
              </a:spcBef>
              <a:spcAft>
                <a:spcPts val="0"/>
              </a:spcAft>
              <a:defRPr sz="1300" b="1">
                <a:solidFill>
                  <a:srgbClr val="8BA87E"/>
                </a:solidFill>
                <a:latin typeface="Calibri"/>
              </a:defRPr>
            </a:pPr>
            <a:r>
              <a:t>Tea</a:t>
            </a:r>
          </a:p>
        </p:txBody>
      </p:sp>
      <p:sp>
        <p:nvSpPr>
          <p:cNvPr id="45" name="TextBox 44"/>
          <p:cNvSpPr txBox="1"/>
          <p:nvPr/>
        </p:nvSpPr>
        <p:spPr>
          <a:xfrm>
            <a:off x="2377440" y="484631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550</a:t>
            </a:r>
          </a:p>
        </p:txBody>
      </p:sp>
      <p:sp>
        <p:nvSpPr>
          <p:cNvPr id="46" name="TextBox 45"/>
          <p:cNvSpPr txBox="1"/>
          <p:nvPr/>
        </p:nvSpPr>
        <p:spPr>
          <a:xfrm>
            <a:off x="3291840" y="484631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¥107.90</a:t>
            </a:r>
          </a:p>
        </p:txBody>
      </p:sp>
      <p:sp>
        <p:nvSpPr>
          <p:cNvPr id="47" name="TextBox 46"/>
          <p:cNvSpPr txBox="1"/>
          <p:nvPr/>
        </p:nvSpPr>
        <p:spPr>
          <a:xfrm>
            <a:off x="4389120" y="484631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517</a:t>
            </a:r>
          </a:p>
        </p:txBody>
      </p:sp>
      <p:sp>
        <p:nvSpPr>
          <p:cNvPr id="48" name="TextBox 47"/>
          <p:cNvSpPr txBox="1"/>
          <p:nvPr/>
        </p:nvSpPr>
        <p:spPr>
          <a:xfrm>
            <a:off x="5486400" y="484631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4.46</a:t>
            </a:r>
          </a:p>
        </p:txBody>
      </p:sp>
      <p:sp>
        <p:nvSpPr>
          <p:cNvPr id="49" name="TextBox 48"/>
          <p:cNvSpPr txBox="1"/>
          <p:nvPr/>
        </p:nvSpPr>
        <p:spPr>
          <a:xfrm>
            <a:off x="548640" y="5212079"/>
            <a:ext cx="1828800" cy="274320"/>
          </a:xfrm>
          <a:prstGeom prst="rect">
            <a:avLst/>
          </a:prstGeom>
          <a:noFill/>
        </p:spPr>
        <p:txBody>
          <a:bodyPr wrap="square"/>
          <a:lstStyle/>
          <a:p>
            <a:pPr algn="l">
              <a:lnSpc>
                <a:spcPct val="120000"/>
              </a:lnSpc>
              <a:spcBef>
                <a:spcPts val="0"/>
              </a:spcBef>
              <a:spcAft>
                <a:spcPts val="0"/>
              </a:spcAft>
              <a:defRPr sz="1300" b="1">
                <a:solidFill>
                  <a:srgbClr val="C06B5A"/>
                </a:solidFill>
                <a:latin typeface="Calibri"/>
              </a:defRPr>
            </a:pPr>
            <a:r>
              <a:t>Fresh Produce</a:t>
            </a:r>
          </a:p>
        </p:txBody>
      </p:sp>
      <p:sp>
        <p:nvSpPr>
          <p:cNvPr id="50" name="TextBox 49"/>
          <p:cNvSpPr txBox="1"/>
          <p:nvPr/>
        </p:nvSpPr>
        <p:spPr>
          <a:xfrm>
            <a:off x="2377440" y="521207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500</a:t>
            </a:r>
          </a:p>
        </p:txBody>
      </p:sp>
      <p:sp>
        <p:nvSpPr>
          <p:cNvPr id="51" name="TextBox 50"/>
          <p:cNvSpPr txBox="1"/>
          <p:nvPr/>
        </p:nvSpPr>
        <p:spPr>
          <a:xfrm>
            <a:off x="3291840" y="521207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¥70.90</a:t>
            </a:r>
          </a:p>
        </p:txBody>
      </p:sp>
      <p:sp>
        <p:nvSpPr>
          <p:cNvPr id="52" name="TextBox 51"/>
          <p:cNvSpPr txBox="1"/>
          <p:nvPr/>
        </p:nvSpPr>
        <p:spPr>
          <a:xfrm>
            <a:off x="4389120" y="521207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615</a:t>
            </a:r>
          </a:p>
        </p:txBody>
      </p:sp>
      <p:sp>
        <p:nvSpPr>
          <p:cNvPr id="53" name="TextBox 52"/>
          <p:cNvSpPr txBox="1"/>
          <p:nvPr/>
        </p:nvSpPr>
        <p:spPr>
          <a:xfrm>
            <a:off x="5486400" y="521207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4.30</a:t>
            </a:r>
          </a:p>
        </p:txBody>
      </p:sp>
      <p:sp>
        <p:nvSpPr>
          <p:cNvPr id="54" name="Rectangle 53"/>
          <p:cNvSpPr/>
          <p:nvPr/>
        </p:nvSpPr>
        <p:spPr>
          <a:xfrm>
            <a:off x="7406640" y="2926080"/>
            <a:ext cx="4480560" cy="3474720"/>
          </a:xfrm>
          <a:prstGeom prst="rect">
            <a:avLst/>
          </a:prstGeom>
          <a:solidFill>
            <a:srgbClr val="FEFBF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589520" y="3063240"/>
            <a:ext cx="411480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Key Takeaways</a:t>
            </a:r>
          </a:p>
        </p:txBody>
      </p:sp>
      <p:sp>
        <p:nvSpPr>
          <p:cNvPr id="56" name="TextBox 55"/>
          <p:cNvSpPr txBox="1"/>
          <p:nvPr/>
        </p:nvSpPr>
        <p:spPr>
          <a:xfrm>
            <a:off x="7589520" y="3474720"/>
            <a:ext cx="4114800" cy="2743200"/>
          </a:xfrm>
          <a:prstGeom prst="rect">
            <a:avLst/>
          </a:prstGeom>
          <a:noFill/>
        </p:spPr>
        <p:txBody>
          <a:bodyPr wrap="square"/>
          <a:lstStyle/>
          <a:p>
            <a:pPr algn="l">
              <a:spcBef>
                <a:spcPts val="0"/>
              </a:spcBef>
              <a:spcAft>
                <a:spcPts val="0"/>
              </a:spcAft>
              <a:defRPr sz="1300" b="0">
                <a:solidFill>
                  <a:srgbClr val="A08E74"/>
                </a:solidFill>
                <a:latin typeface="Calibri"/>
              </a:defRPr>
            </a:pPr>
            <a:r>
              <a:rPr dirty="0"/>
              <a:t>1. Vegetables dominate volume:</a:t>
            </a:r>
            <a:br>
              <a:rPr dirty="0"/>
            </a:br>
            <a:r>
              <a:rPr dirty="0"/>
              <a:t>   1,960 avg sales at just ¥18.90</a:t>
            </a:r>
            <a:br>
              <a:rPr dirty="0"/>
            </a:br>
            <a:br>
              <a:rPr dirty="0"/>
            </a:br>
            <a:r>
              <a:rPr dirty="0"/>
              <a:t>2. Tea commands premium pricing:</a:t>
            </a:r>
            <a:br>
              <a:rPr dirty="0"/>
            </a:br>
            <a:r>
              <a:rPr dirty="0"/>
              <a:t>   ¥107.90 avg (5.7× Vegetables)</a:t>
            </a:r>
            <a:br>
              <a:rPr dirty="0"/>
            </a:br>
            <a:br>
              <a:rPr dirty="0"/>
            </a:br>
            <a:r>
              <a:rPr dirty="0"/>
              <a:t>3. Budget tier (&lt;¥20) products</a:t>
            </a:r>
            <a:br>
              <a:rPr dirty="0"/>
            </a:br>
            <a:r>
              <a:rPr dirty="0"/>
              <a:t>   generate highest sales volume</a:t>
            </a:r>
            <a:br>
              <a:rPr dirty="0"/>
            </a:br>
            <a:br>
              <a:rPr dirty="0"/>
            </a:br>
            <a:r>
              <a:rPr dirty="0"/>
              <a:t>4. Grains &amp; Oils shows highest</a:t>
            </a:r>
            <a:br>
              <a:rPr dirty="0"/>
            </a:br>
            <a:r>
              <a:rPr dirty="0"/>
              <a:t>   consistency in ratings (4.39)</a:t>
            </a:r>
            <a:br>
              <a:rPr dirty="0"/>
            </a:br>
            <a:br>
              <a:rPr dirty="0"/>
            </a:br>
            <a:r>
              <a:rPr dirty="0"/>
              <a:t>5. 35.4% promotion rate — yet</a:t>
            </a:r>
            <a:br>
              <a:rPr dirty="0"/>
            </a:br>
            <a:r>
              <a:rPr dirty="0"/>
              <a:t>   promotions show no sales impact</a:t>
            </a:r>
          </a:p>
        </p:txBody>
      </p:sp>
      <p:pic>
        <p:nvPicPr>
          <p:cNvPr id="57" name="Picture 56" descr="01_count_by_category.png"/>
          <p:cNvPicPr>
            <a:picLocks noChangeAspect="1"/>
          </p:cNvPicPr>
          <p:nvPr/>
        </p:nvPicPr>
        <p:blipFill>
          <a:blip r:embed="rId2"/>
          <a:stretch>
            <a:fillRect/>
          </a:stretch>
        </p:blipFill>
        <p:spPr>
          <a:xfrm>
            <a:off x="274320" y="6583680"/>
            <a:ext cx="1828800" cy="9144"/>
          </a:xfrm>
          <a:prstGeom prst="rect">
            <a:avLst/>
          </a:prstGeom>
        </p:spPr>
      </p:pic>
      <p:pic>
        <p:nvPicPr>
          <p:cNvPr id="58" name="Picture 57" descr="02_avg_sales_by_category.png"/>
          <p:cNvPicPr>
            <a:picLocks noChangeAspect="1"/>
          </p:cNvPicPr>
          <p:nvPr/>
        </p:nvPicPr>
        <p:blipFill>
          <a:blip r:embed="rId3"/>
          <a:stretch>
            <a:fillRect/>
          </a:stretch>
        </p:blipFill>
        <p:spPr>
          <a:xfrm>
            <a:off x="2286000" y="6583680"/>
            <a:ext cx="1828800" cy="9144"/>
          </a:xfrm>
          <a:prstGeom prst="rect">
            <a:avLst/>
          </a:prstGeom>
        </p:spPr>
      </p:pic>
      <p:pic>
        <p:nvPicPr>
          <p:cNvPr id="59" name="Picture 58" descr="04_category_pie.png"/>
          <p:cNvPicPr>
            <a:picLocks noChangeAspect="1"/>
          </p:cNvPicPr>
          <p:nvPr/>
        </p:nvPicPr>
        <p:blipFill>
          <a:blip r:embed="rId4"/>
          <a:stretch>
            <a:fillRect/>
          </a:stretch>
        </p:blipFill>
        <p:spPr>
          <a:xfrm>
            <a:off x="4297680" y="6583680"/>
            <a:ext cx="1828800" cy="9144"/>
          </a:xfrm>
          <a:prstGeom prst="rect">
            <a:avLst/>
          </a:prstGeom>
        </p:spPr>
      </p:pic>
      <p:pic>
        <p:nvPicPr>
          <p:cNvPr id="60" name="Picture 59" descr="03_price_distribution.png"/>
          <p:cNvPicPr>
            <a:picLocks noChangeAspect="1"/>
          </p:cNvPicPr>
          <p:nvPr/>
        </p:nvPicPr>
        <p:blipFill>
          <a:blip r:embed="rId5"/>
          <a:stretch>
            <a:fillRect/>
          </a:stretch>
        </p:blipFill>
        <p:spPr>
          <a:xfrm>
            <a:off x="6309360" y="6583680"/>
            <a:ext cx="1828800" cy="9144"/>
          </a:xfrm>
          <a:prstGeom prst="rect">
            <a:avLst/>
          </a:prstGeom>
        </p:spPr>
      </p:pic>
      <p:sp>
        <p:nvSpPr>
          <p:cNvPr id="61" name="TextBox 6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Correlation Analysis — What Drives Sales Volume?</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Review count is the strongest predictor (r = +0.725). Promotions have negligible effect (r = −0.013).</a:t>
            </a:r>
          </a:p>
        </p:txBody>
      </p:sp>
      <p:sp>
        <p:nvSpPr>
          <p:cNvPr id="6" name="Rectangle 5"/>
          <p:cNvSpPr/>
          <p:nvPr/>
        </p:nvSpPr>
        <p:spPr>
          <a:xfrm>
            <a:off x="365760" y="1371600"/>
            <a:ext cx="7772400" cy="123444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54864" cy="123444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63040"/>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Review Count → Sales Volume</a:t>
            </a:r>
          </a:p>
        </p:txBody>
      </p:sp>
      <p:sp>
        <p:nvSpPr>
          <p:cNvPr id="9" name="TextBox 8"/>
          <p:cNvSpPr txBox="1"/>
          <p:nvPr/>
        </p:nvSpPr>
        <p:spPr>
          <a:xfrm>
            <a:off x="3931920" y="1463040"/>
            <a:ext cx="1828800" cy="274320"/>
          </a:xfrm>
          <a:prstGeom prst="rect">
            <a:avLst/>
          </a:prstGeom>
          <a:noFill/>
        </p:spPr>
        <p:txBody>
          <a:bodyPr wrap="square"/>
          <a:lstStyle/>
          <a:p>
            <a:pPr algn="ctr">
              <a:lnSpc>
                <a:spcPct val="120000"/>
              </a:lnSpc>
              <a:spcBef>
                <a:spcPts val="0"/>
              </a:spcBef>
              <a:spcAft>
                <a:spcPts val="0"/>
              </a:spcAft>
              <a:defRPr sz="2200" b="1">
                <a:solidFill>
                  <a:srgbClr val="8BA87E"/>
                </a:solidFill>
                <a:latin typeface="Calibri"/>
              </a:defRPr>
            </a:pPr>
            <a:r>
              <a:t>r = +0.725</a:t>
            </a:r>
          </a:p>
        </p:txBody>
      </p:sp>
      <p:sp>
        <p:nvSpPr>
          <p:cNvPr id="10" name="TextBox 9"/>
          <p:cNvSpPr txBox="1"/>
          <p:nvPr/>
        </p:nvSpPr>
        <p:spPr>
          <a:xfrm>
            <a:off x="5943600" y="1463040"/>
            <a:ext cx="2011680" cy="274320"/>
          </a:xfrm>
          <a:prstGeom prst="rect">
            <a:avLst/>
          </a:prstGeom>
          <a:noFill/>
        </p:spPr>
        <p:txBody>
          <a:bodyPr wrap="square"/>
          <a:lstStyle/>
          <a:p>
            <a:pPr algn="l">
              <a:lnSpc>
                <a:spcPct val="120000"/>
              </a:lnSpc>
              <a:spcBef>
                <a:spcPts val="0"/>
              </a:spcBef>
              <a:spcAft>
                <a:spcPts val="0"/>
              </a:spcAft>
              <a:defRPr sz="1200" b="0">
                <a:solidFill>
                  <a:srgbClr val="8BA87E"/>
                </a:solidFill>
                <a:latin typeface="Calibri"/>
              </a:defRPr>
            </a:pPr>
            <a:r>
              <a:t>Strong Positive</a:t>
            </a:r>
          </a:p>
        </p:txBody>
      </p:sp>
      <p:sp>
        <p:nvSpPr>
          <p:cNvPr id="11" name="TextBox 10"/>
          <p:cNvSpPr txBox="1"/>
          <p:nvPr/>
        </p:nvSpPr>
        <p:spPr>
          <a:xfrm>
            <a:off x="594360" y="1828800"/>
            <a:ext cx="731520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Each additional review correlates with significantly higher sales. Social proof — in the form of review volume — is the single strongest linear predictor of sales performance in agricultural e-commerce.</a:t>
            </a:r>
          </a:p>
        </p:txBody>
      </p:sp>
      <p:sp>
        <p:nvSpPr>
          <p:cNvPr id="12" name="Rectangle 11"/>
          <p:cNvSpPr/>
          <p:nvPr/>
        </p:nvSpPr>
        <p:spPr>
          <a:xfrm>
            <a:off x="365760" y="2670048"/>
            <a:ext cx="7772400" cy="123444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670048"/>
            <a:ext cx="54864" cy="123444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761488"/>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Price → Sales Volume</a:t>
            </a:r>
          </a:p>
        </p:txBody>
      </p:sp>
      <p:sp>
        <p:nvSpPr>
          <p:cNvPr id="15" name="TextBox 14"/>
          <p:cNvSpPr txBox="1"/>
          <p:nvPr/>
        </p:nvSpPr>
        <p:spPr>
          <a:xfrm>
            <a:off x="3931920" y="2761488"/>
            <a:ext cx="1828800" cy="274320"/>
          </a:xfrm>
          <a:prstGeom prst="rect">
            <a:avLst/>
          </a:prstGeom>
          <a:noFill/>
        </p:spPr>
        <p:txBody>
          <a:bodyPr wrap="square"/>
          <a:lstStyle/>
          <a:p>
            <a:pPr algn="ctr">
              <a:lnSpc>
                <a:spcPct val="120000"/>
              </a:lnSpc>
              <a:spcBef>
                <a:spcPts val="0"/>
              </a:spcBef>
              <a:spcAft>
                <a:spcPts val="0"/>
              </a:spcAft>
              <a:defRPr sz="2200" b="1">
                <a:solidFill>
                  <a:srgbClr val="C06B5A"/>
                </a:solidFill>
                <a:latin typeface="Calibri"/>
              </a:defRPr>
            </a:pPr>
            <a:r>
              <a:t>r = −0.261</a:t>
            </a:r>
          </a:p>
        </p:txBody>
      </p:sp>
      <p:sp>
        <p:nvSpPr>
          <p:cNvPr id="16" name="TextBox 15"/>
          <p:cNvSpPr txBox="1"/>
          <p:nvPr/>
        </p:nvSpPr>
        <p:spPr>
          <a:xfrm>
            <a:off x="5943600" y="2761488"/>
            <a:ext cx="2011680" cy="274320"/>
          </a:xfrm>
          <a:prstGeom prst="rect">
            <a:avLst/>
          </a:prstGeom>
          <a:noFill/>
        </p:spPr>
        <p:txBody>
          <a:bodyPr wrap="square"/>
          <a:lstStyle/>
          <a:p>
            <a:pPr algn="l">
              <a:lnSpc>
                <a:spcPct val="120000"/>
              </a:lnSpc>
              <a:spcBef>
                <a:spcPts val="0"/>
              </a:spcBef>
              <a:spcAft>
                <a:spcPts val="0"/>
              </a:spcAft>
              <a:defRPr sz="1200" b="0">
                <a:solidFill>
                  <a:srgbClr val="C06B5A"/>
                </a:solidFill>
                <a:latin typeface="Calibri"/>
              </a:defRPr>
            </a:pPr>
            <a:r>
              <a:t>Moderate Negative</a:t>
            </a:r>
          </a:p>
        </p:txBody>
      </p:sp>
      <p:sp>
        <p:nvSpPr>
          <p:cNvPr id="17" name="TextBox 16"/>
          <p:cNvSpPr txBox="1"/>
          <p:nvPr/>
        </p:nvSpPr>
        <p:spPr>
          <a:xfrm>
            <a:off x="594360" y="3127248"/>
            <a:ext cx="731520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Cheaper products tend to sell more units. This effect is moderate, not dominant — meaning price alone does not determine sales. Other factors (reviews, category) matter more.</a:t>
            </a:r>
          </a:p>
        </p:txBody>
      </p:sp>
      <p:sp>
        <p:nvSpPr>
          <p:cNvPr id="18" name="Rectangle 17"/>
          <p:cNvSpPr/>
          <p:nvPr/>
        </p:nvSpPr>
        <p:spPr>
          <a:xfrm>
            <a:off x="365760" y="3968496"/>
            <a:ext cx="7772400" cy="123444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3968496"/>
            <a:ext cx="54864" cy="123444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4059936"/>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Rating → Sales Volume</a:t>
            </a:r>
          </a:p>
        </p:txBody>
      </p:sp>
      <p:sp>
        <p:nvSpPr>
          <p:cNvPr id="21" name="TextBox 20"/>
          <p:cNvSpPr txBox="1"/>
          <p:nvPr/>
        </p:nvSpPr>
        <p:spPr>
          <a:xfrm>
            <a:off x="3931920" y="4059936"/>
            <a:ext cx="1828800" cy="274320"/>
          </a:xfrm>
          <a:prstGeom prst="rect">
            <a:avLst/>
          </a:prstGeom>
          <a:noFill/>
        </p:spPr>
        <p:txBody>
          <a:bodyPr wrap="square"/>
          <a:lstStyle/>
          <a:p>
            <a:pPr algn="ctr">
              <a:lnSpc>
                <a:spcPct val="120000"/>
              </a:lnSpc>
              <a:spcBef>
                <a:spcPts val="0"/>
              </a:spcBef>
              <a:spcAft>
                <a:spcPts val="0"/>
              </a:spcAft>
              <a:defRPr sz="2200" b="1">
                <a:solidFill>
                  <a:srgbClr val="6B9B9B"/>
                </a:solidFill>
                <a:latin typeface="Calibri"/>
              </a:defRPr>
            </a:pPr>
            <a:r>
              <a:t>r = −0.101</a:t>
            </a:r>
          </a:p>
        </p:txBody>
      </p:sp>
      <p:sp>
        <p:nvSpPr>
          <p:cNvPr id="22" name="TextBox 21"/>
          <p:cNvSpPr txBox="1"/>
          <p:nvPr/>
        </p:nvSpPr>
        <p:spPr>
          <a:xfrm>
            <a:off x="5943600" y="4059936"/>
            <a:ext cx="2011680" cy="274320"/>
          </a:xfrm>
          <a:prstGeom prst="rect">
            <a:avLst/>
          </a:prstGeom>
          <a:noFill/>
        </p:spPr>
        <p:txBody>
          <a:bodyPr wrap="square"/>
          <a:lstStyle/>
          <a:p>
            <a:pPr algn="l">
              <a:lnSpc>
                <a:spcPct val="120000"/>
              </a:lnSpc>
              <a:spcBef>
                <a:spcPts val="0"/>
              </a:spcBef>
              <a:spcAft>
                <a:spcPts val="0"/>
              </a:spcAft>
              <a:defRPr sz="1200" b="0">
                <a:solidFill>
                  <a:srgbClr val="6B9B9B"/>
                </a:solidFill>
                <a:latin typeface="Calibri"/>
              </a:defRPr>
            </a:pPr>
            <a:r>
              <a:t>Weak Negative</a:t>
            </a:r>
          </a:p>
        </p:txBody>
      </p:sp>
      <p:sp>
        <p:nvSpPr>
          <p:cNvPr id="23" name="TextBox 22"/>
          <p:cNvSpPr txBox="1"/>
          <p:nvPr/>
        </p:nvSpPr>
        <p:spPr>
          <a:xfrm>
            <a:off x="594360" y="4425696"/>
            <a:ext cx="731520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Product rating alone does not predict sales volume. A 5-star product does not automatically sell more than a 4-star one. Rating works indirectly through trust, not directly on volume.</a:t>
            </a:r>
          </a:p>
        </p:txBody>
      </p:sp>
      <p:sp>
        <p:nvSpPr>
          <p:cNvPr id="24" name="Rectangle 23"/>
          <p:cNvSpPr/>
          <p:nvPr/>
        </p:nvSpPr>
        <p:spPr>
          <a:xfrm>
            <a:off x="365760" y="5266944"/>
            <a:ext cx="7772400" cy="123444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5760" y="5266944"/>
            <a:ext cx="54864" cy="1234440"/>
          </a:xfrm>
          <a:prstGeom prst="rect">
            <a:avLst/>
          </a:prstGeom>
          <a:solidFill>
            <a:srgbClr val="A08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360" y="5358384"/>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Is Promoted → Sales Volume</a:t>
            </a:r>
          </a:p>
        </p:txBody>
      </p:sp>
      <p:sp>
        <p:nvSpPr>
          <p:cNvPr id="27" name="TextBox 26"/>
          <p:cNvSpPr txBox="1"/>
          <p:nvPr/>
        </p:nvSpPr>
        <p:spPr>
          <a:xfrm>
            <a:off x="3931920" y="5358384"/>
            <a:ext cx="1828800" cy="274320"/>
          </a:xfrm>
          <a:prstGeom prst="rect">
            <a:avLst/>
          </a:prstGeom>
          <a:noFill/>
        </p:spPr>
        <p:txBody>
          <a:bodyPr wrap="square"/>
          <a:lstStyle/>
          <a:p>
            <a:pPr algn="ctr">
              <a:lnSpc>
                <a:spcPct val="120000"/>
              </a:lnSpc>
              <a:spcBef>
                <a:spcPts val="0"/>
              </a:spcBef>
              <a:spcAft>
                <a:spcPts val="0"/>
              </a:spcAft>
              <a:defRPr sz="2200" b="1">
                <a:solidFill>
                  <a:srgbClr val="A08E74"/>
                </a:solidFill>
                <a:latin typeface="Calibri"/>
              </a:defRPr>
            </a:pPr>
            <a:r>
              <a:t>r = −0.013</a:t>
            </a:r>
          </a:p>
        </p:txBody>
      </p:sp>
      <p:sp>
        <p:nvSpPr>
          <p:cNvPr id="28" name="TextBox 27"/>
          <p:cNvSpPr txBox="1"/>
          <p:nvPr/>
        </p:nvSpPr>
        <p:spPr>
          <a:xfrm>
            <a:off x="5943600" y="5358384"/>
            <a:ext cx="2011680" cy="2743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Negligible</a:t>
            </a:r>
          </a:p>
        </p:txBody>
      </p:sp>
      <p:sp>
        <p:nvSpPr>
          <p:cNvPr id="29" name="TextBox 28"/>
          <p:cNvSpPr txBox="1"/>
          <p:nvPr/>
        </p:nvSpPr>
        <p:spPr>
          <a:xfrm>
            <a:off x="594360" y="5724144"/>
            <a:ext cx="731520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Being on promotion has virtually no linear correlation with sales volume. Discounts do not drive incremental sales in agricultural e-commerce the way they do in other retail sectors. This is a counter-intuitive finding.</a:t>
            </a:r>
          </a:p>
        </p:txBody>
      </p:sp>
      <p:pic>
        <p:nvPicPr>
          <p:cNvPr id="30" name="Picture 29" descr="06_correlation_heatmap.png"/>
          <p:cNvPicPr>
            <a:picLocks noChangeAspect="1"/>
          </p:cNvPicPr>
          <p:nvPr/>
        </p:nvPicPr>
        <p:blipFill>
          <a:blip r:embed="rId2"/>
          <a:stretch>
            <a:fillRect/>
          </a:stretch>
        </p:blipFill>
        <p:spPr>
          <a:xfrm>
            <a:off x="8412480" y="1371600"/>
            <a:ext cx="3474720" cy="2743200"/>
          </a:xfrm>
          <a:prstGeom prst="rect">
            <a:avLst/>
          </a:prstGeom>
        </p:spPr>
      </p:pic>
      <p:sp>
        <p:nvSpPr>
          <p:cNvPr id="31" name="Rectangle 30"/>
          <p:cNvSpPr/>
          <p:nvPr/>
        </p:nvSpPr>
        <p:spPr>
          <a:xfrm>
            <a:off x="8412480" y="4297680"/>
            <a:ext cx="3474720" cy="2286000"/>
          </a:xfrm>
          <a:prstGeom prst="rect">
            <a:avLst/>
          </a:prstGeom>
          <a:solidFill>
            <a:srgbClr val="FEFBF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595360" y="4434840"/>
            <a:ext cx="3108960" cy="274320"/>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Business Implication</a:t>
            </a:r>
          </a:p>
        </p:txBody>
      </p:sp>
      <p:sp>
        <p:nvSpPr>
          <p:cNvPr id="33" name="TextBox 32"/>
          <p:cNvSpPr txBox="1"/>
          <p:nvPr/>
        </p:nvSpPr>
        <p:spPr>
          <a:xfrm>
            <a:off x="8595360" y="4800600"/>
            <a:ext cx="3108960" cy="1645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Sellers should prioritize generating authentic customer reviews over running discounts. The data clearly shows that review volume is the dominant sales driver, while promotion status has no meaningful effect. Invest in post-purchase follow-up and review solicitation rather than price reductions.</a:t>
            </a:r>
          </a:p>
        </p:txBody>
      </p:sp>
      <p:sp>
        <p:nvSpPr>
          <p:cNvPr id="34" name="TextBox 33"/>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Regression Modeling — OLS vs Random Forest</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Random Forest (R² = 0.709) outperforms OLS (R² = 0.598) by capturing non-linear feature interactions</a:t>
            </a:r>
          </a:p>
        </p:txBody>
      </p:sp>
      <p:sp>
        <p:nvSpPr>
          <p:cNvPr id="6" name="Rectangle 5"/>
          <p:cNvSpPr/>
          <p:nvPr/>
        </p:nvSpPr>
        <p:spPr>
          <a:xfrm>
            <a:off x="365760" y="1371600"/>
            <a:ext cx="5486400" cy="23774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554480"/>
            <a:ext cx="4937760" cy="320040"/>
          </a:xfrm>
          <a:prstGeom prst="rect">
            <a:avLst/>
          </a:prstGeom>
          <a:noFill/>
        </p:spPr>
        <p:txBody>
          <a:bodyPr wrap="square"/>
          <a:lstStyle/>
          <a:p>
            <a:pPr algn="l">
              <a:lnSpc>
                <a:spcPct val="120000"/>
              </a:lnSpc>
              <a:spcBef>
                <a:spcPts val="0"/>
              </a:spcBef>
              <a:spcAft>
                <a:spcPts val="0"/>
              </a:spcAft>
              <a:defRPr sz="1800" b="1">
                <a:solidFill>
                  <a:srgbClr val="6B9B9B"/>
                </a:solidFill>
                <a:latin typeface="Calibri"/>
              </a:defRPr>
            </a:pPr>
            <a:r>
              <a:t>OLS Multiple Regression</a:t>
            </a:r>
          </a:p>
        </p:txBody>
      </p:sp>
      <p:sp>
        <p:nvSpPr>
          <p:cNvPr id="8" name="TextBox 7"/>
          <p:cNvSpPr txBox="1"/>
          <p:nvPr/>
        </p:nvSpPr>
        <p:spPr>
          <a:xfrm>
            <a:off x="640080" y="2011680"/>
            <a:ext cx="493776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R² = 0.598  |  All features p &lt; 0.001 (except is_promoted)</a:t>
            </a:r>
          </a:p>
        </p:txBody>
      </p:sp>
      <p:sp>
        <p:nvSpPr>
          <p:cNvPr id="9" name="TextBox 8"/>
          <p:cNvSpPr txBox="1"/>
          <p:nvPr/>
        </p:nvSpPr>
        <p:spPr>
          <a:xfrm>
            <a:off x="640080" y="2331720"/>
            <a:ext cx="4937760" cy="274320"/>
          </a:xfrm>
          <a:prstGeom prst="rect">
            <a:avLst/>
          </a:prstGeom>
          <a:noFill/>
        </p:spPr>
        <p:txBody>
          <a:bodyPr wrap="square"/>
          <a:lstStyle/>
          <a:p>
            <a:pPr algn="l">
              <a:lnSpc>
                <a:spcPct val="120000"/>
              </a:lnSpc>
              <a:spcBef>
                <a:spcPts val="0"/>
              </a:spcBef>
              <a:spcAft>
                <a:spcPts val="0"/>
              </a:spcAft>
              <a:defRPr sz="1300" b="1">
                <a:solidFill>
                  <a:srgbClr val="C06B5A"/>
                </a:solidFill>
                <a:latin typeface="Calibri"/>
              </a:defRPr>
            </a:pPr>
            <a:r>
              <a:rPr dirty="0" err="1"/>
              <a:t>is_promoted</a:t>
            </a:r>
            <a:r>
              <a:rPr dirty="0"/>
              <a:t>: p = 0.76 — not statistically significant</a:t>
            </a:r>
          </a:p>
        </p:txBody>
      </p:sp>
      <p:sp>
        <p:nvSpPr>
          <p:cNvPr id="10" name="TextBox 9"/>
          <p:cNvSpPr txBox="1"/>
          <p:nvPr/>
        </p:nvSpPr>
        <p:spPr>
          <a:xfrm>
            <a:off x="640080" y="2591602"/>
            <a:ext cx="4937760" cy="8229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 Linear model — assumes additive effects only</a:t>
            </a:r>
            <a:br>
              <a:rPr dirty="0"/>
            </a:br>
            <a:r>
              <a:rPr dirty="0"/>
              <a:t>• </a:t>
            </a:r>
            <a:r>
              <a:rPr dirty="0" err="1"/>
              <a:t>review_count</a:t>
            </a:r>
            <a:r>
              <a:rPr dirty="0"/>
              <a:t> has the largest coefficient</a:t>
            </a:r>
            <a:br>
              <a:rPr dirty="0"/>
            </a:br>
            <a:r>
              <a:rPr dirty="0"/>
              <a:t>• price has negative coefficient (as expected)</a:t>
            </a:r>
            <a:br>
              <a:rPr dirty="0"/>
            </a:br>
            <a:r>
              <a:rPr dirty="0"/>
              <a:t>• Confirms: promotions do not matter linearly</a:t>
            </a:r>
            <a:br>
              <a:rPr dirty="0"/>
            </a:br>
            <a:r>
              <a:rPr dirty="0"/>
              <a:t>• Fitted on full dataset via </a:t>
            </a:r>
            <a:r>
              <a:rPr dirty="0" err="1"/>
              <a:t>statsmodels</a:t>
            </a:r>
            <a:endParaRPr dirty="0"/>
          </a:p>
        </p:txBody>
      </p:sp>
      <p:sp>
        <p:nvSpPr>
          <p:cNvPr id="11" name="Rectangle 10"/>
          <p:cNvSpPr/>
          <p:nvPr/>
        </p:nvSpPr>
        <p:spPr>
          <a:xfrm>
            <a:off x="6126480" y="1417320"/>
            <a:ext cx="5760720" cy="2377440"/>
          </a:xfrm>
          <a:prstGeom prst="rect">
            <a:avLst/>
          </a:prstGeom>
          <a:solidFill>
            <a:srgbClr val="FEFBF5"/>
          </a:solidFill>
          <a:ln w="1905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54480"/>
            <a:ext cx="521208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 Random Forest Regressor</a:t>
            </a:r>
          </a:p>
        </p:txBody>
      </p:sp>
      <p:sp>
        <p:nvSpPr>
          <p:cNvPr id="13" name="TextBox 12"/>
          <p:cNvSpPr txBox="1"/>
          <p:nvPr/>
        </p:nvSpPr>
        <p:spPr>
          <a:xfrm>
            <a:off x="6400800" y="2011680"/>
            <a:ext cx="5212080" cy="274320"/>
          </a:xfrm>
          <a:prstGeom prst="rect">
            <a:avLst/>
          </a:prstGeom>
          <a:noFill/>
        </p:spPr>
        <p:txBody>
          <a:bodyPr wrap="square"/>
          <a:lstStyle/>
          <a:p>
            <a:pPr algn="l">
              <a:lnSpc>
                <a:spcPct val="120000"/>
              </a:lnSpc>
              <a:spcBef>
                <a:spcPts val="0"/>
              </a:spcBef>
              <a:spcAft>
                <a:spcPts val="0"/>
              </a:spcAft>
              <a:defRPr sz="1300" b="1">
                <a:solidFill>
                  <a:srgbClr val="5C7A4E"/>
                </a:solidFill>
                <a:latin typeface="Calibri"/>
              </a:defRPr>
            </a:pPr>
            <a:r>
              <a:t>R² = 0.709  |  MAE = 342  |  RMSE = 550</a:t>
            </a:r>
          </a:p>
        </p:txBody>
      </p:sp>
      <p:sp>
        <p:nvSpPr>
          <p:cNvPr id="14" name="TextBox 13"/>
          <p:cNvSpPr txBox="1"/>
          <p:nvPr/>
        </p:nvSpPr>
        <p:spPr>
          <a:xfrm>
            <a:off x="6400800" y="2317282"/>
            <a:ext cx="5212080" cy="274320"/>
          </a:xfrm>
          <a:prstGeom prst="rect">
            <a:avLst/>
          </a:prstGeom>
          <a:noFill/>
        </p:spPr>
        <p:txBody>
          <a:bodyPr wrap="square"/>
          <a:lstStyle/>
          <a:p>
            <a:pPr algn="l">
              <a:lnSpc>
                <a:spcPct val="120000"/>
              </a:lnSpc>
              <a:spcBef>
                <a:spcPts val="0"/>
              </a:spcBef>
              <a:spcAft>
                <a:spcPts val="0"/>
              </a:spcAft>
              <a:defRPr sz="1300" b="1">
                <a:solidFill>
                  <a:srgbClr val="8BA87E"/>
                </a:solidFill>
                <a:latin typeface="Calibri"/>
              </a:defRPr>
            </a:pPr>
            <a:r>
              <a:rPr dirty="0"/>
              <a:t>+11.1 percentage point improvement over OLS</a:t>
            </a:r>
          </a:p>
        </p:txBody>
      </p:sp>
      <p:sp>
        <p:nvSpPr>
          <p:cNvPr id="15" name="TextBox 14"/>
          <p:cNvSpPr txBox="1"/>
          <p:nvPr/>
        </p:nvSpPr>
        <p:spPr>
          <a:xfrm>
            <a:off x="6400800" y="2606040"/>
            <a:ext cx="5212080" cy="8229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 100 decision trees, </a:t>
            </a:r>
            <a:r>
              <a:rPr dirty="0" err="1"/>
              <a:t>random_state</a:t>
            </a:r>
            <a:r>
              <a:rPr dirty="0"/>
              <a:t>=42 for reproducibility</a:t>
            </a:r>
            <a:br>
              <a:rPr dirty="0"/>
            </a:br>
            <a:r>
              <a:rPr dirty="0"/>
              <a:t>• Captures non-linear feature interactions automatically</a:t>
            </a:r>
            <a:br>
              <a:rPr dirty="0"/>
            </a:br>
            <a:r>
              <a:rPr dirty="0"/>
              <a:t>• 80% train / 20% test split for unbiased evaluation</a:t>
            </a:r>
            <a:br>
              <a:rPr dirty="0"/>
            </a:br>
            <a:r>
              <a:rPr dirty="0"/>
              <a:t>• Deployed as real-time prediction API endpoint</a:t>
            </a:r>
            <a:br>
              <a:rPr dirty="0"/>
            </a:br>
            <a:r>
              <a:rPr dirty="0"/>
              <a:t>• Model serialized with </a:t>
            </a:r>
            <a:r>
              <a:rPr dirty="0" err="1"/>
              <a:t>joblib</a:t>
            </a:r>
            <a:r>
              <a:rPr dirty="0"/>
              <a:t> (.</a:t>
            </a:r>
            <a:r>
              <a:rPr dirty="0" err="1"/>
              <a:t>pkl</a:t>
            </a:r>
            <a:r>
              <a:rPr dirty="0"/>
              <a:t> format)</a:t>
            </a:r>
          </a:p>
        </p:txBody>
      </p:sp>
      <p:pic>
        <p:nvPicPr>
          <p:cNvPr id="20" name="Picture 19" descr="10_feature_importance.png"/>
          <p:cNvPicPr>
            <a:picLocks noChangeAspect="1"/>
          </p:cNvPicPr>
          <p:nvPr/>
        </p:nvPicPr>
        <p:blipFill>
          <a:blip r:embed="rId2"/>
          <a:stretch>
            <a:fillRect/>
          </a:stretch>
        </p:blipFill>
        <p:spPr>
          <a:xfrm>
            <a:off x="365760" y="3913631"/>
            <a:ext cx="3640756" cy="2844341"/>
          </a:xfrm>
          <a:prstGeom prst="rect">
            <a:avLst/>
          </a:prstGeom>
        </p:spPr>
      </p:pic>
      <p:pic>
        <p:nvPicPr>
          <p:cNvPr id="21" name="Picture 20" descr="11_actual_vs_predicted.png"/>
          <p:cNvPicPr>
            <a:picLocks noChangeAspect="1"/>
          </p:cNvPicPr>
          <p:nvPr/>
        </p:nvPicPr>
        <p:blipFill>
          <a:blip r:embed="rId3"/>
          <a:stretch>
            <a:fillRect/>
          </a:stretch>
        </p:blipFill>
        <p:spPr>
          <a:xfrm>
            <a:off x="6126479" y="3913631"/>
            <a:ext cx="3640755" cy="2844340"/>
          </a:xfrm>
          <a:prstGeom prst="rect">
            <a:avLst/>
          </a:prstGeom>
        </p:spPr>
      </p:pic>
      <p:sp>
        <p:nvSpPr>
          <p:cNvPr id="22" name="TextBox 21"/>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Feature Importance — What Really Predicts Sales?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Review count accounts for 69.6% of model predictive power — social proof dominates everything else</a:t>
            </a:r>
          </a:p>
        </p:txBody>
      </p:sp>
      <p:sp>
        <p:nvSpPr>
          <p:cNvPr id="6" name="Rectangle 5"/>
          <p:cNvSpPr/>
          <p:nvPr/>
        </p:nvSpPr>
        <p:spPr>
          <a:xfrm>
            <a:off x="365760" y="1371600"/>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54864" cy="96012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44752"/>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Review Count</a:t>
            </a:r>
          </a:p>
        </p:txBody>
      </p:sp>
      <p:sp>
        <p:nvSpPr>
          <p:cNvPr id="9" name="TextBox 8"/>
          <p:cNvSpPr txBox="1"/>
          <p:nvPr/>
        </p:nvSpPr>
        <p:spPr>
          <a:xfrm>
            <a:off x="2560320" y="1444752"/>
            <a:ext cx="914400" cy="228600"/>
          </a:xfrm>
          <a:prstGeom prst="rect">
            <a:avLst/>
          </a:prstGeom>
          <a:noFill/>
        </p:spPr>
        <p:txBody>
          <a:bodyPr wrap="square"/>
          <a:lstStyle/>
          <a:p>
            <a:pPr algn="ctr">
              <a:lnSpc>
                <a:spcPct val="120000"/>
              </a:lnSpc>
              <a:spcBef>
                <a:spcPts val="0"/>
              </a:spcBef>
              <a:spcAft>
                <a:spcPts val="0"/>
              </a:spcAft>
              <a:defRPr sz="2000" b="1">
                <a:solidFill>
                  <a:srgbClr val="8BA87E"/>
                </a:solidFill>
                <a:latin typeface="Calibri"/>
              </a:defRPr>
            </a:pPr>
            <a:r>
              <a:t>69.6%</a:t>
            </a:r>
          </a:p>
        </p:txBody>
      </p:sp>
      <p:sp>
        <p:nvSpPr>
          <p:cNvPr id="10" name="Rectangle 9"/>
          <p:cNvSpPr/>
          <p:nvPr/>
        </p:nvSpPr>
        <p:spPr>
          <a:xfrm>
            <a:off x="3657600" y="1463040"/>
            <a:ext cx="5091379" cy="201168"/>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783080"/>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The dominant predictor. Each review adds social proof, improves search visibility, and signals product popularity. This is a compounding effect — more reviews → more visibility → more sales → more reviews.</a:t>
            </a:r>
          </a:p>
        </p:txBody>
      </p:sp>
      <p:sp>
        <p:nvSpPr>
          <p:cNvPr id="12" name="Rectangle 11"/>
          <p:cNvSpPr/>
          <p:nvPr/>
        </p:nvSpPr>
        <p:spPr>
          <a:xfrm>
            <a:off x="365760" y="2395728"/>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395728"/>
            <a:ext cx="54864" cy="96012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468880"/>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Category</a:t>
            </a:r>
          </a:p>
        </p:txBody>
      </p:sp>
      <p:sp>
        <p:nvSpPr>
          <p:cNvPr id="15" name="TextBox 14"/>
          <p:cNvSpPr txBox="1"/>
          <p:nvPr/>
        </p:nvSpPr>
        <p:spPr>
          <a:xfrm>
            <a:off x="2560320" y="2468880"/>
            <a:ext cx="914400" cy="228600"/>
          </a:xfrm>
          <a:prstGeom prst="rect">
            <a:avLst/>
          </a:prstGeom>
          <a:noFill/>
        </p:spPr>
        <p:txBody>
          <a:bodyPr wrap="square"/>
          <a:lstStyle/>
          <a:p>
            <a:pPr algn="ctr">
              <a:lnSpc>
                <a:spcPct val="120000"/>
              </a:lnSpc>
              <a:spcBef>
                <a:spcPts val="0"/>
              </a:spcBef>
              <a:spcAft>
                <a:spcPts val="0"/>
              </a:spcAft>
              <a:defRPr sz="2000" b="1">
                <a:solidFill>
                  <a:srgbClr val="6B9B9B"/>
                </a:solidFill>
                <a:latin typeface="Calibri"/>
              </a:defRPr>
            </a:pPr>
            <a:r>
              <a:t>14.4%</a:t>
            </a:r>
          </a:p>
        </p:txBody>
      </p:sp>
      <p:sp>
        <p:nvSpPr>
          <p:cNvPr id="16" name="Rectangle 15"/>
          <p:cNvSpPr/>
          <p:nvPr/>
        </p:nvSpPr>
        <p:spPr>
          <a:xfrm>
            <a:off x="3657600" y="2487168"/>
            <a:ext cx="1053388" cy="201168"/>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0" y="2807208"/>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Different categories have fundamentally different sales dynamics. Vegetables naturally sell more units than Tea. The model learns these category-level baselines.</a:t>
            </a:r>
          </a:p>
        </p:txBody>
      </p:sp>
      <p:sp>
        <p:nvSpPr>
          <p:cNvPr id="18" name="Rectangle 17"/>
          <p:cNvSpPr/>
          <p:nvPr/>
        </p:nvSpPr>
        <p:spPr>
          <a:xfrm>
            <a:off x="365760" y="3419856"/>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3419856"/>
            <a:ext cx="54864" cy="9601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493008"/>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Price</a:t>
            </a:r>
          </a:p>
        </p:txBody>
      </p:sp>
      <p:sp>
        <p:nvSpPr>
          <p:cNvPr id="21" name="TextBox 20"/>
          <p:cNvSpPr txBox="1"/>
          <p:nvPr/>
        </p:nvSpPr>
        <p:spPr>
          <a:xfrm>
            <a:off x="2560320" y="3493008"/>
            <a:ext cx="914400" cy="2286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9.8%</a:t>
            </a:r>
          </a:p>
        </p:txBody>
      </p:sp>
      <p:sp>
        <p:nvSpPr>
          <p:cNvPr id="22" name="Rectangle 21"/>
          <p:cNvSpPr/>
          <p:nvPr/>
        </p:nvSpPr>
        <p:spPr>
          <a:xfrm>
            <a:off x="3657600" y="3511296"/>
            <a:ext cx="716889" cy="201168"/>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0" y="3831336"/>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Price matters, but less than you might think. Within a given category and review level, price explains only ~10% of sales variance. Non-price factors dominate.</a:t>
            </a:r>
          </a:p>
        </p:txBody>
      </p:sp>
      <p:sp>
        <p:nvSpPr>
          <p:cNvPr id="24" name="Rectangle 23"/>
          <p:cNvSpPr/>
          <p:nvPr/>
        </p:nvSpPr>
        <p:spPr>
          <a:xfrm>
            <a:off x="365760" y="4443984"/>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5760" y="4443984"/>
            <a:ext cx="54864" cy="960120"/>
          </a:xfrm>
          <a:prstGeom prst="rect">
            <a:avLst/>
          </a:prstGeom>
          <a:solidFill>
            <a:srgbClr val="A08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360" y="4517136"/>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Rating</a:t>
            </a:r>
          </a:p>
        </p:txBody>
      </p:sp>
      <p:sp>
        <p:nvSpPr>
          <p:cNvPr id="27" name="TextBox 26"/>
          <p:cNvSpPr txBox="1"/>
          <p:nvPr/>
        </p:nvSpPr>
        <p:spPr>
          <a:xfrm>
            <a:off x="2560320" y="4517136"/>
            <a:ext cx="914400" cy="228600"/>
          </a:xfrm>
          <a:prstGeom prst="rect">
            <a:avLst/>
          </a:prstGeom>
          <a:noFill/>
        </p:spPr>
        <p:txBody>
          <a:bodyPr wrap="square"/>
          <a:lstStyle/>
          <a:p>
            <a:pPr algn="ctr">
              <a:lnSpc>
                <a:spcPct val="120000"/>
              </a:lnSpc>
              <a:spcBef>
                <a:spcPts val="0"/>
              </a:spcBef>
              <a:spcAft>
                <a:spcPts val="0"/>
              </a:spcAft>
              <a:defRPr sz="2000" b="1">
                <a:solidFill>
                  <a:srgbClr val="A08E74"/>
                </a:solidFill>
                <a:latin typeface="Calibri"/>
              </a:defRPr>
            </a:pPr>
            <a:r>
              <a:t>5.3%</a:t>
            </a:r>
          </a:p>
        </p:txBody>
      </p:sp>
      <p:sp>
        <p:nvSpPr>
          <p:cNvPr id="28" name="Rectangle 27"/>
          <p:cNvSpPr/>
          <p:nvPr/>
        </p:nvSpPr>
        <p:spPr>
          <a:xfrm>
            <a:off x="3657600" y="4535424"/>
            <a:ext cx="387705" cy="201168"/>
          </a:xfrm>
          <a:prstGeom prst="rect">
            <a:avLst/>
          </a:prstGeom>
          <a:solidFill>
            <a:srgbClr val="A08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0" y="4855464"/>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Star rating contributes modestly. A 4.5 vs 4.0 rating matters, but the effect is small compared to review volume. Focus on getting more reviews, not just higher ratings.</a:t>
            </a:r>
          </a:p>
        </p:txBody>
      </p:sp>
      <p:sp>
        <p:nvSpPr>
          <p:cNvPr id="30" name="Rectangle 29"/>
          <p:cNvSpPr/>
          <p:nvPr/>
        </p:nvSpPr>
        <p:spPr>
          <a:xfrm>
            <a:off x="365760" y="5468112"/>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5760" y="5468112"/>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5541264"/>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Is Promoted</a:t>
            </a:r>
          </a:p>
        </p:txBody>
      </p:sp>
      <p:sp>
        <p:nvSpPr>
          <p:cNvPr id="33" name="TextBox 32"/>
          <p:cNvSpPr txBox="1"/>
          <p:nvPr/>
        </p:nvSpPr>
        <p:spPr>
          <a:xfrm>
            <a:off x="2560320" y="5541264"/>
            <a:ext cx="914400" cy="228600"/>
          </a:xfrm>
          <a:prstGeom prst="rect">
            <a:avLst/>
          </a:prstGeom>
          <a:noFill/>
        </p:spPr>
        <p:txBody>
          <a:bodyPr wrap="square"/>
          <a:lstStyle/>
          <a:p>
            <a:pPr algn="ctr">
              <a:lnSpc>
                <a:spcPct val="120000"/>
              </a:lnSpc>
              <a:spcBef>
                <a:spcPts val="0"/>
              </a:spcBef>
              <a:spcAft>
                <a:spcPts val="0"/>
              </a:spcAft>
              <a:defRPr sz="2000" b="1">
                <a:solidFill>
                  <a:srgbClr val="C06B5A"/>
                </a:solidFill>
                <a:latin typeface="Calibri"/>
              </a:defRPr>
            </a:pPr>
            <a:r>
              <a:t>0.9%</a:t>
            </a:r>
          </a:p>
        </p:txBody>
      </p:sp>
      <p:sp>
        <p:nvSpPr>
          <p:cNvPr id="34" name="Rectangle 33"/>
          <p:cNvSpPr/>
          <p:nvPr/>
        </p:nvSpPr>
        <p:spPr>
          <a:xfrm>
            <a:off x="3657600" y="5559552"/>
            <a:ext cx="65836" cy="201168"/>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57600" y="5879592"/>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Barely registers. Being on promotion explains less than 1% of sales variance. Discounts do not meaningfully drive volume in agricultural e-commerce. Counter-intuitive but data-backed.</a:t>
            </a:r>
          </a:p>
        </p:txBody>
      </p:sp>
      <p:sp>
        <p:nvSpPr>
          <p:cNvPr id="36" name="Rectangle 35"/>
          <p:cNvSpPr/>
          <p:nvPr/>
        </p:nvSpPr>
        <p:spPr>
          <a:xfrm>
            <a:off x="365760" y="6172200"/>
            <a:ext cx="11430000" cy="621792"/>
          </a:xfrm>
          <a:prstGeom prst="rect">
            <a:avLst/>
          </a:prstGeom>
          <a:solidFill>
            <a:srgbClr val="EFE6D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8640" y="6236208"/>
            <a:ext cx="10972800" cy="320040"/>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rPr dirty="0"/>
              <a:t>★  Key Strategic Insight: Sellers should invest in review generation infrastructure — post-purchase emails, review incentives, customer service follow-ups — before spending on discounts or ad campaigns.</a:t>
            </a:r>
          </a:p>
        </p:txBody>
      </p:sp>
      <p:sp>
        <p:nvSpPr>
          <p:cNvPr id="38" name="TextBox 3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Cluster Analysis — 4 Market Segments (K-Means, K=4)</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Elbow method identifies 4 distinct product tiers with unique price-sales-rating profiles</a:t>
            </a:r>
          </a:p>
        </p:txBody>
      </p:sp>
      <p:sp>
        <p:nvSpPr>
          <p:cNvPr id="6" name="Rectangle 5"/>
          <p:cNvSpPr/>
          <p:nvPr/>
        </p:nvSpPr>
        <p:spPr>
          <a:xfrm>
            <a:off x="274320" y="1371600"/>
            <a:ext cx="2788920" cy="31089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71600"/>
            <a:ext cx="2788920" cy="54864"/>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508760"/>
            <a:ext cx="2514600" cy="27432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Mid-range Stable</a:t>
            </a:r>
          </a:p>
        </p:txBody>
      </p:sp>
      <p:sp>
        <p:nvSpPr>
          <p:cNvPr id="9" name="TextBox 8"/>
          <p:cNvSpPr txBox="1"/>
          <p:nvPr/>
        </p:nvSpPr>
        <p:spPr>
          <a:xfrm>
            <a:off x="411480" y="1874519"/>
            <a:ext cx="25146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1,199 products • 41.0%</a:t>
            </a:r>
          </a:p>
        </p:txBody>
      </p:sp>
      <p:sp>
        <p:nvSpPr>
          <p:cNvPr id="10" name="TextBox 9"/>
          <p:cNvSpPr txBox="1"/>
          <p:nvPr/>
        </p:nvSpPr>
        <p:spPr>
          <a:xfrm>
            <a:off x="411480" y="2194560"/>
            <a:ext cx="2514600" cy="228600"/>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Price: ¥45  |  Sales: 661  |  4.66 ★</a:t>
            </a:r>
          </a:p>
        </p:txBody>
      </p:sp>
      <p:sp>
        <p:nvSpPr>
          <p:cNvPr id="11" name="TextBox 10"/>
          <p:cNvSpPr txBox="1"/>
          <p:nvPr/>
        </p:nvSpPr>
        <p:spPr>
          <a:xfrm>
            <a:off x="411480" y="2514600"/>
            <a:ext cx="2514600" cy="228600"/>
          </a:xfrm>
          <a:prstGeom prst="rect">
            <a:avLst/>
          </a:prstGeom>
          <a:noFill/>
        </p:spPr>
        <p:txBody>
          <a:bodyPr wrap="square"/>
          <a:lstStyle/>
          <a:p>
            <a:pPr algn="l">
              <a:lnSpc>
                <a:spcPct val="120000"/>
              </a:lnSpc>
              <a:spcBef>
                <a:spcPts val="0"/>
              </a:spcBef>
              <a:spcAft>
                <a:spcPts val="0"/>
              </a:spcAft>
              <a:defRPr sz="1200" b="1">
                <a:solidFill>
                  <a:srgbClr val="8BA87E"/>
                </a:solidFill>
                <a:latin typeface="Calibri"/>
              </a:defRPr>
            </a:pPr>
            <a:r>
              <a:t>Top Category: Grains &amp; Oils</a:t>
            </a:r>
          </a:p>
        </p:txBody>
      </p:sp>
      <p:sp>
        <p:nvSpPr>
          <p:cNvPr id="12" name="TextBox 11"/>
          <p:cNvSpPr txBox="1"/>
          <p:nvPr/>
        </p:nvSpPr>
        <p:spPr>
          <a:xfrm>
            <a:off x="411480" y="2834640"/>
            <a:ext cx="2514600" cy="146304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The market equilibrium. Largest segment with the highest ratings. Moderate prices, stable volume. Ideal positioning target for new products entering the market.</a:t>
            </a:r>
          </a:p>
        </p:txBody>
      </p:sp>
      <p:sp>
        <p:nvSpPr>
          <p:cNvPr id="13" name="Rectangle 12"/>
          <p:cNvSpPr/>
          <p:nvPr/>
        </p:nvSpPr>
        <p:spPr>
          <a:xfrm>
            <a:off x="3246120" y="1371600"/>
            <a:ext cx="2788920" cy="31089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46120" y="1371600"/>
            <a:ext cx="2788920" cy="54864"/>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83280" y="1508760"/>
            <a:ext cx="2514600" cy="274320"/>
          </a:xfrm>
          <a:prstGeom prst="rect">
            <a:avLst/>
          </a:prstGeom>
          <a:noFill/>
        </p:spPr>
        <p:txBody>
          <a:bodyPr wrap="square"/>
          <a:lstStyle/>
          <a:p>
            <a:pPr algn="l">
              <a:lnSpc>
                <a:spcPct val="120000"/>
              </a:lnSpc>
              <a:spcBef>
                <a:spcPts val="0"/>
              </a:spcBef>
              <a:spcAft>
                <a:spcPts val="0"/>
              </a:spcAft>
              <a:defRPr sz="1600" b="1">
                <a:solidFill>
                  <a:srgbClr val="6B9B9B"/>
                </a:solidFill>
                <a:latin typeface="Calibri"/>
              </a:defRPr>
            </a:pPr>
            <a:r>
              <a:t>Low Engagement</a:t>
            </a:r>
          </a:p>
        </p:txBody>
      </p:sp>
      <p:sp>
        <p:nvSpPr>
          <p:cNvPr id="16" name="TextBox 15"/>
          <p:cNvSpPr txBox="1"/>
          <p:nvPr/>
        </p:nvSpPr>
        <p:spPr>
          <a:xfrm>
            <a:off x="3383280" y="1874519"/>
            <a:ext cx="25146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1,038 products • 35.5%</a:t>
            </a:r>
          </a:p>
        </p:txBody>
      </p:sp>
      <p:sp>
        <p:nvSpPr>
          <p:cNvPr id="17" name="TextBox 16"/>
          <p:cNvSpPr txBox="1"/>
          <p:nvPr/>
        </p:nvSpPr>
        <p:spPr>
          <a:xfrm>
            <a:off x="3383280" y="2194560"/>
            <a:ext cx="2514600" cy="228600"/>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Price: ¥39  |  Sales: 849  |  3.94 ★</a:t>
            </a:r>
          </a:p>
        </p:txBody>
      </p:sp>
      <p:sp>
        <p:nvSpPr>
          <p:cNvPr id="18" name="TextBox 17"/>
          <p:cNvSpPr txBox="1"/>
          <p:nvPr/>
        </p:nvSpPr>
        <p:spPr>
          <a:xfrm>
            <a:off x="3383280" y="2514600"/>
            <a:ext cx="2514600" cy="228600"/>
          </a:xfrm>
          <a:prstGeom prst="rect">
            <a:avLst/>
          </a:prstGeom>
          <a:noFill/>
        </p:spPr>
        <p:txBody>
          <a:bodyPr wrap="square"/>
          <a:lstStyle/>
          <a:p>
            <a:pPr algn="l">
              <a:lnSpc>
                <a:spcPct val="120000"/>
              </a:lnSpc>
              <a:spcBef>
                <a:spcPts val="0"/>
              </a:spcBef>
              <a:spcAft>
                <a:spcPts val="0"/>
              </a:spcAft>
              <a:defRPr sz="1200" b="1">
                <a:solidFill>
                  <a:srgbClr val="6B9B9B"/>
                </a:solidFill>
                <a:latin typeface="Calibri"/>
              </a:defRPr>
            </a:pPr>
            <a:r>
              <a:t>Top Category: Vegetables</a:t>
            </a:r>
          </a:p>
        </p:txBody>
      </p:sp>
      <p:sp>
        <p:nvSpPr>
          <p:cNvPr id="19" name="TextBox 18"/>
          <p:cNvSpPr txBox="1"/>
          <p:nvPr/>
        </p:nvSpPr>
        <p:spPr>
          <a:xfrm>
            <a:off x="3383280" y="2834640"/>
            <a:ext cx="2514600" cy="146304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Second largest segment but lowest ratings. These products sell adequately at low prices but fail to engage customers. Priority: improve review generation and reputation building.</a:t>
            </a:r>
          </a:p>
        </p:txBody>
      </p:sp>
      <p:sp>
        <p:nvSpPr>
          <p:cNvPr id="20" name="Rectangle 19"/>
          <p:cNvSpPr/>
          <p:nvPr/>
        </p:nvSpPr>
        <p:spPr>
          <a:xfrm>
            <a:off x="6217920" y="1371600"/>
            <a:ext cx="2788920" cy="31089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371600"/>
            <a:ext cx="2788920" cy="54864"/>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1508760"/>
            <a:ext cx="2514600" cy="274320"/>
          </a:xfrm>
          <a:prstGeom prst="rect">
            <a:avLst/>
          </a:prstGeom>
          <a:noFill/>
        </p:spPr>
        <p:txBody>
          <a:bodyPr wrap="square"/>
          <a:lstStyle/>
          <a:p>
            <a:pPr algn="l">
              <a:lnSpc>
                <a:spcPct val="120000"/>
              </a:lnSpc>
              <a:spcBef>
                <a:spcPts val="0"/>
              </a:spcBef>
              <a:spcAft>
                <a:spcPts val="0"/>
              </a:spcAft>
              <a:defRPr sz="1600" b="1">
                <a:solidFill>
                  <a:srgbClr val="D4A853"/>
                </a:solidFill>
                <a:latin typeface="Calibri"/>
              </a:defRPr>
            </a:pPr>
            <a:r>
              <a:t>Premium Niche</a:t>
            </a:r>
          </a:p>
        </p:txBody>
      </p:sp>
      <p:sp>
        <p:nvSpPr>
          <p:cNvPr id="23" name="TextBox 22"/>
          <p:cNvSpPr txBox="1"/>
          <p:nvPr/>
        </p:nvSpPr>
        <p:spPr>
          <a:xfrm>
            <a:off x="6355080" y="1874519"/>
            <a:ext cx="25146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345 products • 11.8%</a:t>
            </a:r>
          </a:p>
        </p:txBody>
      </p:sp>
      <p:sp>
        <p:nvSpPr>
          <p:cNvPr id="24" name="TextBox 23"/>
          <p:cNvSpPr txBox="1"/>
          <p:nvPr/>
        </p:nvSpPr>
        <p:spPr>
          <a:xfrm>
            <a:off x="6355080" y="2194560"/>
            <a:ext cx="2514600" cy="228600"/>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Price: ¥169  |  Sales: 513  |  4.34 ★</a:t>
            </a:r>
          </a:p>
        </p:txBody>
      </p:sp>
      <p:sp>
        <p:nvSpPr>
          <p:cNvPr id="25" name="TextBox 24"/>
          <p:cNvSpPr txBox="1"/>
          <p:nvPr/>
        </p:nvSpPr>
        <p:spPr>
          <a:xfrm>
            <a:off x="6355080" y="2514600"/>
            <a:ext cx="25146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Top Category: Tea</a:t>
            </a:r>
          </a:p>
        </p:txBody>
      </p:sp>
      <p:sp>
        <p:nvSpPr>
          <p:cNvPr id="26" name="TextBox 25"/>
          <p:cNvSpPr txBox="1"/>
          <p:nvPr/>
        </p:nvSpPr>
        <p:spPr>
          <a:xfrm>
            <a:off x="6355080" y="2834640"/>
            <a:ext cx="2514600" cy="146304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Highest price point by far (5.3× Low Engagement). Good ratings, moderate volume. Premium positioning strategy — compete on quality and brand, not price.</a:t>
            </a:r>
          </a:p>
        </p:txBody>
      </p:sp>
      <p:sp>
        <p:nvSpPr>
          <p:cNvPr id="27" name="Rectangle 26"/>
          <p:cNvSpPr/>
          <p:nvPr/>
        </p:nvSpPr>
        <p:spPr>
          <a:xfrm>
            <a:off x="9189720" y="1371600"/>
            <a:ext cx="2788920" cy="31089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189720" y="1371600"/>
            <a:ext cx="2788920" cy="54864"/>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26880" y="1508760"/>
            <a:ext cx="2514600" cy="27432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Budget High-Volume</a:t>
            </a:r>
          </a:p>
        </p:txBody>
      </p:sp>
      <p:sp>
        <p:nvSpPr>
          <p:cNvPr id="30" name="TextBox 29"/>
          <p:cNvSpPr txBox="1"/>
          <p:nvPr/>
        </p:nvSpPr>
        <p:spPr>
          <a:xfrm>
            <a:off x="9326880" y="1874519"/>
            <a:ext cx="25146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339 products • 11.6%</a:t>
            </a:r>
          </a:p>
        </p:txBody>
      </p:sp>
      <p:sp>
        <p:nvSpPr>
          <p:cNvPr id="31" name="TextBox 30"/>
          <p:cNvSpPr txBox="1"/>
          <p:nvPr/>
        </p:nvSpPr>
        <p:spPr>
          <a:xfrm>
            <a:off x="9326880" y="2194560"/>
            <a:ext cx="2514600" cy="228600"/>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Price: ¥32  |  Sales: 3,048  |  4.29 ★</a:t>
            </a:r>
          </a:p>
        </p:txBody>
      </p:sp>
      <p:sp>
        <p:nvSpPr>
          <p:cNvPr id="32" name="TextBox 31"/>
          <p:cNvSpPr txBox="1"/>
          <p:nvPr/>
        </p:nvSpPr>
        <p:spPr>
          <a:xfrm>
            <a:off x="9326880" y="2514600"/>
            <a:ext cx="2514600" cy="228600"/>
          </a:xfrm>
          <a:prstGeom prst="rect">
            <a:avLst/>
          </a:prstGeom>
          <a:noFill/>
        </p:spPr>
        <p:txBody>
          <a:bodyPr wrap="square"/>
          <a:lstStyle/>
          <a:p>
            <a:pPr algn="l">
              <a:lnSpc>
                <a:spcPct val="120000"/>
              </a:lnSpc>
              <a:spcBef>
                <a:spcPts val="0"/>
              </a:spcBef>
              <a:spcAft>
                <a:spcPts val="0"/>
              </a:spcAft>
              <a:defRPr sz="1200" b="1">
                <a:solidFill>
                  <a:srgbClr val="C06B5A"/>
                </a:solidFill>
                <a:latin typeface="Calibri"/>
              </a:defRPr>
            </a:pPr>
            <a:r>
              <a:t>Top Category: Vegetables</a:t>
            </a:r>
          </a:p>
        </p:txBody>
      </p:sp>
      <p:sp>
        <p:nvSpPr>
          <p:cNvPr id="33" name="TextBox 32"/>
          <p:cNvSpPr txBox="1"/>
          <p:nvPr/>
        </p:nvSpPr>
        <p:spPr>
          <a:xfrm>
            <a:off x="9326880" y="2834640"/>
            <a:ext cx="2514600" cy="146304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The volume champion — 3,048 avg monthly sales, 4.6× the next segment. Thin margins at ¥32 avg price but massive turnover. Pure volume play strategy.</a:t>
            </a:r>
          </a:p>
        </p:txBody>
      </p:sp>
      <p:sp>
        <p:nvSpPr>
          <p:cNvPr id="34" name="Rectangle 33"/>
          <p:cNvSpPr/>
          <p:nvPr/>
        </p:nvSpPr>
        <p:spPr>
          <a:xfrm>
            <a:off x="274320" y="4709160"/>
            <a:ext cx="2788920" cy="1188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11480" y="4800600"/>
            <a:ext cx="2514600" cy="36576"/>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4937760"/>
            <a:ext cx="2423160" cy="640080"/>
          </a:xfrm>
          <a:prstGeom prst="rect">
            <a:avLst/>
          </a:prstGeom>
          <a:noFill/>
        </p:spPr>
        <p:txBody>
          <a:bodyPr wrap="square"/>
          <a:lstStyle/>
          <a:p>
            <a:pPr algn="ctr">
              <a:lnSpc>
                <a:spcPct val="120000"/>
              </a:lnSpc>
              <a:spcBef>
                <a:spcPts val="0"/>
              </a:spcBef>
              <a:spcAft>
                <a:spcPts val="0"/>
              </a:spcAft>
              <a:defRPr sz="2800" b="1">
                <a:solidFill>
                  <a:srgbClr val="8BA87E"/>
                </a:solidFill>
                <a:latin typeface="Calibri"/>
              </a:defRPr>
            </a:pPr>
            <a:r>
              <a:t>4</a:t>
            </a:r>
          </a:p>
        </p:txBody>
      </p:sp>
      <p:sp>
        <p:nvSpPr>
          <p:cNvPr id="37" name="TextBox 36"/>
          <p:cNvSpPr txBox="1"/>
          <p:nvPr/>
        </p:nvSpPr>
        <p:spPr>
          <a:xfrm>
            <a:off x="457200" y="5577840"/>
            <a:ext cx="242316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Total Clusters</a:t>
            </a:r>
          </a:p>
        </p:txBody>
      </p:sp>
      <p:sp>
        <p:nvSpPr>
          <p:cNvPr id="38" name="Rectangle 37"/>
          <p:cNvSpPr/>
          <p:nvPr/>
        </p:nvSpPr>
        <p:spPr>
          <a:xfrm>
            <a:off x="3246120" y="4709160"/>
            <a:ext cx="2788920" cy="1188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383280" y="4800600"/>
            <a:ext cx="2514600" cy="3657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4937760"/>
            <a:ext cx="2423160" cy="640080"/>
          </a:xfrm>
          <a:prstGeom prst="rect">
            <a:avLst/>
          </a:prstGeom>
          <a:noFill/>
        </p:spPr>
        <p:txBody>
          <a:bodyPr wrap="square"/>
          <a:lstStyle/>
          <a:p>
            <a:pPr algn="ctr">
              <a:lnSpc>
                <a:spcPct val="120000"/>
              </a:lnSpc>
              <a:spcBef>
                <a:spcPts val="0"/>
              </a:spcBef>
              <a:spcAft>
                <a:spcPts val="0"/>
              </a:spcAft>
              <a:defRPr sz="2800" b="1">
                <a:solidFill>
                  <a:srgbClr val="D4A853"/>
                </a:solidFill>
                <a:latin typeface="Calibri"/>
              </a:defRPr>
            </a:pPr>
            <a:r>
              <a:rPr sz="1600" dirty="0"/>
              <a:t>4 (price, sales,</a:t>
            </a:r>
            <a:br>
              <a:rPr sz="1600" dirty="0"/>
            </a:br>
            <a:r>
              <a:rPr sz="1600" dirty="0"/>
              <a:t>reviews, rating)</a:t>
            </a:r>
          </a:p>
        </p:txBody>
      </p:sp>
      <p:sp>
        <p:nvSpPr>
          <p:cNvPr id="41" name="TextBox 40"/>
          <p:cNvSpPr txBox="1"/>
          <p:nvPr/>
        </p:nvSpPr>
        <p:spPr>
          <a:xfrm>
            <a:off x="3429000" y="5577840"/>
            <a:ext cx="242316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Features Used</a:t>
            </a:r>
          </a:p>
        </p:txBody>
      </p:sp>
      <p:sp>
        <p:nvSpPr>
          <p:cNvPr id="42" name="Rectangle 41"/>
          <p:cNvSpPr/>
          <p:nvPr/>
        </p:nvSpPr>
        <p:spPr>
          <a:xfrm>
            <a:off x="6217920" y="4709160"/>
            <a:ext cx="2788920" cy="1188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355080" y="4800600"/>
            <a:ext cx="2514600" cy="36576"/>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0" y="4937760"/>
            <a:ext cx="2423160" cy="640080"/>
          </a:xfrm>
          <a:prstGeom prst="rect">
            <a:avLst/>
          </a:prstGeom>
          <a:noFill/>
        </p:spPr>
        <p:txBody>
          <a:bodyPr wrap="square"/>
          <a:lstStyle/>
          <a:p>
            <a:pPr algn="ctr">
              <a:lnSpc>
                <a:spcPct val="120000"/>
              </a:lnSpc>
              <a:spcBef>
                <a:spcPts val="0"/>
              </a:spcBef>
              <a:spcAft>
                <a:spcPts val="0"/>
              </a:spcAft>
              <a:defRPr sz="2800" b="1">
                <a:solidFill>
                  <a:srgbClr val="6B9B9B"/>
                </a:solidFill>
                <a:latin typeface="Calibri"/>
              </a:defRPr>
            </a:pPr>
            <a:r>
              <a:rPr sz="1600" dirty="0"/>
              <a:t>K-Means</a:t>
            </a:r>
            <a:br>
              <a:rPr sz="1600" dirty="0"/>
            </a:br>
            <a:r>
              <a:rPr sz="1600" dirty="0" err="1"/>
              <a:t>n_init</a:t>
            </a:r>
            <a:r>
              <a:rPr sz="1600" dirty="0"/>
              <a:t>=10</a:t>
            </a:r>
          </a:p>
        </p:txBody>
      </p:sp>
      <p:sp>
        <p:nvSpPr>
          <p:cNvPr id="45" name="TextBox 44"/>
          <p:cNvSpPr txBox="1"/>
          <p:nvPr/>
        </p:nvSpPr>
        <p:spPr>
          <a:xfrm>
            <a:off x="6400800" y="5577840"/>
            <a:ext cx="242316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rPr dirty="0"/>
              <a:t>Method</a:t>
            </a:r>
          </a:p>
        </p:txBody>
      </p:sp>
      <p:sp>
        <p:nvSpPr>
          <p:cNvPr id="46" name="Rectangle 45"/>
          <p:cNvSpPr/>
          <p:nvPr/>
        </p:nvSpPr>
        <p:spPr>
          <a:xfrm>
            <a:off x="9189720" y="4709160"/>
            <a:ext cx="2788920" cy="1188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9326880" y="4800600"/>
            <a:ext cx="2514600" cy="36576"/>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372600" y="4937760"/>
            <a:ext cx="2423160" cy="640080"/>
          </a:xfrm>
          <a:prstGeom prst="rect">
            <a:avLst/>
          </a:prstGeom>
          <a:noFill/>
        </p:spPr>
        <p:txBody>
          <a:bodyPr wrap="square"/>
          <a:lstStyle/>
          <a:p>
            <a:pPr algn="ctr">
              <a:lnSpc>
                <a:spcPct val="120000"/>
              </a:lnSpc>
              <a:spcBef>
                <a:spcPts val="0"/>
              </a:spcBef>
              <a:spcAft>
                <a:spcPts val="0"/>
              </a:spcAft>
              <a:defRPr sz="2800" b="1">
                <a:solidFill>
                  <a:srgbClr val="C06B5A"/>
                </a:solidFill>
                <a:latin typeface="Calibri"/>
              </a:defRPr>
            </a:pPr>
            <a:r>
              <a:rPr sz="1600" dirty="0" err="1"/>
              <a:t>StandardScaler</a:t>
            </a:r>
            <a:br>
              <a:rPr sz="1600" dirty="0"/>
            </a:br>
            <a:r>
              <a:rPr sz="1600" dirty="0"/>
              <a:t>+ </a:t>
            </a:r>
            <a:r>
              <a:rPr sz="1600" dirty="0" err="1"/>
              <a:t>KMeans</a:t>
            </a:r>
            <a:endParaRPr sz="1600" dirty="0"/>
          </a:p>
        </p:txBody>
      </p:sp>
      <p:sp>
        <p:nvSpPr>
          <p:cNvPr id="49" name="TextBox 48"/>
          <p:cNvSpPr txBox="1"/>
          <p:nvPr/>
        </p:nvSpPr>
        <p:spPr>
          <a:xfrm>
            <a:off x="9372600" y="5577840"/>
            <a:ext cx="242316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Algorithm</a:t>
            </a:r>
          </a:p>
        </p:txBody>
      </p:sp>
      <p:pic>
        <p:nvPicPr>
          <p:cNvPr id="50" name="Picture 49" descr="13_cluster_scatter.png"/>
          <p:cNvPicPr>
            <a:picLocks noChangeAspect="1"/>
          </p:cNvPicPr>
          <p:nvPr/>
        </p:nvPicPr>
        <p:blipFill>
          <a:blip r:embed="rId2"/>
          <a:stretch>
            <a:fillRect/>
          </a:stretch>
        </p:blipFill>
        <p:spPr>
          <a:xfrm>
            <a:off x="274320" y="6035040"/>
            <a:ext cx="2926080" cy="9144"/>
          </a:xfrm>
          <a:prstGeom prst="rect">
            <a:avLst/>
          </a:prstGeom>
        </p:spPr>
      </p:pic>
      <p:pic>
        <p:nvPicPr>
          <p:cNvPr id="51" name="Picture 50" descr="14_radar_per_cluster.png"/>
          <p:cNvPicPr>
            <a:picLocks noChangeAspect="1"/>
          </p:cNvPicPr>
          <p:nvPr/>
        </p:nvPicPr>
        <p:blipFill>
          <a:blip r:embed="rId3"/>
          <a:stretch>
            <a:fillRect/>
          </a:stretch>
        </p:blipFill>
        <p:spPr>
          <a:xfrm>
            <a:off x="3383280" y="6035040"/>
            <a:ext cx="2926080" cy="9144"/>
          </a:xfrm>
          <a:prstGeom prst="rect">
            <a:avLst/>
          </a:prstGeom>
        </p:spPr>
      </p:pic>
      <p:pic>
        <p:nvPicPr>
          <p:cNvPr id="52" name="Picture 51" descr="12_elbow.png"/>
          <p:cNvPicPr>
            <a:picLocks noChangeAspect="1"/>
          </p:cNvPicPr>
          <p:nvPr/>
        </p:nvPicPr>
        <p:blipFill>
          <a:blip r:embed="rId4"/>
          <a:stretch>
            <a:fillRect/>
          </a:stretch>
        </p:blipFill>
        <p:spPr>
          <a:xfrm>
            <a:off x="6492240" y="6035040"/>
            <a:ext cx="2926080" cy="9144"/>
          </a:xfrm>
          <a:prstGeom prst="rect">
            <a:avLst/>
          </a:prstGeom>
        </p:spPr>
      </p:pic>
      <p:sp>
        <p:nvSpPr>
          <p:cNvPr id="53" name="TextBox 52"/>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PCA Competitiveness Scoring</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PC1 as composite metric: Sales Volume (+0.677) and Review Count (+0.644) drive competitiveness; Price (−0.320) reduces it</a:t>
            </a:r>
          </a:p>
        </p:txBody>
      </p:sp>
      <p:sp>
        <p:nvSpPr>
          <p:cNvPr id="6" name="TextBox 5"/>
          <p:cNvSpPr txBox="1"/>
          <p:nvPr/>
        </p:nvSpPr>
        <p:spPr>
          <a:xfrm>
            <a:off x="457200" y="137160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PC1 Component Loadings</a:t>
            </a:r>
          </a:p>
        </p:txBody>
      </p:sp>
      <p:sp>
        <p:nvSpPr>
          <p:cNvPr id="7" name="TextBox 6"/>
          <p:cNvSpPr txBox="1"/>
          <p:nvPr/>
        </p:nvSpPr>
        <p:spPr>
          <a:xfrm>
            <a:off x="640080" y="17830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sales_volume</a:t>
            </a:r>
          </a:p>
        </p:txBody>
      </p:sp>
      <p:sp>
        <p:nvSpPr>
          <p:cNvPr id="8" name="TextBox 7"/>
          <p:cNvSpPr txBox="1"/>
          <p:nvPr/>
        </p:nvSpPr>
        <p:spPr>
          <a:xfrm>
            <a:off x="2468880" y="1783080"/>
            <a:ext cx="1097280" cy="256032"/>
          </a:xfrm>
          <a:prstGeom prst="rect">
            <a:avLst/>
          </a:prstGeom>
          <a:noFill/>
        </p:spPr>
        <p:txBody>
          <a:bodyPr wrap="square"/>
          <a:lstStyle/>
          <a:p>
            <a:pPr algn="ctr">
              <a:lnSpc>
                <a:spcPct val="120000"/>
              </a:lnSpc>
              <a:spcBef>
                <a:spcPts val="0"/>
              </a:spcBef>
              <a:spcAft>
                <a:spcPts val="0"/>
              </a:spcAft>
              <a:defRPr sz="1800" b="1">
                <a:solidFill>
                  <a:srgbClr val="8BA87E"/>
                </a:solidFill>
                <a:latin typeface="Calibri"/>
              </a:defRPr>
            </a:pPr>
            <a:r>
              <a:t>+0.677</a:t>
            </a:r>
          </a:p>
        </p:txBody>
      </p:sp>
      <p:sp>
        <p:nvSpPr>
          <p:cNvPr id="9" name="Rectangle 8"/>
          <p:cNvSpPr/>
          <p:nvPr/>
        </p:nvSpPr>
        <p:spPr>
          <a:xfrm>
            <a:off x="3749039" y="1819656"/>
            <a:ext cx="3095244" cy="18288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35723" y="17830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Strongest positive driver — more sales = more competitive</a:t>
            </a:r>
          </a:p>
        </p:txBody>
      </p:sp>
      <p:sp>
        <p:nvSpPr>
          <p:cNvPr id="11" name="TextBox 10"/>
          <p:cNvSpPr txBox="1"/>
          <p:nvPr/>
        </p:nvSpPr>
        <p:spPr>
          <a:xfrm>
            <a:off x="640080" y="22402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review_count</a:t>
            </a:r>
          </a:p>
        </p:txBody>
      </p:sp>
      <p:sp>
        <p:nvSpPr>
          <p:cNvPr id="12" name="TextBox 11"/>
          <p:cNvSpPr txBox="1"/>
          <p:nvPr/>
        </p:nvSpPr>
        <p:spPr>
          <a:xfrm>
            <a:off x="2468880" y="2240280"/>
            <a:ext cx="1097280" cy="256032"/>
          </a:xfrm>
          <a:prstGeom prst="rect">
            <a:avLst/>
          </a:prstGeom>
          <a:noFill/>
        </p:spPr>
        <p:txBody>
          <a:bodyPr wrap="square"/>
          <a:lstStyle/>
          <a:p>
            <a:pPr algn="ctr">
              <a:lnSpc>
                <a:spcPct val="120000"/>
              </a:lnSpc>
              <a:spcBef>
                <a:spcPts val="0"/>
              </a:spcBef>
              <a:spcAft>
                <a:spcPts val="0"/>
              </a:spcAft>
              <a:defRPr sz="1800" b="1">
                <a:solidFill>
                  <a:srgbClr val="8BA87E"/>
                </a:solidFill>
                <a:latin typeface="Calibri"/>
              </a:defRPr>
            </a:pPr>
            <a:r>
              <a:t>+0.644</a:t>
            </a:r>
          </a:p>
        </p:txBody>
      </p:sp>
      <p:sp>
        <p:nvSpPr>
          <p:cNvPr id="13" name="Rectangle 12"/>
          <p:cNvSpPr/>
          <p:nvPr/>
        </p:nvSpPr>
        <p:spPr>
          <a:xfrm>
            <a:off x="3749039" y="2276856"/>
            <a:ext cx="2944368" cy="18288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84847" y="22402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Social proof — reviews signal popularity and trust</a:t>
            </a:r>
          </a:p>
        </p:txBody>
      </p:sp>
      <p:sp>
        <p:nvSpPr>
          <p:cNvPr id="15" name="TextBox 14"/>
          <p:cNvSpPr txBox="1"/>
          <p:nvPr/>
        </p:nvSpPr>
        <p:spPr>
          <a:xfrm>
            <a:off x="640080" y="26974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price</a:t>
            </a:r>
          </a:p>
        </p:txBody>
      </p:sp>
      <p:sp>
        <p:nvSpPr>
          <p:cNvPr id="16" name="TextBox 15"/>
          <p:cNvSpPr txBox="1"/>
          <p:nvPr/>
        </p:nvSpPr>
        <p:spPr>
          <a:xfrm>
            <a:off x="2468880" y="2697480"/>
            <a:ext cx="1097280" cy="256032"/>
          </a:xfrm>
          <a:prstGeom prst="rect">
            <a:avLst/>
          </a:prstGeom>
          <a:noFill/>
        </p:spPr>
        <p:txBody>
          <a:bodyPr wrap="square"/>
          <a:lstStyle/>
          <a:p>
            <a:pPr algn="ctr">
              <a:lnSpc>
                <a:spcPct val="120000"/>
              </a:lnSpc>
              <a:spcBef>
                <a:spcPts val="0"/>
              </a:spcBef>
              <a:spcAft>
                <a:spcPts val="0"/>
              </a:spcAft>
              <a:defRPr sz="1800" b="1">
                <a:solidFill>
                  <a:srgbClr val="C06B5A"/>
                </a:solidFill>
                <a:latin typeface="Calibri"/>
              </a:defRPr>
            </a:pPr>
            <a:r>
              <a:t>−0.320</a:t>
            </a:r>
          </a:p>
        </p:txBody>
      </p:sp>
      <p:sp>
        <p:nvSpPr>
          <p:cNvPr id="17" name="Rectangle 16"/>
          <p:cNvSpPr/>
          <p:nvPr/>
        </p:nvSpPr>
        <p:spPr>
          <a:xfrm>
            <a:off x="3749039" y="2734056"/>
            <a:ext cx="1463040" cy="18288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19" y="26974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Negative driver — lower prices increase competitiveness</a:t>
            </a:r>
          </a:p>
        </p:txBody>
      </p:sp>
      <p:sp>
        <p:nvSpPr>
          <p:cNvPr id="19" name="TextBox 18"/>
          <p:cNvSpPr txBox="1"/>
          <p:nvPr/>
        </p:nvSpPr>
        <p:spPr>
          <a:xfrm>
            <a:off x="640080" y="31546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rating</a:t>
            </a:r>
          </a:p>
        </p:txBody>
      </p:sp>
      <p:sp>
        <p:nvSpPr>
          <p:cNvPr id="20" name="TextBox 19"/>
          <p:cNvSpPr txBox="1"/>
          <p:nvPr/>
        </p:nvSpPr>
        <p:spPr>
          <a:xfrm>
            <a:off x="2468880" y="3154680"/>
            <a:ext cx="1097280" cy="256032"/>
          </a:xfrm>
          <a:prstGeom prst="rect">
            <a:avLst/>
          </a:prstGeom>
          <a:noFill/>
        </p:spPr>
        <p:txBody>
          <a:bodyPr wrap="square"/>
          <a:lstStyle/>
          <a:p>
            <a:pPr algn="ctr">
              <a:lnSpc>
                <a:spcPct val="120000"/>
              </a:lnSpc>
              <a:spcBef>
                <a:spcPts val="0"/>
              </a:spcBef>
              <a:spcAft>
                <a:spcPts val="0"/>
              </a:spcAft>
              <a:defRPr sz="1800" b="1">
                <a:solidFill>
                  <a:srgbClr val="6B9B9B"/>
                </a:solidFill>
                <a:latin typeface="Calibri"/>
              </a:defRPr>
            </a:pPr>
            <a:r>
              <a:t>−0.152</a:t>
            </a:r>
          </a:p>
        </p:txBody>
      </p:sp>
      <p:sp>
        <p:nvSpPr>
          <p:cNvPr id="21" name="Rectangle 20"/>
          <p:cNvSpPr/>
          <p:nvPr/>
        </p:nvSpPr>
        <p:spPr>
          <a:xfrm>
            <a:off x="3749039" y="3191256"/>
            <a:ext cx="694944" cy="18288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35423" y="31546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Weak negative — rating alone does not drive competitiveness</a:t>
            </a:r>
          </a:p>
        </p:txBody>
      </p:sp>
      <p:sp>
        <p:nvSpPr>
          <p:cNvPr id="23" name="TextBox 22"/>
          <p:cNvSpPr txBox="1"/>
          <p:nvPr/>
        </p:nvSpPr>
        <p:spPr>
          <a:xfrm>
            <a:off x="640080" y="36118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is_promoted</a:t>
            </a:r>
          </a:p>
        </p:txBody>
      </p:sp>
      <p:sp>
        <p:nvSpPr>
          <p:cNvPr id="24" name="TextBox 23"/>
          <p:cNvSpPr txBox="1"/>
          <p:nvPr/>
        </p:nvSpPr>
        <p:spPr>
          <a:xfrm>
            <a:off x="2468880" y="3611880"/>
            <a:ext cx="1097280" cy="256032"/>
          </a:xfrm>
          <a:prstGeom prst="rect">
            <a:avLst/>
          </a:prstGeom>
          <a:noFill/>
        </p:spPr>
        <p:txBody>
          <a:bodyPr wrap="square"/>
          <a:lstStyle/>
          <a:p>
            <a:pPr algn="ctr">
              <a:lnSpc>
                <a:spcPct val="120000"/>
              </a:lnSpc>
              <a:spcBef>
                <a:spcPts val="0"/>
              </a:spcBef>
              <a:spcAft>
                <a:spcPts val="0"/>
              </a:spcAft>
              <a:defRPr sz="1800" b="1">
                <a:solidFill>
                  <a:srgbClr val="A08E74"/>
                </a:solidFill>
                <a:latin typeface="Calibri"/>
              </a:defRPr>
            </a:pPr>
            <a:r>
              <a:t>−0.026</a:t>
            </a:r>
          </a:p>
        </p:txBody>
      </p:sp>
      <p:sp>
        <p:nvSpPr>
          <p:cNvPr id="25" name="Rectangle 24"/>
          <p:cNvSpPr/>
          <p:nvPr/>
        </p:nvSpPr>
        <p:spPr>
          <a:xfrm>
            <a:off x="3749039" y="3648456"/>
            <a:ext cx="118872" cy="182880"/>
          </a:xfrm>
          <a:prstGeom prst="rect">
            <a:avLst/>
          </a:prstGeom>
          <a:solidFill>
            <a:srgbClr val="A08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59351" y="36118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Negligible — promotions do not affect competitiveness score</a:t>
            </a:r>
          </a:p>
        </p:txBody>
      </p:sp>
      <p:sp>
        <p:nvSpPr>
          <p:cNvPr id="27" name="Rectangle 26"/>
          <p:cNvSpPr/>
          <p:nvPr/>
        </p:nvSpPr>
        <p:spPr>
          <a:xfrm>
            <a:off x="365760" y="4297680"/>
            <a:ext cx="548640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4389120"/>
            <a:ext cx="512064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PCA Summary Statistics</a:t>
            </a:r>
          </a:p>
        </p:txBody>
      </p:sp>
      <p:sp>
        <p:nvSpPr>
          <p:cNvPr id="29" name="TextBox 28"/>
          <p:cNvSpPr txBox="1"/>
          <p:nvPr/>
        </p:nvSpPr>
        <p:spPr>
          <a:xfrm>
            <a:off x="548640" y="4700016"/>
            <a:ext cx="5120640" cy="16459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rPr sz="1200" dirty="0"/>
              <a:t>• PC1 explains 36.7% of total variance</a:t>
            </a:r>
            <a:br>
              <a:rPr sz="1200" dirty="0"/>
            </a:br>
            <a:r>
              <a:rPr sz="1200" dirty="0"/>
              <a:t>• PC1 + PC2 capture 57.2% cumulative variance</a:t>
            </a:r>
            <a:br>
              <a:rPr sz="1200" dirty="0"/>
            </a:br>
            <a:r>
              <a:rPr sz="1200" dirty="0"/>
              <a:t>• 4 principal components → 94.8% total variance</a:t>
            </a:r>
            <a:br>
              <a:rPr sz="1200" dirty="0"/>
            </a:br>
            <a:r>
              <a:rPr sz="1200" dirty="0"/>
              <a:t>• PC1 correlates at r = 0.92 with </a:t>
            </a:r>
            <a:r>
              <a:rPr sz="1200" dirty="0" err="1"/>
              <a:t>sales_volume</a:t>
            </a:r>
            <a:r>
              <a:rPr sz="1200" dirty="0"/>
              <a:t> alone</a:t>
            </a:r>
            <a:br>
              <a:rPr sz="1200" dirty="0"/>
            </a:br>
            <a:r>
              <a:rPr sz="1200" dirty="0"/>
              <a:t>• Score normalized to 0–100 scale for the leaderboard</a:t>
            </a:r>
            <a:br>
              <a:rPr sz="1200" dirty="0"/>
            </a:br>
            <a:r>
              <a:rPr sz="1200" dirty="0"/>
              <a:t>• Higher score = high sales + many reviews + competitive price</a:t>
            </a:r>
            <a:br>
              <a:rPr sz="1200" dirty="0"/>
            </a:br>
            <a:r>
              <a:rPr sz="1200" dirty="0"/>
              <a:t>• Used to rank products on the dashboard's Top 20 leaderboard</a:t>
            </a:r>
            <a:br>
              <a:rPr sz="1200" dirty="0"/>
            </a:br>
            <a:r>
              <a:rPr sz="1200" dirty="0"/>
              <a:t>Formula: Competitiveness = f(Sales↑, Reviews↑, Price↓)</a:t>
            </a:r>
          </a:p>
        </p:txBody>
      </p:sp>
      <p:pic>
        <p:nvPicPr>
          <p:cNvPr id="34" name="Picture 33" descr="15_pca_scree.png"/>
          <p:cNvPicPr>
            <a:picLocks noChangeAspect="1"/>
          </p:cNvPicPr>
          <p:nvPr/>
        </p:nvPicPr>
        <p:blipFill>
          <a:blip r:embed="rId2"/>
          <a:stretch>
            <a:fillRect/>
          </a:stretch>
        </p:blipFill>
        <p:spPr>
          <a:xfrm>
            <a:off x="9221723" y="4023360"/>
            <a:ext cx="2743200" cy="2560320"/>
          </a:xfrm>
          <a:prstGeom prst="rect">
            <a:avLst/>
          </a:prstGeom>
        </p:spPr>
      </p:pic>
      <p:pic>
        <p:nvPicPr>
          <p:cNvPr id="35" name="Picture 34" descr="16_competitiveness_top20.png"/>
          <p:cNvPicPr>
            <a:picLocks noChangeAspect="1"/>
          </p:cNvPicPr>
          <p:nvPr/>
        </p:nvPicPr>
        <p:blipFill>
          <a:blip r:embed="rId3"/>
          <a:stretch>
            <a:fillRect/>
          </a:stretch>
        </p:blipFill>
        <p:spPr>
          <a:xfrm>
            <a:off x="6364223" y="4023360"/>
            <a:ext cx="2743200" cy="2560320"/>
          </a:xfrm>
          <a:prstGeom prst="rect">
            <a:avLst/>
          </a:prstGeom>
        </p:spPr>
      </p:pic>
      <p:sp>
        <p:nvSpPr>
          <p:cNvPr id="36" name="TextBox 3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System Architecture — 3-Tier Design</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Data Layer → Business Logic → Presentation. Each tier independent, testable, and modular.</a:t>
            </a:r>
          </a:p>
        </p:txBody>
      </p:sp>
      <p:sp>
        <p:nvSpPr>
          <p:cNvPr id="6" name="Rectangle 5"/>
          <p:cNvSpPr/>
          <p:nvPr/>
        </p:nvSpPr>
        <p:spPr>
          <a:xfrm>
            <a:off x="274320" y="1371600"/>
            <a:ext cx="3657600" cy="2468880"/>
          </a:xfrm>
          <a:prstGeom prst="rect">
            <a:avLst/>
          </a:prstGeom>
          <a:solidFill>
            <a:srgbClr val="FEFBF5"/>
          </a:solidFill>
          <a:ln w="19050">
            <a:solidFill>
              <a:srgbClr val="8BA8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71600"/>
            <a:ext cx="3657600" cy="54864"/>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08760"/>
            <a:ext cx="3291840" cy="320040"/>
          </a:xfrm>
          <a:prstGeom prst="rect">
            <a:avLst/>
          </a:prstGeom>
          <a:noFill/>
        </p:spPr>
        <p:txBody>
          <a:bodyPr wrap="square"/>
          <a:lstStyle/>
          <a:p>
            <a:pPr algn="l">
              <a:lnSpc>
                <a:spcPct val="120000"/>
              </a:lnSpc>
              <a:spcBef>
                <a:spcPts val="0"/>
              </a:spcBef>
              <a:spcAft>
                <a:spcPts val="0"/>
              </a:spcAft>
              <a:defRPr sz="1700" b="1">
                <a:solidFill>
                  <a:srgbClr val="8BA87E"/>
                </a:solidFill>
                <a:latin typeface="Calibri"/>
              </a:defRPr>
            </a:pPr>
            <a:r>
              <a:t>🗄️  Data Layer</a:t>
            </a:r>
          </a:p>
        </p:txBody>
      </p:sp>
      <p:sp>
        <p:nvSpPr>
          <p:cNvPr id="9" name="TextBox 8"/>
          <p:cNvSpPr txBox="1"/>
          <p:nvPr/>
        </p:nvSpPr>
        <p:spPr>
          <a:xfrm>
            <a:off x="457200" y="1920240"/>
            <a:ext cx="3291840" cy="17373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SQLite Database</a:t>
            </a:r>
            <a:br/>
            <a:r>
              <a:t>18-column products table</a:t>
            </a:r>
            <a:br/>
            <a:r>
              <a:t>2,921 records</a:t>
            </a:r>
            <a:br/>
            <a:r>
              <a:t>CSV intermediate files</a:t>
            </a:r>
            <a:br/>
            <a:r>
              <a:t>Zero-config, portable</a:t>
            </a:r>
            <a:br/>
            <a:r>
              <a:t>WAL mode for concurrency</a:t>
            </a:r>
          </a:p>
        </p:txBody>
      </p:sp>
      <p:sp>
        <p:nvSpPr>
          <p:cNvPr id="10" name="Rectangle 9"/>
          <p:cNvSpPr/>
          <p:nvPr/>
        </p:nvSpPr>
        <p:spPr>
          <a:xfrm>
            <a:off x="4206240" y="1371600"/>
            <a:ext cx="3657600" cy="2468880"/>
          </a:xfrm>
          <a:prstGeom prst="rect">
            <a:avLst/>
          </a:prstGeom>
          <a:solidFill>
            <a:srgbClr val="FEFBF5"/>
          </a:solidFill>
          <a:ln w="1905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06240" y="1371600"/>
            <a:ext cx="3657600" cy="54864"/>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1508760"/>
            <a:ext cx="3291840" cy="320040"/>
          </a:xfrm>
          <a:prstGeom prst="rect">
            <a:avLst/>
          </a:prstGeom>
          <a:noFill/>
        </p:spPr>
        <p:txBody>
          <a:bodyPr wrap="square"/>
          <a:lstStyle/>
          <a:p>
            <a:pPr algn="l">
              <a:lnSpc>
                <a:spcPct val="120000"/>
              </a:lnSpc>
              <a:spcBef>
                <a:spcPts val="0"/>
              </a:spcBef>
              <a:spcAft>
                <a:spcPts val="0"/>
              </a:spcAft>
              <a:defRPr sz="1700" b="1">
                <a:solidFill>
                  <a:srgbClr val="D4A853"/>
                </a:solidFill>
                <a:latin typeface="Calibri"/>
              </a:defRPr>
            </a:pPr>
            <a:r>
              <a:t>⚙️  Business Logic Layer</a:t>
            </a:r>
          </a:p>
        </p:txBody>
      </p:sp>
      <p:sp>
        <p:nvSpPr>
          <p:cNvPr id="13" name="TextBox 12"/>
          <p:cNvSpPr txBox="1"/>
          <p:nvPr/>
        </p:nvSpPr>
        <p:spPr>
          <a:xfrm>
            <a:off x="4389120" y="1920240"/>
            <a:ext cx="3291840" cy="17373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FastAPI (Python 3.13+)</a:t>
            </a:r>
            <a:br/>
            <a:r>
              <a:t>11 RESTful API endpoints</a:t>
            </a:r>
            <a:br/>
            <a:r>
              <a:t>4 route modules</a:t>
            </a:r>
            <a:br/>
            <a:r>
              <a:t>RF model &amp; encoder (.pkl)</a:t>
            </a:r>
            <a:br/>
            <a:r>
              <a:t>CORS middleware</a:t>
            </a:r>
            <a:br/>
            <a:r>
              <a:t>SQLite query helpers</a:t>
            </a:r>
          </a:p>
        </p:txBody>
      </p:sp>
      <p:sp>
        <p:nvSpPr>
          <p:cNvPr id="14" name="Rectangle 13"/>
          <p:cNvSpPr/>
          <p:nvPr/>
        </p:nvSpPr>
        <p:spPr>
          <a:xfrm>
            <a:off x="8138160" y="1371600"/>
            <a:ext cx="3657600" cy="2468880"/>
          </a:xfrm>
          <a:prstGeom prst="rect">
            <a:avLst/>
          </a:prstGeom>
          <a:solidFill>
            <a:srgbClr val="FEFBF5"/>
          </a:solidFill>
          <a:ln w="19050">
            <a:solidFill>
              <a:srgbClr val="6B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371600"/>
            <a:ext cx="3657600" cy="54864"/>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508760"/>
            <a:ext cx="3291840" cy="320040"/>
          </a:xfrm>
          <a:prstGeom prst="rect">
            <a:avLst/>
          </a:prstGeom>
          <a:noFill/>
        </p:spPr>
        <p:txBody>
          <a:bodyPr wrap="square"/>
          <a:lstStyle/>
          <a:p>
            <a:pPr algn="l">
              <a:lnSpc>
                <a:spcPct val="120000"/>
              </a:lnSpc>
              <a:spcBef>
                <a:spcPts val="0"/>
              </a:spcBef>
              <a:spcAft>
                <a:spcPts val="0"/>
              </a:spcAft>
              <a:defRPr sz="1700" b="1">
                <a:solidFill>
                  <a:srgbClr val="6B9B9B"/>
                </a:solidFill>
                <a:latin typeface="Calibri"/>
              </a:defRPr>
            </a:pPr>
            <a:r>
              <a:t>🖥️  Presentation Layer</a:t>
            </a:r>
          </a:p>
        </p:txBody>
      </p:sp>
      <p:sp>
        <p:nvSpPr>
          <p:cNvPr id="17" name="TextBox 16"/>
          <p:cNvSpPr txBox="1"/>
          <p:nvPr/>
        </p:nvSpPr>
        <p:spPr>
          <a:xfrm>
            <a:off x="8321040" y="1920240"/>
            <a:ext cx="3291840" cy="17373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Vue 3 (Composition API)</a:t>
            </a:r>
            <a:br/>
            <a:r>
              <a:t>ECharts 5 (16 charts)</a:t>
            </a:r>
            <a:br/>
            <a:r>
              <a:t>Tailwind CSS (responsive)</a:t>
            </a:r>
            <a:br/>
            <a:r>
              <a:t>12 standalone HTML pages</a:t>
            </a:r>
            <a:br/>
            <a:r>
              <a:t>Bilingual ZH/EN toggle</a:t>
            </a:r>
            <a:br/>
            <a:r>
              <a:t>CDN-based, zero build step</a:t>
            </a:r>
          </a:p>
        </p:txBody>
      </p:sp>
      <p:sp>
        <p:nvSpPr>
          <p:cNvPr id="18" name="Right Arrow 17"/>
          <p:cNvSpPr/>
          <p:nvPr/>
        </p:nvSpPr>
        <p:spPr>
          <a:xfrm>
            <a:off x="3931920" y="2468880"/>
            <a:ext cx="274320" cy="228600"/>
          </a:xfrm>
          <a:prstGeom prst="rightArrow">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7863840" y="2468880"/>
            <a:ext cx="274320" cy="228600"/>
          </a:xfrm>
          <a:prstGeom prst="rightArrow">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411480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Technology Stack</a:t>
            </a:r>
          </a:p>
        </p:txBody>
      </p:sp>
      <p:sp>
        <p:nvSpPr>
          <p:cNvPr id="21" name="TextBox 20"/>
          <p:cNvSpPr txBox="1"/>
          <p:nvPr/>
        </p:nvSpPr>
        <p:spPr>
          <a:xfrm>
            <a:off x="457200" y="452628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Web Scraping</a:t>
            </a:r>
          </a:p>
        </p:txBody>
      </p:sp>
      <p:sp>
        <p:nvSpPr>
          <p:cNvPr id="22" name="TextBox 21"/>
          <p:cNvSpPr txBox="1"/>
          <p:nvPr/>
        </p:nvSpPr>
        <p:spPr>
          <a:xfrm>
            <a:off x="2743199" y="4526280"/>
            <a:ext cx="6253655"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Python requests + BeautifulSoup4 — 55-keyword multi-c</a:t>
            </a:r>
            <a:r>
              <a:rPr lang="en-US" dirty="0"/>
              <a:t>ategory</a:t>
            </a:r>
            <a:r>
              <a:rPr lang="en-CN" dirty="0"/>
              <a:t> </a:t>
            </a:r>
            <a:r>
              <a:rPr lang="en-US" dirty="0"/>
              <a:t>strategy</a:t>
            </a:r>
            <a:endParaRPr dirty="0"/>
          </a:p>
        </p:txBody>
      </p:sp>
      <p:sp>
        <p:nvSpPr>
          <p:cNvPr id="23" name="TextBox 22"/>
          <p:cNvSpPr txBox="1"/>
          <p:nvPr/>
        </p:nvSpPr>
        <p:spPr>
          <a:xfrm>
            <a:off x="457200" y="484632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Data Processing</a:t>
            </a:r>
          </a:p>
        </p:txBody>
      </p:sp>
      <p:sp>
        <p:nvSpPr>
          <p:cNvPr id="24" name="TextBox 23"/>
          <p:cNvSpPr txBox="1"/>
          <p:nvPr/>
        </p:nvSpPr>
        <p:spPr>
          <a:xfrm>
            <a:off x="2743200" y="4846320"/>
            <a:ext cx="886968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lang="en-US" dirty="0"/>
              <a:t>pandas + </a:t>
            </a:r>
            <a:r>
              <a:rPr lang="en-US" dirty="0" err="1"/>
              <a:t>numpy</a:t>
            </a:r>
            <a:r>
              <a:rPr lang="en-US" dirty="0"/>
              <a:t> — 9-step cleaning pipeline, feature engineering</a:t>
            </a:r>
          </a:p>
        </p:txBody>
      </p:sp>
      <p:sp>
        <p:nvSpPr>
          <p:cNvPr id="25" name="TextBox 24"/>
          <p:cNvSpPr txBox="1"/>
          <p:nvPr/>
        </p:nvSpPr>
        <p:spPr>
          <a:xfrm>
            <a:off x="457200" y="516636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Statistical Analysis</a:t>
            </a:r>
          </a:p>
        </p:txBody>
      </p:sp>
      <p:sp>
        <p:nvSpPr>
          <p:cNvPr id="26" name="TextBox 25"/>
          <p:cNvSpPr txBox="1"/>
          <p:nvPr/>
        </p:nvSpPr>
        <p:spPr>
          <a:xfrm>
            <a:off x="2743200" y="5166360"/>
            <a:ext cx="5843752"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err="1"/>
              <a:t>scipy</a:t>
            </a:r>
            <a:r>
              <a:rPr dirty="0"/>
              <a:t> + </a:t>
            </a:r>
            <a:r>
              <a:rPr dirty="0" err="1"/>
              <a:t>statsmodels</a:t>
            </a:r>
            <a:r>
              <a:rPr dirty="0"/>
              <a:t> — OLS, Pearson correlation, p-value analysis</a:t>
            </a:r>
          </a:p>
        </p:txBody>
      </p:sp>
      <p:sp>
        <p:nvSpPr>
          <p:cNvPr id="27" name="TextBox 26"/>
          <p:cNvSpPr txBox="1"/>
          <p:nvPr/>
        </p:nvSpPr>
        <p:spPr>
          <a:xfrm>
            <a:off x="457200" y="548640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Machine Learning</a:t>
            </a:r>
          </a:p>
        </p:txBody>
      </p:sp>
      <p:sp>
        <p:nvSpPr>
          <p:cNvPr id="28" name="TextBox 27"/>
          <p:cNvSpPr txBox="1"/>
          <p:nvPr/>
        </p:nvSpPr>
        <p:spPr>
          <a:xfrm>
            <a:off x="2743199" y="5486400"/>
            <a:ext cx="5843751"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scikit-learn — </a:t>
            </a:r>
            <a:r>
              <a:rPr dirty="0" err="1"/>
              <a:t>RandomForest</a:t>
            </a:r>
            <a:r>
              <a:rPr dirty="0"/>
              <a:t>, K-Means, PCA, </a:t>
            </a:r>
            <a:r>
              <a:rPr dirty="0" err="1"/>
              <a:t>StandardScaler</a:t>
            </a:r>
            <a:endParaRPr dirty="0"/>
          </a:p>
        </p:txBody>
      </p:sp>
      <p:sp>
        <p:nvSpPr>
          <p:cNvPr id="29" name="TextBox 28"/>
          <p:cNvSpPr txBox="1"/>
          <p:nvPr/>
        </p:nvSpPr>
        <p:spPr>
          <a:xfrm>
            <a:off x="457200" y="580644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rPr dirty="0"/>
              <a:t>Backend API</a:t>
            </a:r>
          </a:p>
        </p:txBody>
      </p:sp>
      <p:sp>
        <p:nvSpPr>
          <p:cNvPr id="30" name="TextBox 29"/>
          <p:cNvSpPr txBox="1"/>
          <p:nvPr/>
        </p:nvSpPr>
        <p:spPr>
          <a:xfrm>
            <a:off x="2743200" y="5806440"/>
            <a:ext cx="584375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err="1"/>
              <a:t>FastAPI</a:t>
            </a:r>
            <a:r>
              <a:rPr dirty="0"/>
              <a:t> + </a:t>
            </a:r>
            <a:r>
              <a:rPr dirty="0" err="1"/>
              <a:t>uvicorn</a:t>
            </a:r>
            <a:r>
              <a:rPr dirty="0"/>
              <a:t> + SQLite3 — 11 REST endpoints, model serving</a:t>
            </a:r>
          </a:p>
        </p:txBody>
      </p:sp>
      <p:sp>
        <p:nvSpPr>
          <p:cNvPr id="31" name="TextBox 30"/>
          <p:cNvSpPr txBox="1"/>
          <p:nvPr/>
        </p:nvSpPr>
        <p:spPr>
          <a:xfrm>
            <a:off x="457200" y="612648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rPr dirty="0"/>
              <a:t>Frontend</a:t>
            </a:r>
          </a:p>
        </p:txBody>
      </p:sp>
      <p:sp>
        <p:nvSpPr>
          <p:cNvPr id="32" name="TextBox 31"/>
          <p:cNvSpPr txBox="1"/>
          <p:nvPr/>
        </p:nvSpPr>
        <p:spPr>
          <a:xfrm>
            <a:off x="2743200" y="6126480"/>
            <a:ext cx="584375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Vue 3 + </a:t>
            </a:r>
            <a:r>
              <a:rPr dirty="0" err="1"/>
              <a:t>ECharts</a:t>
            </a:r>
            <a:r>
              <a:rPr dirty="0"/>
              <a:t> 5 + Tailwind CSS — all CDN, no Node.js required</a:t>
            </a:r>
          </a:p>
        </p:txBody>
      </p:sp>
      <p:sp>
        <p:nvSpPr>
          <p:cNvPr id="33" name="TextBox 32"/>
          <p:cNvSpPr txBox="1"/>
          <p:nvPr/>
        </p:nvSpPr>
        <p:spPr>
          <a:xfrm>
            <a:off x="457200" y="644652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rPr dirty="0"/>
              <a:t>DevOps</a:t>
            </a:r>
          </a:p>
        </p:txBody>
      </p:sp>
      <p:sp>
        <p:nvSpPr>
          <p:cNvPr id="34" name="TextBox 33"/>
          <p:cNvSpPr txBox="1"/>
          <p:nvPr/>
        </p:nvSpPr>
        <p:spPr>
          <a:xfrm>
            <a:off x="2743200" y="6446520"/>
            <a:ext cx="6159062"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Python 3.13+, </a:t>
            </a:r>
            <a:r>
              <a:rPr dirty="0" err="1"/>
              <a:t>venv</a:t>
            </a:r>
            <a:r>
              <a:rPr dirty="0"/>
              <a:t>, git, .env config, SQLite zero-config deployment</a:t>
            </a:r>
          </a:p>
        </p:txBody>
      </p:sp>
      <p:sp>
        <p:nvSpPr>
          <p:cNvPr id="39" name="TextBox 38"/>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Backend API — 11 RESTful Endpoints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All endpoints tested and verified — average response time under 100ms (SQLite, local)</a:t>
            </a:r>
          </a:p>
        </p:txBody>
      </p:sp>
      <p:sp>
        <p:nvSpPr>
          <p:cNvPr id="6" name="Rectangle 5"/>
          <p:cNvSpPr/>
          <p:nvPr/>
        </p:nvSpPr>
        <p:spPr>
          <a:xfrm>
            <a:off x="274320" y="1371600"/>
            <a:ext cx="11612880" cy="34747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408176"/>
            <a:ext cx="640080" cy="274320"/>
          </a:xfrm>
          <a:prstGeom prst="rect">
            <a:avLst/>
          </a:prstGeom>
          <a:noFill/>
        </p:spPr>
        <p:txBody>
          <a:bodyPr wrap="square"/>
          <a:lstStyle/>
          <a:p>
            <a:pPr algn="l">
              <a:lnSpc>
                <a:spcPct val="120000"/>
              </a:lnSpc>
              <a:spcBef>
                <a:spcPts val="0"/>
              </a:spcBef>
              <a:spcAft>
                <a:spcPts val="0"/>
              </a:spcAft>
              <a:defRPr sz="1200" b="1">
                <a:solidFill>
                  <a:srgbClr val="FFFFFF"/>
                </a:solidFill>
                <a:latin typeface="Calibri"/>
              </a:defRPr>
            </a:pPr>
            <a:r>
              <a:t>Method</a:t>
            </a:r>
          </a:p>
        </p:txBody>
      </p:sp>
      <p:sp>
        <p:nvSpPr>
          <p:cNvPr id="8" name="TextBox 7"/>
          <p:cNvSpPr txBox="1"/>
          <p:nvPr/>
        </p:nvSpPr>
        <p:spPr>
          <a:xfrm>
            <a:off x="1051560" y="1408176"/>
            <a:ext cx="3657600" cy="274320"/>
          </a:xfrm>
          <a:prstGeom prst="rect">
            <a:avLst/>
          </a:prstGeom>
          <a:noFill/>
        </p:spPr>
        <p:txBody>
          <a:bodyPr wrap="square"/>
          <a:lstStyle/>
          <a:p>
            <a:pPr algn="l">
              <a:lnSpc>
                <a:spcPct val="120000"/>
              </a:lnSpc>
              <a:spcBef>
                <a:spcPts val="0"/>
              </a:spcBef>
              <a:spcAft>
                <a:spcPts val="0"/>
              </a:spcAft>
              <a:defRPr sz="1200" b="1">
                <a:solidFill>
                  <a:srgbClr val="FFFFFF"/>
                </a:solidFill>
                <a:latin typeface="Calibri"/>
              </a:defRPr>
            </a:pPr>
            <a:r>
              <a:t>Endpoint</a:t>
            </a:r>
          </a:p>
        </p:txBody>
      </p:sp>
      <p:sp>
        <p:nvSpPr>
          <p:cNvPr id="9" name="TextBox 8"/>
          <p:cNvSpPr txBox="1"/>
          <p:nvPr/>
        </p:nvSpPr>
        <p:spPr>
          <a:xfrm>
            <a:off x="4754880" y="1408176"/>
            <a:ext cx="6858000" cy="274320"/>
          </a:xfrm>
          <a:prstGeom prst="rect">
            <a:avLst/>
          </a:prstGeom>
          <a:noFill/>
        </p:spPr>
        <p:txBody>
          <a:bodyPr wrap="square"/>
          <a:lstStyle/>
          <a:p>
            <a:pPr algn="l">
              <a:lnSpc>
                <a:spcPct val="120000"/>
              </a:lnSpc>
              <a:spcBef>
                <a:spcPts val="0"/>
              </a:spcBef>
              <a:spcAft>
                <a:spcPts val="0"/>
              </a:spcAft>
              <a:defRPr sz="1200" b="1">
                <a:solidFill>
                  <a:srgbClr val="FFFFFF"/>
                </a:solidFill>
                <a:latin typeface="Calibri"/>
              </a:defRPr>
            </a:pPr>
            <a:r>
              <a:t>Description</a:t>
            </a:r>
          </a:p>
        </p:txBody>
      </p:sp>
      <p:sp>
        <p:nvSpPr>
          <p:cNvPr id="10" name="Rectangle 9"/>
          <p:cNvSpPr/>
          <p:nvPr/>
        </p:nvSpPr>
        <p:spPr>
          <a:xfrm>
            <a:off x="274320" y="1719072"/>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755648"/>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12" name="TextBox 11"/>
          <p:cNvSpPr txBox="1"/>
          <p:nvPr/>
        </p:nvSpPr>
        <p:spPr>
          <a:xfrm>
            <a:off x="1051560" y="1755648"/>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/api/overview</a:t>
            </a:r>
          </a:p>
        </p:txBody>
      </p:sp>
      <p:sp>
        <p:nvSpPr>
          <p:cNvPr id="13" name="TextBox 12"/>
          <p:cNvSpPr txBox="1"/>
          <p:nvPr/>
        </p:nvSpPr>
        <p:spPr>
          <a:xfrm>
            <a:off x="4754880" y="1755648"/>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KPI summary: total products, avg price, avg sales, rating, promo rate</a:t>
            </a:r>
          </a:p>
        </p:txBody>
      </p:sp>
      <p:sp>
        <p:nvSpPr>
          <p:cNvPr id="14" name="Rectangle 13"/>
          <p:cNvSpPr/>
          <p:nvPr/>
        </p:nvSpPr>
        <p:spPr>
          <a:xfrm>
            <a:off x="274320" y="2075688"/>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2112264"/>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16" name="TextBox 15"/>
          <p:cNvSpPr txBox="1"/>
          <p:nvPr/>
        </p:nvSpPr>
        <p:spPr>
          <a:xfrm>
            <a:off x="1051560" y="2112264"/>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/api/products</a:t>
            </a:r>
          </a:p>
        </p:txBody>
      </p:sp>
      <p:sp>
        <p:nvSpPr>
          <p:cNvPr id="17" name="TextBox 16"/>
          <p:cNvSpPr txBox="1"/>
          <p:nvPr/>
        </p:nvSpPr>
        <p:spPr>
          <a:xfrm>
            <a:off x="4754880" y="2112264"/>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Paginated product list (50/page), filterable by category, price, origin</a:t>
            </a:r>
          </a:p>
        </p:txBody>
      </p:sp>
      <p:sp>
        <p:nvSpPr>
          <p:cNvPr id="18" name="Rectangle 17"/>
          <p:cNvSpPr/>
          <p:nvPr/>
        </p:nvSpPr>
        <p:spPr>
          <a:xfrm>
            <a:off x="274320" y="2432304"/>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468880"/>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20" name="TextBox 19"/>
          <p:cNvSpPr txBox="1"/>
          <p:nvPr/>
        </p:nvSpPr>
        <p:spPr>
          <a:xfrm>
            <a:off x="1051560" y="2468880"/>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/api/analysis/sales-by-category</a:t>
            </a:r>
          </a:p>
        </p:txBody>
      </p:sp>
      <p:sp>
        <p:nvSpPr>
          <p:cNvPr id="21" name="TextBox 20"/>
          <p:cNvSpPr txBox="1"/>
          <p:nvPr/>
        </p:nvSpPr>
        <p:spPr>
          <a:xfrm>
            <a:off x="4754880" y="2468880"/>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Average sales volume per category for bar chart rendering</a:t>
            </a:r>
          </a:p>
        </p:txBody>
      </p:sp>
      <p:sp>
        <p:nvSpPr>
          <p:cNvPr id="22" name="Rectangle 21"/>
          <p:cNvSpPr/>
          <p:nvPr/>
        </p:nvSpPr>
        <p:spPr>
          <a:xfrm>
            <a:off x="274320" y="2788920"/>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825496"/>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24" name="TextBox 23"/>
          <p:cNvSpPr txBox="1"/>
          <p:nvPr/>
        </p:nvSpPr>
        <p:spPr>
          <a:xfrm>
            <a:off x="1051560" y="2825496"/>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/api/analysis/correlation</a:t>
            </a:r>
          </a:p>
        </p:txBody>
      </p:sp>
      <p:sp>
        <p:nvSpPr>
          <p:cNvPr id="25" name="TextBox 24"/>
          <p:cNvSpPr txBox="1"/>
          <p:nvPr/>
        </p:nvSpPr>
        <p:spPr>
          <a:xfrm>
            <a:off x="4754880" y="2825496"/>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Full Pearson correlation matrix as JSON (5×5 features)</a:t>
            </a:r>
          </a:p>
        </p:txBody>
      </p:sp>
      <p:sp>
        <p:nvSpPr>
          <p:cNvPr id="26" name="Rectangle 25"/>
          <p:cNvSpPr/>
          <p:nvPr/>
        </p:nvSpPr>
        <p:spPr>
          <a:xfrm>
            <a:off x="274320" y="3145536"/>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182112"/>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28" name="TextBox 27"/>
          <p:cNvSpPr txBox="1"/>
          <p:nvPr/>
        </p:nvSpPr>
        <p:spPr>
          <a:xfrm>
            <a:off x="1051560" y="3182112"/>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/api/analysis/regression</a:t>
            </a:r>
          </a:p>
        </p:txBody>
      </p:sp>
      <p:sp>
        <p:nvSpPr>
          <p:cNvPr id="29" name="TextBox 28"/>
          <p:cNvSpPr txBox="1"/>
          <p:nvPr/>
        </p:nvSpPr>
        <p:spPr>
          <a:xfrm>
            <a:off x="4754880" y="3182112"/>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Feature importance (%) + OLS &amp; RF performance metrics</a:t>
            </a:r>
          </a:p>
        </p:txBody>
      </p:sp>
      <p:sp>
        <p:nvSpPr>
          <p:cNvPr id="30" name="Rectangle 29"/>
          <p:cNvSpPr/>
          <p:nvPr/>
        </p:nvSpPr>
        <p:spPr>
          <a:xfrm>
            <a:off x="274320" y="3502152"/>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3538728"/>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32" name="TextBox 31"/>
          <p:cNvSpPr txBox="1"/>
          <p:nvPr/>
        </p:nvSpPr>
        <p:spPr>
          <a:xfrm>
            <a:off x="1051560" y="3538728"/>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/api/analysis/clusters</a:t>
            </a:r>
          </a:p>
        </p:txBody>
      </p:sp>
      <p:sp>
        <p:nvSpPr>
          <p:cNvPr id="33" name="TextBox 32"/>
          <p:cNvSpPr txBox="1"/>
          <p:nvPr/>
        </p:nvSpPr>
        <p:spPr>
          <a:xfrm>
            <a:off x="4754880" y="3538728"/>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4 cluster segments with avg price, sales, rating per segment</a:t>
            </a:r>
          </a:p>
        </p:txBody>
      </p:sp>
      <p:sp>
        <p:nvSpPr>
          <p:cNvPr id="34" name="Rectangle 33"/>
          <p:cNvSpPr/>
          <p:nvPr/>
        </p:nvSpPr>
        <p:spPr>
          <a:xfrm>
            <a:off x="274320" y="3858768"/>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3895344"/>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36" name="TextBox 35"/>
          <p:cNvSpPr txBox="1"/>
          <p:nvPr/>
        </p:nvSpPr>
        <p:spPr>
          <a:xfrm>
            <a:off x="1051560" y="3895344"/>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/api/analysis/pca</a:t>
            </a:r>
          </a:p>
        </p:txBody>
      </p:sp>
      <p:sp>
        <p:nvSpPr>
          <p:cNvPr id="37" name="TextBox 36"/>
          <p:cNvSpPr txBox="1"/>
          <p:nvPr/>
        </p:nvSpPr>
        <p:spPr>
          <a:xfrm>
            <a:off x="4754880" y="3895344"/>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Top-N competitiveness leaderboard (0–100 normalized scores)</a:t>
            </a:r>
          </a:p>
        </p:txBody>
      </p:sp>
      <p:sp>
        <p:nvSpPr>
          <p:cNvPr id="38" name="Rectangle 37"/>
          <p:cNvSpPr/>
          <p:nvPr/>
        </p:nvSpPr>
        <p:spPr>
          <a:xfrm>
            <a:off x="274320" y="4215384"/>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60"/>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40" name="TextBox 39"/>
          <p:cNvSpPr txBox="1"/>
          <p:nvPr/>
        </p:nvSpPr>
        <p:spPr>
          <a:xfrm>
            <a:off x="1051560" y="4251960"/>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/api/analysis/promotion-impact</a:t>
            </a:r>
          </a:p>
        </p:txBody>
      </p:sp>
      <p:sp>
        <p:nvSpPr>
          <p:cNvPr id="41" name="TextBox 40"/>
          <p:cNvSpPr txBox="1"/>
          <p:nvPr/>
        </p:nvSpPr>
        <p:spPr>
          <a:xfrm>
            <a:off x="4754880" y="4251960"/>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Promoted vs non-promoted comparison + sales lift percentage</a:t>
            </a:r>
          </a:p>
        </p:txBody>
      </p:sp>
      <p:sp>
        <p:nvSpPr>
          <p:cNvPr id="42" name="Rectangle 41"/>
          <p:cNvSpPr/>
          <p:nvPr/>
        </p:nvSpPr>
        <p:spPr>
          <a:xfrm>
            <a:off x="274320" y="4572000"/>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11480" y="4608576"/>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44" name="TextBox 43"/>
          <p:cNvSpPr txBox="1"/>
          <p:nvPr/>
        </p:nvSpPr>
        <p:spPr>
          <a:xfrm>
            <a:off x="1051560" y="4608576"/>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/api/analysis/benchmark</a:t>
            </a:r>
          </a:p>
        </p:txBody>
      </p:sp>
      <p:sp>
        <p:nvSpPr>
          <p:cNvPr id="45" name="TextBox 44"/>
          <p:cNvSpPr txBox="1"/>
          <p:nvPr/>
        </p:nvSpPr>
        <p:spPr>
          <a:xfrm>
            <a:off x="4754880" y="4608576"/>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Seller price percentile rank vs category competitors</a:t>
            </a:r>
          </a:p>
        </p:txBody>
      </p:sp>
      <p:sp>
        <p:nvSpPr>
          <p:cNvPr id="46" name="Rectangle 45"/>
          <p:cNvSpPr/>
          <p:nvPr/>
        </p:nvSpPr>
        <p:spPr>
          <a:xfrm>
            <a:off x="274320" y="4928616"/>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11480" y="4965192"/>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48" name="TextBox 47"/>
          <p:cNvSpPr txBox="1"/>
          <p:nvPr/>
        </p:nvSpPr>
        <p:spPr>
          <a:xfrm>
            <a:off x="1051560" y="4965192"/>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/api/analysis/price-optimum</a:t>
            </a:r>
          </a:p>
        </p:txBody>
      </p:sp>
      <p:sp>
        <p:nvSpPr>
          <p:cNvPr id="49" name="TextBox 48"/>
          <p:cNvSpPr txBox="1"/>
          <p:nvPr/>
        </p:nvSpPr>
        <p:spPr>
          <a:xfrm>
            <a:off x="4754880" y="4965192"/>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Optimal price range per category for maximum sales volume</a:t>
            </a:r>
          </a:p>
        </p:txBody>
      </p:sp>
      <p:sp>
        <p:nvSpPr>
          <p:cNvPr id="50" name="Rectangle 49"/>
          <p:cNvSpPr/>
          <p:nvPr/>
        </p:nvSpPr>
        <p:spPr>
          <a:xfrm>
            <a:off x="274320" y="5285232"/>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11480" y="5321808"/>
            <a:ext cx="594360" cy="256032"/>
          </a:xfrm>
          <a:prstGeom prst="rect">
            <a:avLst/>
          </a:prstGeom>
          <a:noFill/>
        </p:spPr>
        <p:txBody>
          <a:bodyPr wrap="square"/>
          <a:lstStyle/>
          <a:p>
            <a:pPr algn="ctr">
              <a:lnSpc>
                <a:spcPct val="120000"/>
              </a:lnSpc>
              <a:spcBef>
                <a:spcPts val="0"/>
              </a:spcBef>
              <a:spcAft>
                <a:spcPts val="0"/>
              </a:spcAft>
              <a:defRPr sz="1100" b="1">
                <a:solidFill>
                  <a:srgbClr val="D4A853"/>
                </a:solidFill>
                <a:latin typeface="Calibri"/>
              </a:defRPr>
            </a:pPr>
            <a:r>
              <a:t>POST</a:t>
            </a:r>
          </a:p>
        </p:txBody>
      </p:sp>
      <p:sp>
        <p:nvSpPr>
          <p:cNvPr id="52" name="TextBox 51"/>
          <p:cNvSpPr txBox="1"/>
          <p:nvPr/>
        </p:nvSpPr>
        <p:spPr>
          <a:xfrm>
            <a:off x="1051560" y="5321808"/>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/api/predict</a:t>
            </a:r>
          </a:p>
        </p:txBody>
      </p:sp>
      <p:sp>
        <p:nvSpPr>
          <p:cNvPr id="53" name="TextBox 52"/>
          <p:cNvSpPr txBox="1"/>
          <p:nvPr/>
        </p:nvSpPr>
        <p:spPr>
          <a:xfrm>
            <a:off x="4754880" y="5321808"/>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RF sales prediction: accepts JSON, returns predicted sales + range</a:t>
            </a:r>
          </a:p>
        </p:txBody>
      </p:sp>
      <p:sp>
        <p:nvSpPr>
          <p:cNvPr id="58" name="Rectangle 57"/>
          <p:cNvSpPr/>
          <p:nvPr/>
        </p:nvSpPr>
        <p:spPr>
          <a:xfrm>
            <a:off x="274320" y="5669280"/>
            <a:ext cx="11612880" cy="916715"/>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11480" y="5723102"/>
            <a:ext cx="5943600" cy="274320"/>
          </a:xfrm>
          <a:prstGeom prst="rect">
            <a:avLst/>
          </a:prstGeom>
          <a:noFill/>
        </p:spPr>
        <p:txBody>
          <a:bodyPr wrap="square"/>
          <a:lstStyle/>
          <a:p>
            <a:pPr algn="l">
              <a:lnSpc>
                <a:spcPct val="120000"/>
              </a:lnSpc>
              <a:spcBef>
                <a:spcPts val="0"/>
              </a:spcBef>
              <a:spcAft>
                <a:spcPts val="0"/>
              </a:spcAft>
              <a:defRPr sz="1500" b="1">
                <a:solidFill>
                  <a:srgbClr val="5C7A4E"/>
                </a:solidFill>
                <a:latin typeface="Calibri"/>
              </a:defRPr>
            </a:pPr>
            <a:r>
              <a:rPr dirty="0"/>
              <a:t>✅  API Test Results — 12/12 Passed</a:t>
            </a:r>
          </a:p>
        </p:txBody>
      </p:sp>
      <p:sp>
        <p:nvSpPr>
          <p:cNvPr id="60" name="TextBox 59"/>
          <p:cNvSpPr txBox="1"/>
          <p:nvPr/>
        </p:nvSpPr>
        <p:spPr>
          <a:xfrm>
            <a:off x="411480" y="6071500"/>
            <a:ext cx="9427001" cy="45720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rPr sz="1600" dirty="0"/>
              <a:t>T1–T12 all return correct JSON  |  Avg response &lt; 100ms  |  SQLite WAL mode  |  CORS enabled for all origins</a:t>
            </a:r>
          </a:p>
        </p:txBody>
      </p:sp>
      <p:sp>
        <p:nvSpPr>
          <p:cNvPr id="61" name="TextBox 6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Frontend Dashboard — Pages 1–6</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12 standalone Vue 3 + ECharts 5 pages, CDN-based (no build step), bilingual ZH/EN</a:t>
            </a:r>
          </a:p>
        </p:txBody>
      </p:sp>
      <p:sp>
        <p:nvSpPr>
          <p:cNvPr id="6" name="Rectangle 5"/>
          <p:cNvSpPr/>
          <p:nvPr/>
        </p:nvSpPr>
        <p:spPr>
          <a:xfrm>
            <a:off x="365760" y="137160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54864" cy="80467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63040"/>
            <a:ext cx="457200" cy="27432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01</a:t>
            </a:r>
          </a:p>
        </p:txBody>
      </p:sp>
      <p:sp>
        <p:nvSpPr>
          <p:cNvPr id="9" name="TextBox 8"/>
          <p:cNvSpPr txBox="1"/>
          <p:nvPr/>
        </p:nvSpPr>
        <p:spPr>
          <a:xfrm>
            <a:off x="1143000" y="144475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Homepage Dashboard</a:t>
            </a:r>
          </a:p>
        </p:txBody>
      </p:sp>
      <p:sp>
        <p:nvSpPr>
          <p:cNvPr id="10" name="TextBox 9"/>
          <p:cNvSpPr txBox="1"/>
          <p:nvPr/>
        </p:nvSpPr>
        <p:spPr>
          <a:xfrm>
            <a:off x="1143000" y="1700784"/>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5 KPI metric cards with live API data. Interactive bar chart comparing sales across categories. Pie chart showing category proportions. Sortable category breakdown table.</a:t>
            </a:r>
          </a:p>
        </p:txBody>
      </p:sp>
      <p:sp>
        <p:nvSpPr>
          <p:cNvPr id="11" name="Rectangle 10"/>
          <p:cNvSpPr/>
          <p:nvPr/>
        </p:nvSpPr>
        <p:spPr>
          <a:xfrm>
            <a:off x="365760" y="224028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240280"/>
            <a:ext cx="54864" cy="804672"/>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331720"/>
            <a:ext cx="457200" cy="274320"/>
          </a:xfrm>
          <a:prstGeom prst="rect">
            <a:avLst/>
          </a:prstGeom>
          <a:noFill/>
        </p:spPr>
        <p:txBody>
          <a:bodyPr wrap="square"/>
          <a:lstStyle/>
          <a:p>
            <a:pPr algn="ctr">
              <a:lnSpc>
                <a:spcPct val="120000"/>
              </a:lnSpc>
              <a:spcBef>
                <a:spcPts val="0"/>
              </a:spcBef>
              <a:spcAft>
                <a:spcPts val="0"/>
              </a:spcAft>
              <a:defRPr sz="1600" b="1">
                <a:solidFill>
                  <a:srgbClr val="8BA87E"/>
                </a:solidFill>
                <a:latin typeface="Calibri"/>
              </a:defRPr>
            </a:pPr>
            <a:r>
              <a:t>02</a:t>
            </a:r>
          </a:p>
        </p:txBody>
      </p:sp>
      <p:sp>
        <p:nvSpPr>
          <p:cNvPr id="14" name="TextBox 13"/>
          <p:cNvSpPr txBox="1"/>
          <p:nvPr/>
        </p:nvSpPr>
        <p:spPr>
          <a:xfrm>
            <a:off x="1143000" y="231343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Product Data List</a:t>
            </a:r>
          </a:p>
        </p:txBody>
      </p:sp>
      <p:sp>
        <p:nvSpPr>
          <p:cNvPr id="15" name="TextBox 14"/>
          <p:cNvSpPr txBox="1"/>
          <p:nvPr/>
        </p:nvSpPr>
        <p:spPr>
          <a:xfrm>
            <a:off x="1143000" y="2556129"/>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Full 2,921-product searchable, filterable table with 50 items per page. Filter by category, price range, or origin. Includes Seller Benchmark tool for percentile ranking vs competitors.</a:t>
            </a:r>
          </a:p>
        </p:txBody>
      </p:sp>
      <p:sp>
        <p:nvSpPr>
          <p:cNvPr id="16" name="Rectangle 15"/>
          <p:cNvSpPr/>
          <p:nvPr/>
        </p:nvSpPr>
        <p:spPr>
          <a:xfrm>
            <a:off x="365760" y="310896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108960"/>
            <a:ext cx="54864" cy="804672"/>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200400"/>
            <a:ext cx="457200" cy="274320"/>
          </a:xfrm>
          <a:prstGeom prst="rect">
            <a:avLst/>
          </a:prstGeom>
          <a:noFill/>
        </p:spPr>
        <p:txBody>
          <a:bodyPr wrap="square"/>
          <a:lstStyle/>
          <a:p>
            <a:pPr algn="ctr">
              <a:lnSpc>
                <a:spcPct val="120000"/>
              </a:lnSpc>
              <a:spcBef>
                <a:spcPts val="0"/>
              </a:spcBef>
              <a:spcAft>
                <a:spcPts val="0"/>
              </a:spcAft>
              <a:defRPr sz="1600" b="1">
                <a:solidFill>
                  <a:srgbClr val="6B9B9B"/>
                </a:solidFill>
                <a:latin typeface="Calibri"/>
              </a:defRPr>
            </a:pPr>
            <a:r>
              <a:t>03</a:t>
            </a:r>
          </a:p>
        </p:txBody>
      </p:sp>
      <p:sp>
        <p:nvSpPr>
          <p:cNvPr id="19" name="TextBox 18"/>
          <p:cNvSpPr txBox="1"/>
          <p:nvPr/>
        </p:nvSpPr>
        <p:spPr>
          <a:xfrm>
            <a:off x="1143000" y="318211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Sales Feature Analysis</a:t>
            </a:r>
          </a:p>
        </p:txBody>
      </p:sp>
      <p:sp>
        <p:nvSpPr>
          <p:cNvPr id="20" name="TextBox 19"/>
          <p:cNvSpPr txBox="1"/>
          <p:nvPr/>
        </p:nvSpPr>
        <p:spPr>
          <a:xfrm>
            <a:off x="1143000" y="349300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4 ECharts visualizations: sales volume by category (bar), correlation heatmap (5×5 matrix), price distribution comparison, and promotion impact side-by-side bars.</a:t>
            </a:r>
          </a:p>
        </p:txBody>
      </p:sp>
      <p:sp>
        <p:nvSpPr>
          <p:cNvPr id="21" name="Rectangle 20"/>
          <p:cNvSpPr/>
          <p:nvPr/>
        </p:nvSpPr>
        <p:spPr>
          <a:xfrm>
            <a:off x="365760" y="397764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3977640"/>
            <a:ext cx="54864" cy="804672"/>
          </a:xfrm>
          <a:prstGeom prst="rect">
            <a:avLst/>
          </a:prstGeom>
          <a:solidFill>
            <a:srgbClr val="E8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4069080"/>
            <a:ext cx="457200" cy="274320"/>
          </a:xfrm>
          <a:prstGeom prst="rect">
            <a:avLst/>
          </a:prstGeom>
          <a:noFill/>
        </p:spPr>
        <p:txBody>
          <a:bodyPr wrap="square"/>
          <a:lstStyle/>
          <a:p>
            <a:pPr algn="ctr">
              <a:lnSpc>
                <a:spcPct val="120000"/>
              </a:lnSpc>
              <a:spcBef>
                <a:spcPts val="0"/>
              </a:spcBef>
              <a:spcAft>
                <a:spcPts val="0"/>
              </a:spcAft>
              <a:defRPr sz="1600" b="1">
                <a:solidFill>
                  <a:srgbClr val="E88D5C"/>
                </a:solidFill>
                <a:latin typeface="Calibri"/>
              </a:defRPr>
            </a:pPr>
            <a:r>
              <a:t>04</a:t>
            </a:r>
          </a:p>
        </p:txBody>
      </p:sp>
      <p:sp>
        <p:nvSpPr>
          <p:cNvPr id="24" name="TextBox 23"/>
          <p:cNvSpPr txBox="1"/>
          <p:nvPr/>
        </p:nvSpPr>
        <p:spPr>
          <a:xfrm>
            <a:off x="1143000" y="405079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Influence Factor Analysis</a:t>
            </a:r>
          </a:p>
        </p:txBody>
      </p:sp>
      <p:sp>
        <p:nvSpPr>
          <p:cNvPr id="25" name="TextBox 24"/>
          <p:cNvSpPr txBox="1"/>
          <p:nvPr/>
        </p:nvSpPr>
        <p:spPr>
          <a:xfrm>
            <a:off x="1143000" y="429310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Feature importance visualization (pie + bar chart). Regression performance metrics cards (R², MAE, RMSE). OLS vs Random Forest comparison with interpretation notes.</a:t>
            </a:r>
          </a:p>
        </p:txBody>
      </p:sp>
      <p:sp>
        <p:nvSpPr>
          <p:cNvPr id="26" name="Rectangle 25"/>
          <p:cNvSpPr/>
          <p:nvPr/>
        </p:nvSpPr>
        <p:spPr>
          <a:xfrm>
            <a:off x="365760" y="484632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5760" y="4846320"/>
            <a:ext cx="54864" cy="804672"/>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4937760"/>
            <a:ext cx="457200" cy="274320"/>
          </a:xfrm>
          <a:prstGeom prst="rect">
            <a:avLst/>
          </a:prstGeom>
          <a:noFill/>
        </p:spPr>
        <p:txBody>
          <a:bodyPr wrap="square"/>
          <a:lstStyle/>
          <a:p>
            <a:pPr algn="ctr">
              <a:lnSpc>
                <a:spcPct val="120000"/>
              </a:lnSpc>
              <a:spcBef>
                <a:spcPts val="0"/>
              </a:spcBef>
              <a:spcAft>
                <a:spcPts val="0"/>
              </a:spcAft>
              <a:defRPr sz="1600" b="1">
                <a:solidFill>
                  <a:srgbClr val="C06B5A"/>
                </a:solidFill>
                <a:latin typeface="Calibri"/>
              </a:defRPr>
            </a:pPr>
            <a:r>
              <a:t>05</a:t>
            </a:r>
          </a:p>
        </p:txBody>
      </p:sp>
      <p:sp>
        <p:nvSpPr>
          <p:cNvPr id="29" name="TextBox 28"/>
          <p:cNvSpPr txBox="1"/>
          <p:nvPr/>
        </p:nvSpPr>
        <p:spPr>
          <a:xfrm>
            <a:off x="1143000" y="491947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Product Clustering</a:t>
            </a:r>
          </a:p>
        </p:txBody>
      </p:sp>
      <p:sp>
        <p:nvSpPr>
          <p:cNvPr id="30" name="TextBox 29"/>
          <p:cNvSpPr txBox="1"/>
          <p:nvPr/>
        </p:nvSpPr>
        <p:spPr>
          <a:xfrm>
            <a:off x="1143000" y="5176647"/>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4 interactive cluster segment cards with key stats. Bar chart comparing segment metrics. Radar chart showing multi-dimensional feature profiles per segment. Elbow method chart.</a:t>
            </a:r>
          </a:p>
        </p:txBody>
      </p:sp>
      <p:sp>
        <p:nvSpPr>
          <p:cNvPr id="31" name="Rectangle 30"/>
          <p:cNvSpPr/>
          <p:nvPr/>
        </p:nvSpPr>
        <p:spPr>
          <a:xfrm>
            <a:off x="365760" y="571500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65760" y="5715000"/>
            <a:ext cx="54864" cy="804672"/>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 y="5806440"/>
            <a:ext cx="457200" cy="274320"/>
          </a:xfrm>
          <a:prstGeom prst="rect">
            <a:avLst/>
          </a:prstGeom>
          <a:noFill/>
        </p:spPr>
        <p:txBody>
          <a:bodyPr wrap="square"/>
          <a:lstStyle/>
          <a:p>
            <a:pPr algn="ctr">
              <a:lnSpc>
                <a:spcPct val="120000"/>
              </a:lnSpc>
              <a:spcBef>
                <a:spcPts val="0"/>
              </a:spcBef>
              <a:spcAft>
                <a:spcPts val="0"/>
              </a:spcAft>
              <a:defRPr sz="1600" b="1">
                <a:solidFill>
                  <a:srgbClr val="9B6B9B"/>
                </a:solidFill>
                <a:latin typeface="Calibri"/>
              </a:defRPr>
            </a:pPr>
            <a:r>
              <a:t>06</a:t>
            </a:r>
          </a:p>
        </p:txBody>
      </p:sp>
      <p:sp>
        <p:nvSpPr>
          <p:cNvPr id="34" name="TextBox 33"/>
          <p:cNvSpPr txBox="1"/>
          <p:nvPr/>
        </p:nvSpPr>
        <p:spPr>
          <a:xfrm>
            <a:off x="1143000" y="578815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PCA Competitiveness Ranking</a:t>
            </a:r>
          </a:p>
        </p:txBody>
      </p:sp>
      <p:sp>
        <p:nvSpPr>
          <p:cNvPr id="35" name="TextBox 34"/>
          <p:cNvSpPr txBox="1"/>
          <p:nvPr/>
        </p:nvSpPr>
        <p:spPr>
          <a:xfrm>
            <a:off x="1143000" y="609904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Top 20 leaderboard table ranked by composite competitiveness score (0–100). Horizontal bar chart of top products. Score methodology explanation.</a:t>
            </a:r>
          </a:p>
        </p:txBody>
      </p:sp>
      <p:sp>
        <p:nvSpPr>
          <p:cNvPr id="36" name="TextBox 3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Frontend Dashboard — Pages 7–12 &amp; Prediction Widget</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Interactive prediction form, origin analytics, seller recommendations, and documentation pages</a:t>
            </a:r>
          </a:p>
        </p:txBody>
      </p:sp>
      <p:sp>
        <p:nvSpPr>
          <p:cNvPr id="6" name="Rectangle 5"/>
          <p:cNvSpPr/>
          <p:nvPr/>
        </p:nvSpPr>
        <p:spPr>
          <a:xfrm>
            <a:off x="365760" y="137160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54864" cy="80467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63040"/>
            <a:ext cx="457200" cy="27432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07</a:t>
            </a:r>
          </a:p>
        </p:txBody>
      </p:sp>
      <p:sp>
        <p:nvSpPr>
          <p:cNvPr id="9" name="TextBox 8"/>
          <p:cNvSpPr txBox="1"/>
          <p:nvPr/>
        </p:nvSpPr>
        <p:spPr>
          <a:xfrm>
            <a:off x="1143000" y="144475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Sales Prediction</a:t>
            </a:r>
          </a:p>
        </p:txBody>
      </p:sp>
      <p:sp>
        <p:nvSpPr>
          <p:cNvPr id="10" name="TextBox 9"/>
          <p:cNvSpPr txBox="1"/>
          <p:nvPr/>
        </p:nvSpPr>
        <p:spPr>
          <a:xfrm>
            <a:off x="1127760" y="1687068"/>
            <a:ext cx="1068324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Interactive form with Vue 3 v-model two-way binding. Inputs: price (number), rating (slider 1–5), review count, category (dropdown), promotion (checkbox). Returns predicted sales + 80%–120% confidence range + price optimization tip.</a:t>
            </a:r>
          </a:p>
        </p:txBody>
      </p:sp>
      <p:sp>
        <p:nvSpPr>
          <p:cNvPr id="11" name="Rectangle 10"/>
          <p:cNvSpPr/>
          <p:nvPr/>
        </p:nvSpPr>
        <p:spPr>
          <a:xfrm>
            <a:off x="365760" y="224028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240280"/>
            <a:ext cx="54864" cy="804672"/>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331720"/>
            <a:ext cx="457200" cy="274320"/>
          </a:xfrm>
          <a:prstGeom prst="rect">
            <a:avLst/>
          </a:prstGeom>
          <a:noFill/>
        </p:spPr>
        <p:txBody>
          <a:bodyPr wrap="square"/>
          <a:lstStyle/>
          <a:p>
            <a:pPr algn="ctr">
              <a:lnSpc>
                <a:spcPct val="120000"/>
              </a:lnSpc>
              <a:spcBef>
                <a:spcPts val="0"/>
              </a:spcBef>
              <a:spcAft>
                <a:spcPts val="0"/>
              </a:spcAft>
              <a:defRPr sz="1600" b="1">
                <a:solidFill>
                  <a:srgbClr val="8BA87E"/>
                </a:solidFill>
                <a:latin typeface="Calibri"/>
              </a:defRPr>
            </a:pPr>
            <a:r>
              <a:t>08</a:t>
            </a:r>
          </a:p>
        </p:txBody>
      </p:sp>
      <p:sp>
        <p:nvSpPr>
          <p:cNvPr id="14" name="TextBox 13"/>
          <p:cNvSpPr txBox="1"/>
          <p:nvPr/>
        </p:nvSpPr>
        <p:spPr>
          <a:xfrm>
            <a:off x="1143000" y="231343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Origin Distribution</a:t>
            </a:r>
          </a:p>
        </p:txBody>
      </p:sp>
      <p:sp>
        <p:nvSpPr>
          <p:cNvPr id="15" name="TextBox 14"/>
          <p:cNvSpPr txBox="1"/>
          <p:nvPr/>
        </p:nvSpPr>
        <p:spPr>
          <a:xfrm>
            <a:off x="1143000" y="2571958"/>
            <a:ext cx="1068324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Bar chart showing product origin distribution by category. Category toggle buttons allow switching between all 5 categories. Geographic insights for supply chain and sourcing decisions.</a:t>
            </a:r>
          </a:p>
        </p:txBody>
      </p:sp>
      <p:sp>
        <p:nvSpPr>
          <p:cNvPr id="16" name="Rectangle 15"/>
          <p:cNvSpPr/>
          <p:nvPr/>
        </p:nvSpPr>
        <p:spPr>
          <a:xfrm>
            <a:off x="365760" y="310896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108960"/>
            <a:ext cx="54864" cy="804672"/>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200400"/>
            <a:ext cx="457200" cy="274320"/>
          </a:xfrm>
          <a:prstGeom prst="rect">
            <a:avLst/>
          </a:prstGeom>
          <a:noFill/>
        </p:spPr>
        <p:txBody>
          <a:bodyPr wrap="square"/>
          <a:lstStyle/>
          <a:p>
            <a:pPr algn="ctr">
              <a:lnSpc>
                <a:spcPct val="120000"/>
              </a:lnSpc>
              <a:spcBef>
                <a:spcPts val="0"/>
              </a:spcBef>
              <a:spcAft>
                <a:spcPts val="0"/>
              </a:spcAft>
              <a:defRPr sz="1600" b="1">
                <a:solidFill>
                  <a:srgbClr val="6B9B9B"/>
                </a:solidFill>
                <a:latin typeface="Calibri"/>
              </a:defRPr>
            </a:pPr>
            <a:r>
              <a:t>09</a:t>
            </a:r>
          </a:p>
        </p:txBody>
      </p:sp>
      <p:sp>
        <p:nvSpPr>
          <p:cNvPr id="19" name="TextBox 18"/>
          <p:cNvSpPr txBox="1"/>
          <p:nvPr/>
        </p:nvSpPr>
        <p:spPr>
          <a:xfrm>
            <a:off x="1143000" y="318211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Promotion Impact Analysis</a:t>
            </a:r>
          </a:p>
        </p:txBody>
      </p:sp>
      <p:sp>
        <p:nvSpPr>
          <p:cNvPr id="20" name="TextBox 19"/>
          <p:cNvSpPr txBox="1"/>
          <p:nvPr/>
        </p:nvSpPr>
        <p:spPr>
          <a:xfrm>
            <a:off x="1143000" y="3440638"/>
            <a:ext cx="10597896"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3 KPI cards comparing promoted vs non-promoted products. Side-by-side bar charts for price, sales volume, and rating comparison. Sales lift percentage calculation with interpretation.</a:t>
            </a:r>
          </a:p>
        </p:txBody>
      </p:sp>
      <p:sp>
        <p:nvSpPr>
          <p:cNvPr id="21" name="Rectangle 20"/>
          <p:cNvSpPr/>
          <p:nvPr/>
        </p:nvSpPr>
        <p:spPr>
          <a:xfrm>
            <a:off x="365760" y="397764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3977640"/>
            <a:ext cx="54864" cy="804672"/>
          </a:xfrm>
          <a:prstGeom prst="rect">
            <a:avLst/>
          </a:prstGeom>
          <a:solidFill>
            <a:srgbClr val="E8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4069080"/>
            <a:ext cx="457200" cy="274320"/>
          </a:xfrm>
          <a:prstGeom prst="rect">
            <a:avLst/>
          </a:prstGeom>
          <a:noFill/>
        </p:spPr>
        <p:txBody>
          <a:bodyPr wrap="square"/>
          <a:lstStyle/>
          <a:p>
            <a:pPr algn="ctr">
              <a:lnSpc>
                <a:spcPct val="120000"/>
              </a:lnSpc>
              <a:spcBef>
                <a:spcPts val="0"/>
              </a:spcBef>
              <a:spcAft>
                <a:spcPts val="0"/>
              </a:spcAft>
              <a:defRPr sz="1600" b="1">
                <a:solidFill>
                  <a:srgbClr val="E88D5C"/>
                </a:solidFill>
                <a:latin typeface="Calibri"/>
              </a:defRPr>
            </a:pPr>
            <a:r>
              <a:t>10</a:t>
            </a:r>
          </a:p>
        </p:txBody>
      </p:sp>
      <p:sp>
        <p:nvSpPr>
          <p:cNvPr id="24" name="TextBox 23"/>
          <p:cNvSpPr txBox="1"/>
          <p:nvPr/>
        </p:nvSpPr>
        <p:spPr>
          <a:xfrm>
            <a:off x="1143000" y="405079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Operational Suggestions</a:t>
            </a:r>
          </a:p>
        </p:txBody>
      </p:sp>
      <p:sp>
        <p:nvSpPr>
          <p:cNvPr id="25" name="TextBox 24"/>
          <p:cNvSpPr txBox="1"/>
          <p:nvPr/>
        </p:nvSpPr>
        <p:spPr>
          <a:xfrm>
            <a:off x="1143000" y="4361688"/>
            <a:ext cx="10597896"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6 color-coded recommendation cards, each with: numbered priority, title, statistical evidence (specific metrics cited), and practical implementation guidance for sellers.</a:t>
            </a:r>
          </a:p>
        </p:txBody>
      </p:sp>
      <p:sp>
        <p:nvSpPr>
          <p:cNvPr id="26" name="Rectangle 25"/>
          <p:cNvSpPr/>
          <p:nvPr/>
        </p:nvSpPr>
        <p:spPr>
          <a:xfrm>
            <a:off x="365760" y="484632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5760" y="4846320"/>
            <a:ext cx="54864" cy="804672"/>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4937760"/>
            <a:ext cx="457200" cy="274320"/>
          </a:xfrm>
          <a:prstGeom prst="rect">
            <a:avLst/>
          </a:prstGeom>
          <a:noFill/>
        </p:spPr>
        <p:txBody>
          <a:bodyPr wrap="square"/>
          <a:lstStyle/>
          <a:p>
            <a:pPr algn="ctr">
              <a:lnSpc>
                <a:spcPct val="120000"/>
              </a:lnSpc>
              <a:spcBef>
                <a:spcPts val="0"/>
              </a:spcBef>
              <a:spcAft>
                <a:spcPts val="0"/>
              </a:spcAft>
              <a:defRPr sz="1600" b="1">
                <a:solidFill>
                  <a:srgbClr val="C06B5A"/>
                </a:solidFill>
                <a:latin typeface="Calibri"/>
              </a:defRPr>
            </a:pPr>
            <a:r>
              <a:t>11</a:t>
            </a:r>
          </a:p>
        </p:txBody>
      </p:sp>
      <p:sp>
        <p:nvSpPr>
          <p:cNvPr id="29" name="TextBox 28"/>
          <p:cNvSpPr txBox="1"/>
          <p:nvPr/>
        </p:nvSpPr>
        <p:spPr>
          <a:xfrm>
            <a:off x="1143000" y="491947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Data Cleaning Documentation</a:t>
            </a:r>
          </a:p>
        </p:txBody>
      </p:sp>
      <p:sp>
        <p:nvSpPr>
          <p:cNvPr id="30" name="TextBox 29"/>
          <p:cNvSpPr txBox="1"/>
          <p:nvPr/>
        </p:nvSpPr>
        <p:spPr>
          <a:xfrm>
            <a:off x="1143000" y="5166360"/>
            <a:ext cx="10597896"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Complete 9-step cleaning process documentation with before/after statistics. Each step explained with rationale. Transparency for academic evaluation and reproducibility.</a:t>
            </a:r>
          </a:p>
        </p:txBody>
      </p:sp>
      <p:sp>
        <p:nvSpPr>
          <p:cNvPr id="31" name="Rectangle 30"/>
          <p:cNvSpPr/>
          <p:nvPr/>
        </p:nvSpPr>
        <p:spPr>
          <a:xfrm>
            <a:off x="365760" y="571500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65760" y="5715000"/>
            <a:ext cx="54864" cy="804672"/>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 y="5806440"/>
            <a:ext cx="457200" cy="274320"/>
          </a:xfrm>
          <a:prstGeom prst="rect">
            <a:avLst/>
          </a:prstGeom>
          <a:noFill/>
        </p:spPr>
        <p:txBody>
          <a:bodyPr wrap="square"/>
          <a:lstStyle/>
          <a:p>
            <a:pPr algn="ctr">
              <a:lnSpc>
                <a:spcPct val="120000"/>
              </a:lnSpc>
              <a:spcBef>
                <a:spcPts val="0"/>
              </a:spcBef>
              <a:spcAft>
                <a:spcPts val="0"/>
              </a:spcAft>
              <a:defRPr sz="1600" b="1">
                <a:solidFill>
                  <a:srgbClr val="9B6B9B"/>
                </a:solidFill>
                <a:latin typeface="Calibri"/>
              </a:defRPr>
            </a:pPr>
            <a:r>
              <a:t>12</a:t>
            </a:r>
          </a:p>
        </p:txBody>
      </p:sp>
      <p:sp>
        <p:nvSpPr>
          <p:cNvPr id="34" name="TextBox 33"/>
          <p:cNvSpPr txBox="1"/>
          <p:nvPr/>
        </p:nvSpPr>
        <p:spPr>
          <a:xfrm>
            <a:off x="1143000" y="578815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Analysis Conclusions</a:t>
            </a:r>
          </a:p>
        </p:txBody>
      </p:sp>
      <p:sp>
        <p:nvSpPr>
          <p:cNvPr id="35" name="TextBox 34"/>
          <p:cNvSpPr txBox="1"/>
          <p:nvPr/>
        </p:nvSpPr>
        <p:spPr>
          <a:xfrm>
            <a:off x="1143000" y="6035040"/>
            <a:ext cx="1065276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rPr dirty="0"/>
              <a:t>6 key research findings displayed as tagged cards with methodology indicators. Color-coded by finding category (correlation, regression, clustering, PCA). Bilingual support throughout.</a:t>
            </a:r>
          </a:p>
        </p:txBody>
      </p:sp>
      <p:sp>
        <p:nvSpPr>
          <p:cNvPr id="36" name="TextBox 3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Sales Prediction Widget — How It Works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Interactive Random Forest prediction: 5 inputs → trained model → predicted sales + confidence range</a:t>
            </a:r>
          </a:p>
        </p:txBody>
      </p:sp>
      <p:sp>
        <p:nvSpPr>
          <p:cNvPr id="6" name="TextBox 5"/>
          <p:cNvSpPr txBox="1"/>
          <p:nvPr/>
        </p:nvSpPr>
        <p:spPr>
          <a:xfrm>
            <a:off x="457200" y="137160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Prediction Flow</a:t>
            </a:r>
          </a:p>
        </p:txBody>
      </p:sp>
      <p:sp>
        <p:nvSpPr>
          <p:cNvPr id="7" name="Rectangle 6"/>
          <p:cNvSpPr/>
          <p:nvPr/>
        </p:nvSpPr>
        <p:spPr>
          <a:xfrm>
            <a:off x="365760" y="1783080"/>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783080"/>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856232"/>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1</a:t>
            </a:r>
          </a:p>
        </p:txBody>
      </p:sp>
      <p:sp>
        <p:nvSpPr>
          <p:cNvPr id="10" name="TextBox 9"/>
          <p:cNvSpPr txBox="1"/>
          <p:nvPr/>
        </p:nvSpPr>
        <p:spPr>
          <a:xfrm>
            <a:off x="1645920" y="1856232"/>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User enters 5 product attributes via the interactive Vue 3 form. All inputs use v-model for reactive two-way binding. Form validation ensures valid numeric ranges.</a:t>
            </a:r>
          </a:p>
        </p:txBody>
      </p:sp>
      <p:sp>
        <p:nvSpPr>
          <p:cNvPr id="11" name="Rectangle 10"/>
          <p:cNvSpPr/>
          <p:nvPr/>
        </p:nvSpPr>
        <p:spPr>
          <a:xfrm>
            <a:off x="365760" y="2715768"/>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715768"/>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788920"/>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2</a:t>
            </a:r>
          </a:p>
        </p:txBody>
      </p:sp>
      <p:sp>
        <p:nvSpPr>
          <p:cNvPr id="14" name="TextBox 13"/>
          <p:cNvSpPr txBox="1"/>
          <p:nvPr/>
        </p:nvSpPr>
        <p:spPr>
          <a:xfrm>
            <a:off x="1645920" y="2788920"/>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Category label (Chinese) is encoded via the saved LabelEncoder (.pkl file). The encoder maps each of the 5 categories to an integer the model understands.</a:t>
            </a:r>
          </a:p>
        </p:txBody>
      </p:sp>
      <p:sp>
        <p:nvSpPr>
          <p:cNvPr id="15" name="Rectangle 14"/>
          <p:cNvSpPr/>
          <p:nvPr/>
        </p:nvSpPr>
        <p:spPr>
          <a:xfrm>
            <a:off x="365760" y="3648456"/>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3648456"/>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721608"/>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3</a:t>
            </a:r>
          </a:p>
        </p:txBody>
      </p:sp>
      <p:sp>
        <p:nvSpPr>
          <p:cNvPr id="18" name="TextBox 17"/>
          <p:cNvSpPr txBox="1"/>
          <p:nvPr/>
        </p:nvSpPr>
        <p:spPr>
          <a:xfrm>
            <a:off x="1645920" y="3721608"/>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All 5 features are assembled into a numpy array: [price, rating, review_count, is_promoted, category_enc]. This is the exact format the model was trained on.</a:t>
            </a:r>
          </a:p>
        </p:txBody>
      </p:sp>
      <p:sp>
        <p:nvSpPr>
          <p:cNvPr id="19" name="Rectangle 18"/>
          <p:cNvSpPr/>
          <p:nvPr/>
        </p:nvSpPr>
        <p:spPr>
          <a:xfrm>
            <a:off x="365760" y="4581144"/>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4581144"/>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4654296"/>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4</a:t>
            </a:r>
          </a:p>
        </p:txBody>
      </p:sp>
      <p:sp>
        <p:nvSpPr>
          <p:cNvPr id="22" name="TextBox 21"/>
          <p:cNvSpPr txBox="1"/>
          <p:nvPr/>
        </p:nvSpPr>
        <p:spPr>
          <a:xfrm>
            <a:off x="1645920" y="4654296"/>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The Random Forest model (100 trees, R²=0.709 on test set) predicts expected monthly sales. The model captures non-linear interactions between features.</a:t>
            </a:r>
          </a:p>
        </p:txBody>
      </p:sp>
      <p:sp>
        <p:nvSpPr>
          <p:cNvPr id="23" name="Rectangle 22"/>
          <p:cNvSpPr/>
          <p:nvPr/>
        </p:nvSpPr>
        <p:spPr>
          <a:xfrm>
            <a:off x="365760" y="5513832"/>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5513832"/>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4360" y="5586984"/>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5</a:t>
            </a:r>
          </a:p>
        </p:txBody>
      </p:sp>
      <p:sp>
        <p:nvSpPr>
          <p:cNvPr id="26" name="TextBox 25"/>
          <p:cNvSpPr txBox="1"/>
          <p:nvPr/>
        </p:nvSpPr>
        <p:spPr>
          <a:xfrm>
            <a:off x="1645920" y="5586984"/>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Response returned as JSON: predicted_sales (rounded integer) + range_low (80%) + range_high (120%). A price optimization tip for the selected category is also displayed.</a:t>
            </a:r>
          </a:p>
        </p:txBody>
      </p:sp>
      <p:sp>
        <p:nvSpPr>
          <p:cNvPr id="27" name="Rectangle 26"/>
          <p:cNvSpPr/>
          <p:nvPr/>
        </p:nvSpPr>
        <p:spPr>
          <a:xfrm>
            <a:off x="7315200" y="1783080"/>
            <a:ext cx="4821632" cy="3666744"/>
          </a:xfrm>
          <a:prstGeom prst="rect">
            <a:avLst/>
          </a:prstGeom>
          <a:solidFill>
            <a:srgbClr val="FEFBF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79" y="1874519"/>
            <a:ext cx="4206240" cy="27432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Example Prediction</a:t>
            </a:r>
          </a:p>
        </p:txBody>
      </p:sp>
      <p:sp>
        <p:nvSpPr>
          <p:cNvPr id="29" name="TextBox 28"/>
          <p:cNvSpPr txBox="1"/>
          <p:nvPr/>
        </p:nvSpPr>
        <p:spPr>
          <a:xfrm>
            <a:off x="7498079" y="2240280"/>
            <a:ext cx="4206240" cy="16459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rPr dirty="0"/>
              <a:t>Input Values:</a:t>
            </a:r>
            <a:br>
              <a:rPr dirty="0"/>
            </a:br>
            <a:r>
              <a:rPr dirty="0"/>
              <a:t>  Price: ¥35</a:t>
            </a:r>
            <a:br>
              <a:rPr dirty="0"/>
            </a:br>
            <a:r>
              <a:rPr dirty="0"/>
              <a:t>  Rating: 4.3 / 5</a:t>
            </a:r>
            <a:br>
              <a:rPr dirty="0"/>
            </a:br>
            <a:r>
              <a:rPr dirty="0"/>
              <a:t>  Review Count: 100</a:t>
            </a:r>
            <a:br>
              <a:rPr dirty="0"/>
            </a:br>
            <a:r>
              <a:rPr dirty="0"/>
              <a:t>  Category: Fruits</a:t>
            </a:r>
            <a:br>
              <a:rPr dirty="0"/>
            </a:br>
            <a:r>
              <a:rPr dirty="0"/>
              <a:t>  Promotion: No</a:t>
            </a:r>
            <a:br>
              <a:rPr dirty="0"/>
            </a:br>
            <a:br>
              <a:rPr dirty="0"/>
            </a:br>
            <a:r>
              <a:rPr dirty="0"/>
              <a:t>→ Predicted: 1,135 units/month</a:t>
            </a:r>
            <a:br>
              <a:rPr dirty="0"/>
            </a:br>
            <a:r>
              <a:rPr dirty="0"/>
              <a:t>→ Range: 908 – 1,362 units/month</a:t>
            </a:r>
            <a:br>
              <a:rPr dirty="0"/>
            </a:br>
            <a:br>
              <a:rPr dirty="0"/>
            </a:br>
            <a:r>
              <a:rPr dirty="0"/>
              <a:t>💡 Tip: Fruits priced ¥15–¥35</a:t>
            </a:r>
            <a:br>
              <a:rPr dirty="0"/>
            </a:br>
            <a:r>
              <a:rPr dirty="0"/>
              <a:t>   see 40% higher avg sales</a:t>
            </a:r>
          </a:p>
        </p:txBody>
      </p:sp>
      <p:sp>
        <p:nvSpPr>
          <p:cNvPr id="38" name="TextBox 3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Key Analytical Findings — Part 1 of 2</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Evidence-based insights from correlation, regression, and descriptive analysis</a:t>
            </a:r>
          </a:p>
        </p:txBody>
      </p:sp>
      <p:sp>
        <p:nvSpPr>
          <p:cNvPr id="6" name="Rectangle 5"/>
          <p:cNvSpPr/>
          <p:nvPr/>
        </p:nvSpPr>
        <p:spPr>
          <a:xfrm>
            <a:off x="365760" y="137160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11430000" cy="54864"/>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08760"/>
            <a:ext cx="10972800" cy="32004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01. Reviews Overwhelmingly Dominate Sales</a:t>
            </a:r>
          </a:p>
        </p:txBody>
      </p:sp>
      <p:sp>
        <p:nvSpPr>
          <p:cNvPr id="9" name="TextBox 8"/>
          <p:cNvSpPr txBox="1"/>
          <p:nvPr/>
        </p:nvSpPr>
        <p:spPr>
          <a:xfrm>
            <a:off x="594360" y="187452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Review count is the single strongest predictor of sales volume across all analysis methods. Pearson correlation r = +0.725 (strong positive). Random Forest feature importance: 69.6% of model predictive power. OLS: largest standardized coefficient, p &lt; 0.001.</a:t>
            </a:r>
            <a:br>
              <a:rPr dirty="0"/>
            </a:br>
            <a:r>
              <a:rPr dirty="0"/>
              <a:t>Evidence: 3 independent methods (Pearson, OLS, RF) all converge on the same conclusion. Review volume is the dominant sales driver — more important than price, rating, category, or promotion status combined.</a:t>
            </a:r>
          </a:p>
        </p:txBody>
      </p:sp>
      <p:sp>
        <p:nvSpPr>
          <p:cNvPr id="10" name="Rectangle 9"/>
          <p:cNvSpPr/>
          <p:nvPr/>
        </p:nvSpPr>
        <p:spPr>
          <a:xfrm>
            <a:off x="365760" y="315468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3154680"/>
            <a:ext cx="11430000" cy="54864"/>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3291840"/>
            <a:ext cx="10972800" cy="32004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02. Promotions Have Negligible Impact on Sales</a:t>
            </a:r>
          </a:p>
        </p:txBody>
      </p:sp>
      <p:sp>
        <p:nvSpPr>
          <p:cNvPr id="13" name="TextBox 12"/>
          <p:cNvSpPr txBox="1"/>
          <p:nvPr/>
        </p:nvSpPr>
        <p:spPr>
          <a:xfrm>
            <a:off x="594360" y="365760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Counter-intuitive finding: being on promotion shows no significant effect on sales volume. Pearson r = −0.013 (near zero). OLS p-value = 0.76 (not statistically significant). RF importance: only 0.9% of model power — the weakest feature by far.</a:t>
            </a:r>
            <a:br>
              <a:rPr dirty="0"/>
            </a:br>
            <a:r>
              <a:rPr dirty="0"/>
              <a:t>Evidence: This finding is consistent across all three analysis methods. Agricultural product buyers appear insensitive to discount signals — quality and social proof matter more than price reductions.</a:t>
            </a:r>
          </a:p>
        </p:txBody>
      </p:sp>
      <p:sp>
        <p:nvSpPr>
          <p:cNvPr id="14" name="Rectangle 13"/>
          <p:cNvSpPr/>
          <p:nvPr/>
        </p:nvSpPr>
        <p:spPr>
          <a:xfrm>
            <a:off x="365760" y="493776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4937760"/>
            <a:ext cx="11430000" cy="54864"/>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5074920"/>
            <a:ext cx="10972800" cy="320040"/>
          </a:xfrm>
          <a:prstGeom prst="rect">
            <a:avLst/>
          </a:prstGeom>
          <a:noFill/>
        </p:spPr>
        <p:txBody>
          <a:bodyPr wrap="square"/>
          <a:lstStyle/>
          <a:p>
            <a:pPr algn="l">
              <a:lnSpc>
                <a:spcPct val="120000"/>
              </a:lnSpc>
              <a:spcBef>
                <a:spcPts val="0"/>
              </a:spcBef>
              <a:spcAft>
                <a:spcPts val="0"/>
              </a:spcAft>
              <a:defRPr sz="1600" b="1">
                <a:solidFill>
                  <a:srgbClr val="D4A853"/>
                </a:solidFill>
                <a:latin typeface="Calibri"/>
              </a:defRPr>
            </a:pPr>
            <a:r>
              <a:t>03. Vegetables Lead Volume; Tea Leads Margin</a:t>
            </a:r>
          </a:p>
        </p:txBody>
      </p:sp>
      <p:sp>
        <p:nvSpPr>
          <p:cNvPr id="17" name="TextBox 16"/>
          <p:cNvSpPr txBox="1"/>
          <p:nvPr/>
        </p:nvSpPr>
        <p:spPr>
          <a:xfrm>
            <a:off x="594360" y="544068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Clear category-level dynamics emerge. Vegetables: 1,960 avg monthly sales at ¥18.90 — high-volume, low-margin play (3.6× Tea's volume). Tea: ¥107.90 avg price at 517 avg sales — premium niche with highest rating (4.46).</a:t>
            </a:r>
            <a:br>
              <a:rPr dirty="0"/>
            </a:br>
            <a:r>
              <a:rPr dirty="0"/>
              <a:t>Evidence: Descriptive statistics show distinct category profiles. The optimal strategy depends on category: volume play for Vegetables, premium positioning for Tea, steady reliability for Grains &amp; Oils.</a:t>
            </a:r>
          </a:p>
        </p:txBody>
      </p:sp>
      <p:sp>
        <p:nvSpPr>
          <p:cNvPr id="18" name="TextBox 1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Key Analytical Findings — Part 2 of 2</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Insights from clustering, PCA, and model performance analysis</a:t>
            </a:r>
          </a:p>
        </p:txBody>
      </p:sp>
      <p:sp>
        <p:nvSpPr>
          <p:cNvPr id="6" name="Rectangle 5"/>
          <p:cNvSpPr/>
          <p:nvPr/>
        </p:nvSpPr>
        <p:spPr>
          <a:xfrm>
            <a:off x="365760" y="137160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11430000" cy="54864"/>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08760"/>
            <a:ext cx="10972800" cy="320040"/>
          </a:xfrm>
          <a:prstGeom prst="rect">
            <a:avLst/>
          </a:prstGeom>
          <a:noFill/>
        </p:spPr>
        <p:txBody>
          <a:bodyPr wrap="square"/>
          <a:lstStyle/>
          <a:p>
            <a:pPr algn="l">
              <a:lnSpc>
                <a:spcPct val="120000"/>
              </a:lnSpc>
              <a:spcBef>
                <a:spcPts val="0"/>
              </a:spcBef>
              <a:spcAft>
                <a:spcPts val="0"/>
              </a:spcAft>
              <a:defRPr sz="1600" b="1">
                <a:solidFill>
                  <a:srgbClr val="6B9B9B"/>
                </a:solidFill>
                <a:latin typeface="Calibri"/>
              </a:defRPr>
            </a:pPr>
            <a:r>
              <a:t>04. Four Distinct Market Segments Exist</a:t>
            </a:r>
          </a:p>
        </p:txBody>
      </p:sp>
      <p:sp>
        <p:nvSpPr>
          <p:cNvPr id="9" name="TextBox 8"/>
          <p:cNvSpPr txBox="1"/>
          <p:nvPr/>
        </p:nvSpPr>
        <p:spPr>
          <a:xfrm>
            <a:off x="594360" y="187452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K-Means clustering (K=4, elbow-validated) reveals clear product segmentation. Mid-range Stable: 41% of market, ¥45 avg, highest rating (4.66) — the sweet spot. Low Engagement: 36%, ¥39, lowest rating (3.94) — needs reputation work. Premium Niche: 12%, ¥169 — high margin. Budget High-Volume: 12%, ¥32 but 3,048 avg sales — volume champion.</a:t>
            </a:r>
            <a:br>
              <a:rPr dirty="0"/>
            </a:br>
            <a:r>
              <a:rPr dirty="0"/>
              <a:t>Evidence: Elbow method confirms K=4. Cluster centroids show distinct, interpretable business profiles. Radar chart reveals clear multi-dimensional separation between segments.</a:t>
            </a:r>
          </a:p>
        </p:txBody>
      </p:sp>
      <p:sp>
        <p:nvSpPr>
          <p:cNvPr id="10" name="Rectangle 9"/>
          <p:cNvSpPr/>
          <p:nvPr/>
        </p:nvSpPr>
        <p:spPr>
          <a:xfrm>
            <a:off x="365760" y="315468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3154680"/>
            <a:ext cx="11430000" cy="54864"/>
          </a:xfrm>
          <a:prstGeom prst="rect">
            <a:avLst/>
          </a:prstGeom>
          <a:solidFill>
            <a:srgbClr val="5C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3291840"/>
            <a:ext cx="10972800" cy="320040"/>
          </a:xfrm>
          <a:prstGeom prst="rect">
            <a:avLst/>
          </a:prstGeom>
          <a:noFill/>
        </p:spPr>
        <p:txBody>
          <a:bodyPr wrap="square"/>
          <a:lstStyle/>
          <a:p>
            <a:pPr algn="l">
              <a:lnSpc>
                <a:spcPct val="120000"/>
              </a:lnSpc>
              <a:spcBef>
                <a:spcPts val="0"/>
              </a:spcBef>
              <a:spcAft>
                <a:spcPts val="0"/>
              </a:spcAft>
              <a:defRPr sz="1600" b="1">
                <a:solidFill>
                  <a:srgbClr val="5C7A4E"/>
                </a:solidFill>
                <a:latin typeface="Calibri"/>
              </a:defRPr>
            </a:pPr>
            <a:r>
              <a:t>05. Random Forest Captures 71% of Sales Variance</a:t>
            </a:r>
          </a:p>
        </p:txBody>
      </p:sp>
      <p:sp>
        <p:nvSpPr>
          <p:cNvPr id="13" name="TextBox 12"/>
          <p:cNvSpPr txBox="1"/>
          <p:nvPr/>
        </p:nvSpPr>
        <p:spPr>
          <a:xfrm>
            <a:off x="594360" y="365760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The Random Forest model (R² = 0.709) significantly outperforms linear OLS regression (R² = 0.598) — an 11.1 percentage point improvement. MAE = 342 units, RMSE = 550 units on the 20% hold-out test set. The model is deployed as a real-time API endpoint for interactive predictions.</a:t>
            </a:r>
            <a:br>
              <a:rPr dirty="0"/>
            </a:br>
            <a:r>
              <a:rPr dirty="0"/>
              <a:t>Evidence: Test-set evaluation on unseen data confirms generalizability. The non-linear model captures interaction effects that OLS misses. Feature importance analysis reveals the relative contribution of each predictor.</a:t>
            </a:r>
          </a:p>
        </p:txBody>
      </p:sp>
      <p:sp>
        <p:nvSpPr>
          <p:cNvPr id="14" name="Rectangle 13"/>
          <p:cNvSpPr/>
          <p:nvPr/>
        </p:nvSpPr>
        <p:spPr>
          <a:xfrm>
            <a:off x="365760" y="493776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4937760"/>
            <a:ext cx="11430000" cy="54864"/>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5074920"/>
            <a:ext cx="10972800" cy="320040"/>
          </a:xfrm>
          <a:prstGeom prst="rect">
            <a:avLst/>
          </a:prstGeom>
          <a:noFill/>
        </p:spPr>
        <p:txBody>
          <a:bodyPr wrap="square"/>
          <a:lstStyle/>
          <a:p>
            <a:pPr algn="l">
              <a:lnSpc>
                <a:spcPct val="120000"/>
              </a:lnSpc>
              <a:spcBef>
                <a:spcPts val="0"/>
              </a:spcBef>
              <a:spcAft>
                <a:spcPts val="0"/>
              </a:spcAft>
              <a:defRPr sz="1600" b="1">
                <a:solidFill>
                  <a:srgbClr val="9B6B9B"/>
                </a:solidFill>
                <a:latin typeface="Calibri"/>
              </a:defRPr>
            </a:pPr>
            <a:r>
              <a:t>06. Competitiveness = Sales Volume + Reviews − Price</a:t>
            </a:r>
          </a:p>
        </p:txBody>
      </p:sp>
      <p:sp>
        <p:nvSpPr>
          <p:cNvPr id="17" name="TextBox 16"/>
          <p:cNvSpPr txBox="1"/>
          <p:nvPr/>
        </p:nvSpPr>
        <p:spPr>
          <a:xfrm>
            <a:off x="594360" y="544068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PCA reduces 5 features to a single competitiveness dimension (PC1 explains 36.7% of variance). Key loadings: </a:t>
            </a:r>
            <a:r>
              <a:rPr dirty="0" err="1"/>
              <a:t>sales_volume</a:t>
            </a:r>
            <a:r>
              <a:rPr dirty="0"/>
              <a:t> (+0.677) and </a:t>
            </a:r>
            <a:r>
              <a:rPr dirty="0" err="1"/>
              <a:t>review_count</a:t>
            </a:r>
            <a:r>
              <a:rPr dirty="0"/>
              <a:t> (+0.644) are positive drivers. Price (−0.320) is the main negative driver. Rating and promotion have minimal impact on competitiveness.</a:t>
            </a:r>
            <a:br>
              <a:rPr dirty="0"/>
            </a:br>
            <a:r>
              <a:rPr dirty="0"/>
              <a:t>Evidence: PC1 correlates at r = 0.92 with sales volume alone — confirming it's a valid composite metric. The top 20 products by competitiveness score are displayed on an interactive leaderboard in the web dashboard.</a:t>
            </a:r>
          </a:p>
        </p:txBody>
      </p:sp>
      <p:sp>
        <p:nvSpPr>
          <p:cNvPr id="18" name="TextBox 1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Seller Recommendations — Part 1 of 2</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Data-backed, actionable strategies with statistical evidence</a:t>
            </a:r>
          </a:p>
        </p:txBody>
      </p:sp>
      <p:sp>
        <p:nvSpPr>
          <p:cNvPr id="6" name="Rectangle 5"/>
          <p:cNvSpPr/>
          <p:nvPr/>
        </p:nvSpPr>
        <p:spPr>
          <a:xfrm>
            <a:off x="365760" y="137160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54864" cy="169164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48640" y="1508760"/>
            <a:ext cx="411480" cy="411480"/>
          </a:xfrm>
          <a:prstGeom prst="ellipse">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dirty="0"/>
              <a:t>1</a:t>
            </a:r>
          </a:p>
        </p:txBody>
      </p:sp>
      <p:sp>
        <p:nvSpPr>
          <p:cNvPr id="9" name="TextBox 8"/>
          <p:cNvSpPr txBox="1"/>
          <p:nvPr/>
        </p:nvSpPr>
        <p:spPr>
          <a:xfrm>
            <a:off x="1097280" y="1508760"/>
            <a:ext cx="5486400" cy="32004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Invest Heavily in Review Generation</a:t>
            </a:r>
          </a:p>
        </p:txBody>
      </p:sp>
      <p:sp>
        <p:nvSpPr>
          <p:cNvPr id="10" name="TextBox 9"/>
          <p:cNvSpPr txBox="1"/>
          <p:nvPr/>
        </p:nvSpPr>
        <p:spPr>
          <a:xfrm>
            <a:off x="1088136" y="1812664"/>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Reviews account for 69.6% of model predictive power (r = +0.725 with sales). This is the single highest-ROI activity for sellers.</a:t>
            </a:r>
            <a:br>
              <a:rPr dirty="0"/>
            </a:br>
            <a:r>
              <a:rPr dirty="0"/>
              <a:t>Action: Implement post-purchase email follow-ups within 7 days. Offer small incentives (loyalty points, coupon for next purchase) for honest reviews. Respond to every negative review publicly and resolve issues. Target: 50+ reviews as the minimum threshold for competitive visibility.</a:t>
            </a:r>
          </a:p>
        </p:txBody>
      </p:sp>
      <p:sp>
        <p:nvSpPr>
          <p:cNvPr id="11" name="Rectangle 10"/>
          <p:cNvSpPr/>
          <p:nvPr/>
        </p:nvSpPr>
        <p:spPr>
          <a:xfrm>
            <a:off x="7772400" y="155448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0" y="157276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Pearson r=+0.725 | RF 69.6% importance | OLS p&lt;0.001</a:t>
            </a:r>
          </a:p>
        </p:txBody>
      </p:sp>
      <p:sp>
        <p:nvSpPr>
          <p:cNvPr id="13" name="Rectangle 12"/>
          <p:cNvSpPr/>
          <p:nvPr/>
        </p:nvSpPr>
        <p:spPr>
          <a:xfrm>
            <a:off x="365760" y="315468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3154680"/>
            <a:ext cx="54864" cy="169164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48640" y="3291840"/>
            <a:ext cx="411480" cy="411480"/>
          </a:xfrm>
          <a:prstGeom prst="ellipse">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dirty="0"/>
              <a:t>2</a:t>
            </a:r>
          </a:p>
        </p:txBody>
      </p:sp>
      <p:sp>
        <p:nvSpPr>
          <p:cNvPr id="16" name="TextBox 15"/>
          <p:cNvSpPr txBox="1"/>
          <p:nvPr/>
        </p:nvSpPr>
        <p:spPr>
          <a:xfrm>
            <a:off x="1097280" y="3291840"/>
            <a:ext cx="5486400" cy="32004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Stop Relying on Discounts — They Don't Work</a:t>
            </a:r>
          </a:p>
        </p:txBody>
      </p:sp>
      <p:sp>
        <p:nvSpPr>
          <p:cNvPr id="17" name="TextBox 16"/>
          <p:cNvSpPr txBox="1"/>
          <p:nvPr/>
        </p:nvSpPr>
        <p:spPr>
          <a:xfrm>
            <a:off x="1097280" y="3630168"/>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Promotion status shows zero significant effect across all analysis methods. r = −0.013, p = 0.76 (OLS), 0.9% RF importance.</a:t>
            </a:r>
            <a:br>
              <a:rPr dirty="0"/>
            </a:br>
            <a:r>
              <a:rPr dirty="0"/>
              <a:t>Action: Redirect discount budget to: (1) better product photography, (2) detailed descriptions with usage guidance, (3) review generation campaigns. If you must discount, use it sparingly for clearance of aging inventory, not as a growth strategy.</a:t>
            </a:r>
          </a:p>
        </p:txBody>
      </p:sp>
      <p:sp>
        <p:nvSpPr>
          <p:cNvPr id="18" name="Rectangle 17"/>
          <p:cNvSpPr/>
          <p:nvPr/>
        </p:nvSpPr>
        <p:spPr>
          <a:xfrm>
            <a:off x="7772400" y="333756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63840" y="335584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Pearson r=-0.013 | OLS p=0.76 (ns) | RF 0.9%</a:t>
            </a:r>
          </a:p>
        </p:txBody>
      </p:sp>
      <p:sp>
        <p:nvSpPr>
          <p:cNvPr id="20" name="Rectangle 19"/>
          <p:cNvSpPr/>
          <p:nvPr/>
        </p:nvSpPr>
        <p:spPr>
          <a:xfrm>
            <a:off x="365760" y="493776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4937760"/>
            <a:ext cx="54864" cy="169164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48640" y="5074920"/>
            <a:ext cx="411480" cy="411480"/>
          </a:xfrm>
          <a:prstGeom prst="ellipse">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dirty="0"/>
              <a:t>3</a:t>
            </a:r>
          </a:p>
        </p:txBody>
      </p:sp>
      <p:sp>
        <p:nvSpPr>
          <p:cNvPr id="23" name="TextBox 22"/>
          <p:cNvSpPr txBox="1"/>
          <p:nvPr/>
        </p:nvSpPr>
        <p:spPr>
          <a:xfrm>
            <a:off x="1097280" y="5074920"/>
            <a:ext cx="5486400" cy="320040"/>
          </a:xfrm>
          <a:prstGeom prst="rect">
            <a:avLst/>
          </a:prstGeom>
          <a:noFill/>
        </p:spPr>
        <p:txBody>
          <a:bodyPr wrap="square"/>
          <a:lstStyle/>
          <a:p>
            <a:pPr algn="l">
              <a:lnSpc>
                <a:spcPct val="120000"/>
              </a:lnSpc>
              <a:spcBef>
                <a:spcPts val="0"/>
              </a:spcBef>
              <a:spcAft>
                <a:spcPts val="0"/>
              </a:spcAft>
              <a:defRPr sz="1600" b="1">
                <a:solidFill>
                  <a:srgbClr val="6B9B9B"/>
                </a:solidFill>
                <a:latin typeface="Calibri"/>
              </a:defRPr>
            </a:pPr>
            <a:r>
              <a:t>Price Strategically Per Category — No Uniform Pricing</a:t>
            </a:r>
          </a:p>
        </p:txBody>
      </p:sp>
      <p:sp>
        <p:nvSpPr>
          <p:cNvPr id="24" name="TextBox 23"/>
          <p:cNvSpPr txBox="1"/>
          <p:nvPr/>
        </p:nvSpPr>
        <p:spPr>
          <a:xfrm>
            <a:off x="1097280" y="5426858"/>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Vegetables optimal: ¥10–25. Tea optimal: ¥50–150. Grains &amp; Oils: ¥25–80. Each category has its own price-sales curve.</a:t>
            </a:r>
            <a:br>
              <a:rPr dirty="0"/>
            </a:br>
            <a:r>
              <a:rPr dirty="0"/>
              <a:t>Action: Use the Price Benchmark tool (</a:t>
            </a:r>
            <a:r>
              <a:rPr dirty="0" err="1"/>
              <a:t>products.html</a:t>
            </a:r>
            <a:r>
              <a:rPr dirty="0"/>
              <a:t>) to check your percentile vs competitors in your specific category. Use the Price Optimization API to find the best-performing range. Never apply the same markup percentage across different categories.</a:t>
            </a:r>
          </a:p>
        </p:txBody>
      </p:sp>
      <p:sp>
        <p:nvSpPr>
          <p:cNvPr id="25" name="Rectangle 24"/>
          <p:cNvSpPr/>
          <p:nvPr/>
        </p:nvSpPr>
        <p:spPr>
          <a:xfrm>
            <a:off x="7772400" y="512064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513892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Category-specific | Benchmark tool | Price-optimum API</a:t>
            </a:r>
          </a:p>
        </p:txBody>
      </p:sp>
      <p:sp>
        <p:nvSpPr>
          <p:cNvPr id="27" name="TextBox 26"/>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Seller Recommendations — Part 2 of 2</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Market positioning, category strategy, and predictive decision-making</a:t>
            </a:r>
          </a:p>
        </p:txBody>
      </p:sp>
      <p:sp>
        <p:nvSpPr>
          <p:cNvPr id="6" name="Rectangle 5"/>
          <p:cNvSpPr/>
          <p:nvPr/>
        </p:nvSpPr>
        <p:spPr>
          <a:xfrm>
            <a:off x="365760" y="137160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54864" cy="169164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48640" y="1508760"/>
            <a:ext cx="411480" cy="411480"/>
          </a:xfrm>
          <a:prstGeom prst="ellipse">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dirty="0"/>
              <a:t>4</a:t>
            </a:r>
          </a:p>
        </p:txBody>
      </p:sp>
      <p:sp>
        <p:nvSpPr>
          <p:cNvPr id="9" name="TextBox 8"/>
          <p:cNvSpPr txBox="1"/>
          <p:nvPr/>
        </p:nvSpPr>
        <p:spPr>
          <a:xfrm>
            <a:off x="1097280" y="1508760"/>
            <a:ext cx="5486400" cy="320040"/>
          </a:xfrm>
          <a:prstGeom prst="rect">
            <a:avLst/>
          </a:prstGeom>
          <a:noFill/>
        </p:spPr>
        <p:txBody>
          <a:bodyPr wrap="square"/>
          <a:lstStyle/>
          <a:p>
            <a:pPr algn="l">
              <a:lnSpc>
                <a:spcPct val="120000"/>
              </a:lnSpc>
              <a:spcBef>
                <a:spcPts val="0"/>
              </a:spcBef>
              <a:spcAft>
                <a:spcPts val="0"/>
              </a:spcAft>
              <a:defRPr sz="1600" b="1">
                <a:solidFill>
                  <a:srgbClr val="D4A853"/>
                </a:solidFill>
                <a:latin typeface="Calibri"/>
              </a:defRPr>
            </a:pPr>
            <a:r>
              <a:t>Position New Products in the Mid-range Stable Segment</a:t>
            </a:r>
          </a:p>
        </p:txBody>
      </p:sp>
      <p:sp>
        <p:nvSpPr>
          <p:cNvPr id="10" name="TextBox 9"/>
          <p:cNvSpPr txBox="1"/>
          <p:nvPr/>
        </p:nvSpPr>
        <p:spPr>
          <a:xfrm>
            <a:off x="1097280" y="1835180"/>
            <a:ext cx="658368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41% of the market occupies this segment (¥45 avg, rating 4.66). It represents the market equilibrium — highest customer satisfaction, stable volumes, sustainable pricing.</a:t>
            </a:r>
            <a:br>
              <a:rPr dirty="0"/>
            </a:br>
            <a:r>
              <a:rPr dirty="0"/>
              <a:t>Action: For new product listings, target ¥35–55 pricing with a goal of achieving 4.5+ rating through quality and service. Once established with 100+ reviews, evaluate whether to move upmarket (Premium Niche) or pursue volume (Budget High-Volume) based on your margin structure.</a:t>
            </a:r>
          </a:p>
        </p:txBody>
      </p:sp>
      <p:sp>
        <p:nvSpPr>
          <p:cNvPr id="11" name="Rectangle 10"/>
          <p:cNvSpPr/>
          <p:nvPr/>
        </p:nvSpPr>
        <p:spPr>
          <a:xfrm>
            <a:off x="7772400" y="155448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0" y="157276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41% of market | Rating 4.66 | ¥45 avg</a:t>
            </a:r>
          </a:p>
        </p:txBody>
      </p:sp>
      <p:sp>
        <p:nvSpPr>
          <p:cNvPr id="13" name="Rectangle 12"/>
          <p:cNvSpPr/>
          <p:nvPr/>
        </p:nvSpPr>
        <p:spPr>
          <a:xfrm>
            <a:off x="365760" y="315468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3154680"/>
            <a:ext cx="54864" cy="169164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48640" y="3291840"/>
            <a:ext cx="411480" cy="411480"/>
          </a:xfrm>
          <a:prstGeom prst="ellipse">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dirty="0"/>
              <a:t>5</a:t>
            </a:r>
          </a:p>
        </p:txBody>
      </p:sp>
      <p:sp>
        <p:nvSpPr>
          <p:cNvPr id="16" name="TextBox 15"/>
          <p:cNvSpPr txBox="1"/>
          <p:nvPr/>
        </p:nvSpPr>
        <p:spPr>
          <a:xfrm>
            <a:off x="1097280" y="3291840"/>
            <a:ext cx="5486400" cy="32004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Match Your Strategy to Category Dynamics</a:t>
            </a:r>
          </a:p>
        </p:txBody>
      </p:sp>
      <p:sp>
        <p:nvSpPr>
          <p:cNvPr id="17" name="TextBox 16"/>
          <p:cNvSpPr txBox="1"/>
          <p:nvPr/>
        </p:nvSpPr>
        <p:spPr>
          <a:xfrm>
            <a:off x="1097280" y="3611880"/>
            <a:ext cx="667512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Vegetables: volume play — optimize for turnover, competitive pricing, high review velocity. Tea: premium play — invest in packaging, brand storytelling, origin certification. Grains &amp; Oils: reliability play — consistency, bulk options, subscription potential.</a:t>
            </a:r>
            <a:br>
              <a:rPr dirty="0"/>
            </a:br>
            <a:r>
              <a:rPr dirty="0"/>
              <a:t>Action: Do not use the same playbook across categories. Segment your product portfolio by category dynamics and apply differentiated strategies for pricing, marketing, and review generation.</a:t>
            </a:r>
          </a:p>
        </p:txBody>
      </p:sp>
      <p:sp>
        <p:nvSpPr>
          <p:cNvPr id="18" name="Rectangle 17"/>
          <p:cNvSpPr/>
          <p:nvPr/>
        </p:nvSpPr>
        <p:spPr>
          <a:xfrm>
            <a:off x="7772400" y="333756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63840" y="335584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Category-specific | Differentiated strategy</a:t>
            </a:r>
          </a:p>
        </p:txBody>
      </p:sp>
      <p:sp>
        <p:nvSpPr>
          <p:cNvPr id="20" name="Rectangle 19"/>
          <p:cNvSpPr/>
          <p:nvPr/>
        </p:nvSpPr>
        <p:spPr>
          <a:xfrm>
            <a:off x="365760" y="493776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4937760"/>
            <a:ext cx="54864" cy="169164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48640" y="5074920"/>
            <a:ext cx="411480" cy="411480"/>
          </a:xfrm>
          <a:prstGeom prst="ellipse">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dirty="0"/>
              <a:t>6</a:t>
            </a:r>
          </a:p>
        </p:txBody>
      </p:sp>
      <p:sp>
        <p:nvSpPr>
          <p:cNvPr id="23" name="TextBox 22"/>
          <p:cNvSpPr txBox="1"/>
          <p:nvPr/>
        </p:nvSpPr>
        <p:spPr>
          <a:xfrm>
            <a:off x="1097280" y="5074920"/>
            <a:ext cx="548640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Use the Prediction Tool Before Listing Any Product</a:t>
            </a:r>
          </a:p>
        </p:txBody>
      </p:sp>
      <p:sp>
        <p:nvSpPr>
          <p:cNvPr id="24" name="TextBox 23"/>
          <p:cNvSpPr txBox="1"/>
          <p:nvPr/>
        </p:nvSpPr>
        <p:spPr>
          <a:xfrm>
            <a:off x="1097280" y="5542753"/>
            <a:ext cx="10643616"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dirty="0"/>
              <a:t>The Random Forest model (R²=0.709) can estimate expected monthly sales before you commit to inventory, pricing, and marketing spend. The price optimization tip shows the best-performing range from historical data.</a:t>
            </a:r>
            <a:br>
              <a:rPr dirty="0"/>
            </a:br>
            <a:r>
              <a:rPr dirty="0"/>
              <a:t>Action: Before listing a new product: (1) enter target price and expected rating into the prediction widget, (2) adjust price until predicted sales meets your volume target, (3) check the price optimization tip for category-specific guidance, (4) use the benchmark tool to see your competitive position.</a:t>
            </a:r>
          </a:p>
        </p:txBody>
      </p:sp>
      <p:sp>
        <p:nvSpPr>
          <p:cNvPr id="25" name="Rectangle 24"/>
          <p:cNvSpPr/>
          <p:nvPr/>
        </p:nvSpPr>
        <p:spPr>
          <a:xfrm>
            <a:off x="7772400" y="512064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513892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RF R²=0.709 | Predict API | Benchmark tool</a:t>
            </a:r>
          </a:p>
        </p:txBody>
      </p:sp>
      <p:sp>
        <p:nvSpPr>
          <p:cNvPr id="27" name="TextBox 26"/>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Project Performance — Requirements vs Achievements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Every requirement exceeded: data 2×, charts 1.8×, modules 1.4× over minimum thresholds</a:t>
            </a:r>
          </a:p>
        </p:txBody>
      </p:sp>
      <p:sp>
        <p:nvSpPr>
          <p:cNvPr id="6" name="Rectangle 5"/>
          <p:cNvSpPr/>
          <p:nvPr/>
        </p:nvSpPr>
        <p:spPr>
          <a:xfrm>
            <a:off x="274320" y="1417320"/>
            <a:ext cx="11612880" cy="384048"/>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463040"/>
            <a:ext cx="2743200" cy="274320"/>
          </a:xfrm>
          <a:prstGeom prst="rect">
            <a:avLst/>
          </a:prstGeom>
          <a:noFill/>
        </p:spPr>
        <p:txBody>
          <a:bodyPr wrap="square"/>
          <a:lstStyle/>
          <a:p>
            <a:pPr algn="l">
              <a:lnSpc>
                <a:spcPct val="120000"/>
              </a:lnSpc>
              <a:spcBef>
                <a:spcPts val="0"/>
              </a:spcBef>
              <a:spcAft>
                <a:spcPts val="0"/>
              </a:spcAft>
              <a:defRPr sz="1300" b="1">
                <a:solidFill>
                  <a:srgbClr val="FFFFFF"/>
                </a:solidFill>
                <a:latin typeface="Calibri"/>
              </a:defRPr>
            </a:pPr>
            <a:r>
              <a:t>Indicator</a:t>
            </a:r>
          </a:p>
        </p:txBody>
      </p:sp>
      <p:sp>
        <p:nvSpPr>
          <p:cNvPr id="8" name="TextBox 7"/>
          <p:cNvSpPr txBox="1"/>
          <p:nvPr/>
        </p:nvSpPr>
        <p:spPr>
          <a:xfrm>
            <a:off x="3200400" y="1463040"/>
            <a:ext cx="2286000" cy="274320"/>
          </a:xfrm>
          <a:prstGeom prst="rect">
            <a:avLst/>
          </a:prstGeom>
          <a:noFill/>
        </p:spPr>
        <p:txBody>
          <a:bodyPr wrap="square"/>
          <a:lstStyle/>
          <a:p>
            <a:pPr algn="ctr">
              <a:lnSpc>
                <a:spcPct val="120000"/>
              </a:lnSpc>
              <a:spcBef>
                <a:spcPts val="0"/>
              </a:spcBef>
              <a:spcAft>
                <a:spcPts val="0"/>
              </a:spcAft>
              <a:defRPr sz="1300" b="1">
                <a:solidFill>
                  <a:srgbClr val="FFFFFF"/>
                </a:solidFill>
                <a:latin typeface="Calibri"/>
              </a:defRPr>
            </a:pPr>
            <a:r>
              <a:t>Required</a:t>
            </a:r>
          </a:p>
        </p:txBody>
      </p:sp>
      <p:sp>
        <p:nvSpPr>
          <p:cNvPr id="9" name="TextBox 8"/>
          <p:cNvSpPr txBox="1"/>
          <p:nvPr/>
        </p:nvSpPr>
        <p:spPr>
          <a:xfrm>
            <a:off x="5577840" y="1463040"/>
            <a:ext cx="3474720" cy="274320"/>
          </a:xfrm>
          <a:prstGeom prst="rect">
            <a:avLst/>
          </a:prstGeom>
          <a:noFill/>
        </p:spPr>
        <p:txBody>
          <a:bodyPr wrap="square"/>
          <a:lstStyle/>
          <a:p>
            <a:pPr algn="ctr">
              <a:lnSpc>
                <a:spcPct val="120000"/>
              </a:lnSpc>
              <a:spcBef>
                <a:spcPts val="0"/>
              </a:spcBef>
              <a:spcAft>
                <a:spcPts val="0"/>
              </a:spcAft>
              <a:defRPr sz="1300" b="1">
                <a:solidFill>
                  <a:srgbClr val="FFFFFF"/>
                </a:solidFill>
                <a:latin typeface="Calibri"/>
              </a:defRPr>
            </a:pPr>
            <a:r>
              <a:t>Achieved</a:t>
            </a:r>
          </a:p>
        </p:txBody>
      </p:sp>
      <p:sp>
        <p:nvSpPr>
          <p:cNvPr id="10" name="TextBox 9"/>
          <p:cNvSpPr txBox="1"/>
          <p:nvPr/>
        </p:nvSpPr>
        <p:spPr>
          <a:xfrm>
            <a:off x="9235440" y="1463040"/>
            <a:ext cx="2468880" cy="274320"/>
          </a:xfrm>
          <a:prstGeom prst="rect">
            <a:avLst/>
          </a:prstGeom>
          <a:noFill/>
        </p:spPr>
        <p:txBody>
          <a:bodyPr wrap="square"/>
          <a:lstStyle/>
          <a:p>
            <a:pPr algn="ctr">
              <a:lnSpc>
                <a:spcPct val="120000"/>
              </a:lnSpc>
              <a:spcBef>
                <a:spcPts val="0"/>
              </a:spcBef>
              <a:spcAft>
                <a:spcPts val="0"/>
              </a:spcAft>
              <a:defRPr sz="1300" b="1">
                <a:solidFill>
                  <a:srgbClr val="FFFFFF"/>
                </a:solidFill>
                <a:latin typeface="Calibri"/>
              </a:defRPr>
            </a:pPr>
            <a:r>
              <a:t>Status</a:t>
            </a:r>
          </a:p>
        </p:txBody>
      </p:sp>
      <p:sp>
        <p:nvSpPr>
          <p:cNvPr id="11" name="Rectangle 10"/>
          <p:cNvSpPr/>
          <p:nvPr/>
        </p:nvSpPr>
        <p:spPr>
          <a:xfrm>
            <a:off x="274320" y="1801368"/>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47088"/>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Records</a:t>
            </a:r>
          </a:p>
        </p:txBody>
      </p:sp>
      <p:sp>
        <p:nvSpPr>
          <p:cNvPr id="13" name="TextBox 12"/>
          <p:cNvSpPr txBox="1"/>
          <p:nvPr/>
        </p:nvSpPr>
        <p:spPr>
          <a:xfrm>
            <a:off x="3200400" y="1847088"/>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1,500</a:t>
            </a:r>
          </a:p>
        </p:txBody>
      </p:sp>
      <p:sp>
        <p:nvSpPr>
          <p:cNvPr id="14" name="TextBox 13"/>
          <p:cNvSpPr txBox="1"/>
          <p:nvPr/>
        </p:nvSpPr>
        <p:spPr>
          <a:xfrm>
            <a:off x="5577840" y="1847088"/>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3,000 raw / 2,921 cleaned</a:t>
            </a:r>
          </a:p>
        </p:txBody>
      </p:sp>
      <p:sp>
        <p:nvSpPr>
          <p:cNvPr id="15" name="TextBox 14"/>
          <p:cNvSpPr txBox="1"/>
          <p:nvPr/>
        </p:nvSpPr>
        <p:spPr>
          <a:xfrm>
            <a:off x="9235440" y="1847088"/>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2× exceeded</a:t>
            </a:r>
          </a:p>
        </p:txBody>
      </p:sp>
      <p:sp>
        <p:nvSpPr>
          <p:cNvPr id="16" name="Rectangle 15"/>
          <p:cNvSpPr/>
          <p:nvPr/>
        </p:nvSpPr>
        <p:spPr>
          <a:xfrm>
            <a:off x="274320" y="2176272"/>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2221992"/>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Fields</a:t>
            </a:r>
          </a:p>
        </p:txBody>
      </p:sp>
      <p:sp>
        <p:nvSpPr>
          <p:cNvPr id="18" name="TextBox 17"/>
          <p:cNvSpPr txBox="1"/>
          <p:nvPr/>
        </p:nvSpPr>
        <p:spPr>
          <a:xfrm>
            <a:off x="3200400" y="2221992"/>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12 recommended</a:t>
            </a:r>
          </a:p>
        </p:txBody>
      </p:sp>
      <p:sp>
        <p:nvSpPr>
          <p:cNvPr id="19" name="TextBox 18"/>
          <p:cNvSpPr txBox="1"/>
          <p:nvPr/>
        </p:nvSpPr>
        <p:spPr>
          <a:xfrm>
            <a:off x="5577840" y="2221992"/>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13 original + 5 derived (18)</a:t>
            </a:r>
          </a:p>
        </p:txBody>
      </p:sp>
      <p:sp>
        <p:nvSpPr>
          <p:cNvPr id="20" name="TextBox 19"/>
          <p:cNvSpPr txBox="1"/>
          <p:nvPr/>
        </p:nvSpPr>
        <p:spPr>
          <a:xfrm>
            <a:off x="9235440" y="2221992"/>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Exceeded</a:t>
            </a:r>
          </a:p>
        </p:txBody>
      </p:sp>
      <p:sp>
        <p:nvSpPr>
          <p:cNvPr id="21" name="Rectangle 20"/>
          <p:cNvSpPr/>
          <p:nvPr/>
        </p:nvSpPr>
        <p:spPr>
          <a:xfrm>
            <a:off x="274320" y="2551176"/>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2596896"/>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Analysis Methods</a:t>
            </a:r>
          </a:p>
        </p:txBody>
      </p:sp>
      <p:sp>
        <p:nvSpPr>
          <p:cNvPr id="23" name="TextBox 22"/>
          <p:cNvSpPr txBox="1"/>
          <p:nvPr/>
        </p:nvSpPr>
        <p:spPr>
          <a:xfrm>
            <a:off x="3200400" y="2596896"/>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4</a:t>
            </a:r>
          </a:p>
        </p:txBody>
      </p:sp>
      <p:sp>
        <p:nvSpPr>
          <p:cNvPr id="24" name="TextBox 23"/>
          <p:cNvSpPr txBox="1"/>
          <p:nvPr/>
        </p:nvSpPr>
        <p:spPr>
          <a:xfrm>
            <a:off x="5577840" y="2596896"/>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5 (Desc, Corr, Reg, Clust, PCA)</a:t>
            </a:r>
          </a:p>
        </p:txBody>
      </p:sp>
      <p:sp>
        <p:nvSpPr>
          <p:cNvPr id="25" name="TextBox 24"/>
          <p:cNvSpPr txBox="1"/>
          <p:nvPr/>
        </p:nvSpPr>
        <p:spPr>
          <a:xfrm>
            <a:off x="9235440" y="2596896"/>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Exceeded</a:t>
            </a:r>
          </a:p>
        </p:txBody>
      </p:sp>
      <p:sp>
        <p:nvSpPr>
          <p:cNvPr id="26" name="Rectangle 25"/>
          <p:cNvSpPr/>
          <p:nvPr/>
        </p:nvSpPr>
        <p:spPr>
          <a:xfrm>
            <a:off x="274320" y="2926080"/>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2971800"/>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Charts Generated</a:t>
            </a:r>
          </a:p>
        </p:txBody>
      </p:sp>
      <p:sp>
        <p:nvSpPr>
          <p:cNvPr id="28" name="TextBox 27"/>
          <p:cNvSpPr txBox="1"/>
          <p:nvPr/>
        </p:nvSpPr>
        <p:spPr>
          <a:xfrm>
            <a:off x="3200400" y="2971800"/>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9</a:t>
            </a:r>
          </a:p>
        </p:txBody>
      </p:sp>
      <p:sp>
        <p:nvSpPr>
          <p:cNvPr id="29" name="TextBox 28"/>
          <p:cNvSpPr txBox="1"/>
          <p:nvPr/>
        </p:nvSpPr>
        <p:spPr>
          <a:xfrm>
            <a:off x="5577840" y="2971800"/>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16 PNG + live ECharts in web</a:t>
            </a:r>
          </a:p>
        </p:txBody>
      </p:sp>
      <p:sp>
        <p:nvSpPr>
          <p:cNvPr id="30" name="TextBox 29"/>
          <p:cNvSpPr txBox="1"/>
          <p:nvPr/>
        </p:nvSpPr>
        <p:spPr>
          <a:xfrm>
            <a:off x="9235440" y="2971800"/>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1.8× exceeded</a:t>
            </a:r>
          </a:p>
        </p:txBody>
      </p:sp>
      <p:sp>
        <p:nvSpPr>
          <p:cNvPr id="31" name="Rectangle 30"/>
          <p:cNvSpPr/>
          <p:nvPr/>
        </p:nvSpPr>
        <p:spPr>
          <a:xfrm>
            <a:off x="274320" y="3300984"/>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 y="3346704"/>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Web System Modules</a:t>
            </a:r>
          </a:p>
        </p:txBody>
      </p:sp>
      <p:sp>
        <p:nvSpPr>
          <p:cNvPr id="33" name="TextBox 32"/>
          <p:cNvSpPr txBox="1"/>
          <p:nvPr/>
        </p:nvSpPr>
        <p:spPr>
          <a:xfrm>
            <a:off x="3200400" y="3346704"/>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7 required</a:t>
            </a:r>
          </a:p>
        </p:txBody>
      </p:sp>
      <p:sp>
        <p:nvSpPr>
          <p:cNvPr id="34" name="TextBox 33"/>
          <p:cNvSpPr txBox="1"/>
          <p:nvPr/>
        </p:nvSpPr>
        <p:spPr>
          <a:xfrm>
            <a:off x="5577840" y="3346704"/>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10 implemented (3 bonus)</a:t>
            </a:r>
          </a:p>
        </p:txBody>
      </p:sp>
      <p:sp>
        <p:nvSpPr>
          <p:cNvPr id="35" name="TextBox 34"/>
          <p:cNvSpPr txBox="1"/>
          <p:nvPr/>
        </p:nvSpPr>
        <p:spPr>
          <a:xfrm>
            <a:off x="9235440" y="3346704"/>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1.4× exceeded</a:t>
            </a:r>
          </a:p>
        </p:txBody>
      </p:sp>
      <p:sp>
        <p:nvSpPr>
          <p:cNvPr id="36" name="Rectangle 35"/>
          <p:cNvSpPr/>
          <p:nvPr/>
        </p:nvSpPr>
        <p:spPr>
          <a:xfrm>
            <a:off x="274320" y="3675888"/>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3721608"/>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Prediction Model R²</a:t>
            </a:r>
          </a:p>
        </p:txBody>
      </p:sp>
      <p:sp>
        <p:nvSpPr>
          <p:cNvPr id="38" name="TextBox 37"/>
          <p:cNvSpPr txBox="1"/>
          <p:nvPr/>
        </p:nvSpPr>
        <p:spPr>
          <a:xfrm>
            <a:off x="3200400" y="3721608"/>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0.50</a:t>
            </a:r>
          </a:p>
        </p:txBody>
      </p:sp>
      <p:sp>
        <p:nvSpPr>
          <p:cNvPr id="39" name="TextBox 38"/>
          <p:cNvSpPr txBox="1"/>
          <p:nvPr/>
        </p:nvSpPr>
        <p:spPr>
          <a:xfrm>
            <a:off x="5577840" y="3721608"/>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R² = 0.709 (Random Forest)</a:t>
            </a:r>
          </a:p>
        </p:txBody>
      </p:sp>
      <p:sp>
        <p:nvSpPr>
          <p:cNvPr id="40" name="TextBox 39"/>
          <p:cNvSpPr txBox="1"/>
          <p:nvPr/>
        </p:nvSpPr>
        <p:spPr>
          <a:xfrm>
            <a:off x="9235440" y="3721608"/>
            <a:ext cx="2468880" cy="256032"/>
          </a:xfrm>
          <a:prstGeom prst="rect">
            <a:avLst/>
          </a:prstGeom>
          <a:noFill/>
        </p:spPr>
        <p:txBody>
          <a:bodyPr wrap="square"/>
          <a:lstStyle/>
          <a:p>
            <a:pPr algn="ctr">
              <a:lnSpc>
                <a:spcPct val="120000"/>
              </a:lnSpc>
              <a:spcBef>
                <a:spcPts val="0"/>
              </a:spcBef>
              <a:spcAft>
                <a:spcPts val="0"/>
              </a:spcAft>
              <a:defRPr sz="1200" b="1">
                <a:solidFill>
                  <a:srgbClr val="5C7A4E"/>
                </a:solidFill>
                <a:latin typeface="Calibri"/>
              </a:defRPr>
            </a:pPr>
            <a:r>
              <a:t>✅ Exceeded</a:t>
            </a:r>
          </a:p>
        </p:txBody>
      </p:sp>
      <p:sp>
        <p:nvSpPr>
          <p:cNvPr id="41" name="Rectangle 40"/>
          <p:cNvSpPr/>
          <p:nvPr/>
        </p:nvSpPr>
        <p:spPr>
          <a:xfrm>
            <a:off x="274320" y="4050792"/>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4096512"/>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API Response Time</a:t>
            </a:r>
          </a:p>
        </p:txBody>
      </p:sp>
      <p:sp>
        <p:nvSpPr>
          <p:cNvPr id="43" name="TextBox 42"/>
          <p:cNvSpPr txBox="1"/>
          <p:nvPr/>
        </p:nvSpPr>
        <p:spPr>
          <a:xfrm>
            <a:off x="3200400" y="4096512"/>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&lt; 500ms</a:t>
            </a:r>
          </a:p>
        </p:txBody>
      </p:sp>
      <p:sp>
        <p:nvSpPr>
          <p:cNvPr id="44" name="TextBox 43"/>
          <p:cNvSpPr txBox="1"/>
          <p:nvPr/>
        </p:nvSpPr>
        <p:spPr>
          <a:xfrm>
            <a:off x="5577840" y="4096512"/>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&lt; 100ms (SQLite, localhost)</a:t>
            </a:r>
          </a:p>
        </p:txBody>
      </p:sp>
      <p:sp>
        <p:nvSpPr>
          <p:cNvPr id="45" name="TextBox 44"/>
          <p:cNvSpPr txBox="1"/>
          <p:nvPr/>
        </p:nvSpPr>
        <p:spPr>
          <a:xfrm>
            <a:off x="9235440" y="4096512"/>
            <a:ext cx="2468880" cy="256032"/>
          </a:xfrm>
          <a:prstGeom prst="rect">
            <a:avLst/>
          </a:prstGeom>
          <a:noFill/>
        </p:spPr>
        <p:txBody>
          <a:bodyPr wrap="square"/>
          <a:lstStyle/>
          <a:p>
            <a:pPr algn="ctr">
              <a:lnSpc>
                <a:spcPct val="120000"/>
              </a:lnSpc>
              <a:spcBef>
                <a:spcPts val="0"/>
              </a:spcBef>
              <a:spcAft>
                <a:spcPts val="0"/>
              </a:spcAft>
              <a:defRPr sz="1200" b="1">
                <a:solidFill>
                  <a:srgbClr val="5C7A4E"/>
                </a:solidFill>
                <a:latin typeface="Calibri"/>
              </a:defRPr>
            </a:pPr>
            <a:r>
              <a:t>✅ Exceeded</a:t>
            </a:r>
          </a:p>
        </p:txBody>
      </p:sp>
      <p:sp>
        <p:nvSpPr>
          <p:cNvPr id="46" name="Rectangle 45"/>
          <p:cNvSpPr/>
          <p:nvPr/>
        </p:nvSpPr>
        <p:spPr>
          <a:xfrm>
            <a:off x="274320" y="4425696"/>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471416"/>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Report Word Count</a:t>
            </a:r>
          </a:p>
        </p:txBody>
      </p:sp>
      <p:sp>
        <p:nvSpPr>
          <p:cNvPr id="48" name="TextBox 47"/>
          <p:cNvSpPr txBox="1"/>
          <p:nvPr/>
        </p:nvSpPr>
        <p:spPr>
          <a:xfrm>
            <a:off x="3200400" y="4471416"/>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2,000 words</a:t>
            </a:r>
          </a:p>
        </p:txBody>
      </p:sp>
      <p:sp>
        <p:nvSpPr>
          <p:cNvPr id="49" name="TextBox 48"/>
          <p:cNvSpPr txBox="1"/>
          <p:nvPr/>
        </p:nvSpPr>
        <p:spPr>
          <a:xfrm>
            <a:off x="5577840" y="4471416"/>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6-chapter comprehensive report</a:t>
            </a:r>
          </a:p>
        </p:txBody>
      </p:sp>
      <p:sp>
        <p:nvSpPr>
          <p:cNvPr id="50" name="TextBox 49"/>
          <p:cNvSpPr txBox="1"/>
          <p:nvPr/>
        </p:nvSpPr>
        <p:spPr>
          <a:xfrm>
            <a:off x="9235440" y="4471416"/>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Substantially</a:t>
            </a:r>
          </a:p>
        </p:txBody>
      </p:sp>
      <p:sp>
        <p:nvSpPr>
          <p:cNvPr id="51" name="Rectangle 50"/>
          <p:cNvSpPr/>
          <p:nvPr/>
        </p:nvSpPr>
        <p:spPr>
          <a:xfrm>
            <a:off x="274320" y="4800600"/>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46320"/>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API Endpoints</a:t>
            </a:r>
          </a:p>
        </p:txBody>
      </p:sp>
      <p:sp>
        <p:nvSpPr>
          <p:cNvPr id="53" name="TextBox 52"/>
          <p:cNvSpPr txBox="1"/>
          <p:nvPr/>
        </p:nvSpPr>
        <p:spPr>
          <a:xfrm>
            <a:off x="3200400" y="4846320"/>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Not specified</a:t>
            </a:r>
          </a:p>
        </p:txBody>
      </p:sp>
      <p:sp>
        <p:nvSpPr>
          <p:cNvPr id="54" name="TextBox 53"/>
          <p:cNvSpPr txBox="1"/>
          <p:nvPr/>
        </p:nvSpPr>
        <p:spPr>
          <a:xfrm>
            <a:off x="5577840" y="4846320"/>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11 RESTful endpoints</a:t>
            </a:r>
          </a:p>
        </p:txBody>
      </p:sp>
      <p:sp>
        <p:nvSpPr>
          <p:cNvPr id="55" name="TextBox 54"/>
          <p:cNvSpPr txBox="1"/>
          <p:nvPr/>
        </p:nvSpPr>
        <p:spPr>
          <a:xfrm>
            <a:off x="9235440" y="4846320"/>
            <a:ext cx="2468880" cy="256032"/>
          </a:xfrm>
          <a:prstGeom prst="rect">
            <a:avLst/>
          </a:prstGeom>
          <a:noFill/>
        </p:spPr>
        <p:txBody>
          <a:bodyPr wrap="square"/>
          <a:lstStyle/>
          <a:p>
            <a:pPr algn="ctr">
              <a:lnSpc>
                <a:spcPct val="120000"/>
              </a:lnSpc>
              <a:spcBef>
                <a:spcPts val="0"/>
              </a:spcBef>
              <a:spcAft>
                <a:spcPts val="0"/>
              </a:spcAft>
              <a:defRPr sz="1200" b="1">
                <a:solidFill>
                  <a:srgbClr val="6B9B9B"/>
                </a:solidFill>
                <a:latin typeface="Calibri"/>
              </a:defRPr>
            </a:pPr>
            <a:r>
              <a:t>✅ Complete</a:t>
            </a:r>
          </a:p>
        </p:txBody>
      </p:sp>
      <p:sp>
        <p:nvSpPr>
          <p:cNvPr id="56" name="Rectangle 55"/>
          <p:cNvSpPr/>
          <p:nvPr/>
        </p:nvSpPr>
        <p:spPr>
          <a:xfrm>
            <a:off x="274320" y="5175504"/>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65760" y="5221224"/>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Frontend Pages</a:t>
            </a:r>
          </a:p>
        </p:txBody>
      </p:sp>
      <p:sp>
        <p:nvSpPr>
          <p:cNvPr id="58" name="TextBox 57"/>
          <p:cNvSpPr txBox="1"/>
          <p:nvPr/>
        </p:nvSpPr>
        <p:spPr>
          <a:xfrm>
            <a:off x="3200400" y="5221224"/>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Not specified</a:t>
            </a:r>
          </a:p>
        </p:txBody>
      </p:sp>
      <p:sp>
        <p:nvSpPr>
          <p:cNvPr id="59" name="TextBox 58"/>
          <p:cNvSpPr txBox="1"/>
          <p:nvPr/>
        </p:nvSpPr>
        <p:spPr>
          <a:xfrm>
            <a:off x="5577840" y="5221224"/>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12 interactive web pages</a:t>
            </a:r>
          </a:p>
        </p:txBody>
      </p:sp>
      <p:sp>
        <p:nvSpPr>
          <p:cNvPr id="60" name="TextBox 59"/>
          <p:cNvSpPr txBox="1"/>
          <p:nvPr/>
        </p:nvSpPr>
        <p:spPr>
          <a:xfrm>
            <a:off x="9235440" y="5221224"/>
            <a:ext cx="2468880" cy="256032"/>
          </a:xfrm>
          <a:prstGeom prst="rect">
            <a:avLst/>
          </a:prstGeom>
          <a:noFill/>
        </p:spPr>
        <p:txBody>
          <a:bodyPr wrap="square"/>
          <a:lstStyle/>
          <a:p>
            <a:pPr algn="ctr">
              <a:lnSpc>
                <a:spcPct val="120000"/>
              </a:lnSpc>
              <a:spcBef>
                <a:spcPts val="0"/>
              </a:spcBef>
              <a:spcAft>
                <a:spcPts val="0"/>
              </a:spcAft>
              <a:defRPr sz="1200" b="1">
                <a:solidFill>
                  <a:srgbClr val="6B9B9B"/>
                </a:solidFill>
                <a:latin typeface="Calibri"/>
              </a:defRPr>
            </a:pPr>
            <a:r>
              <a:t>✅ Complete</a:t>
            </a:r>
          </a:p>
        </p:txBody>
      </p:sp>
      <p:sp>
        <p:nvSpPr>
          <p:cNvPr id="61" name="Rectangle 60"/>
          <p:cNvSpPr/>
          <p:nvPr/>
        </p:nvSpPr>
        <p:spPr>
          <a:xfrm>
            <a:off x="274320" y="5550408"/>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65760" y="5596128"/>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Bilingual Support</a:t>
            </a:r>
          </a:p>
        </p:txBody>
      </p:sp>
      <p:sp>
        <p:nvSpPr>
          <p:cNvPr id="63" name="TextBox 62"/>
          <p:cNvSpPr txBox="1"/>
          <p:nvPr/>
        </p:nvSpPr>
        <p:spPr>
          <a:xfrm>
            <a:off x="3200400" y="5596128"/>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Not specified</a:t>
            </a:r>
          </a:p>
        </p:txBody>
      </p:sp>
      <p:sp>
        <p:nvSpPr>
          <p:cNvPr id="64" name="TextBox 63"/>
          <p:cNvSpPr txBox="1"/>
          <p:nvPr/>
        </p:nvSpPr>
        <p:spPr>
          <a:xfrm>
            <a:off x="5577840" y="5596128"/>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Chinese + English on all pages</a:t>
            </a:r>
          </a:p>
        </p:txBody>
      </p:sp>
      <p:sp>
        <p:nvSpPr>
          <p:cNvPr id="65" name="TextBox 64"/>
          <p:cNvSpPr txBox="1"/>
          <p:nvPr/>
        </p:nvSpPr>
        <p:spPr>
          <a:xfrm>
            <a:off x="9235440" y="5596128"/>
            <a:ext cx="2468880" cy="256032"/>
          </a:xfrm>
          <a:prstGeom prst="rect">
            <a:avLst/>
          </a:prstGeom>
          <a:noFill/>
        </p:spPr>
        <p:txBody>
          <a:bodyPr wrap="square"/>
          <a:lstStyle/>
          <a:p>
            <a:pPr algn="ctr">
              <a:lnSpc>
                <a:spcPct val="120000"/>
              </a:lnSpc>
              <a:spcBef>
                <a:spcPts val="0"/>
              </a:spcBef>
              <a:spcAft>
                <a:spcPts val="0"/>
              </a:spcAft>
              <a:defRPr sz="1200" b="1">
                <a:solidFill>
                  <a:srgbClr val="6B9B9B"/>
                </a:solidFill>
                <a:latin typeface="Calibri"/>
              </a:defRPr>
            </a:pPr>
            <a:r>
              <a:t>✅ Complete</a:t>
            </a:r>
          </a:p>
        </p:txBody>
      </p:sp>
      <p:sp>
        <p:nvSpPr>
          <p:cNvPr id="66" name="Rectangle 65"/>
          <p:cNvSpPr/>
          <p:nvPr/>
        </p:nvSpPr>
        <p:spPr>
          <a:xfrm>
            <a:off x="274320" y="5925312"/>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65760" y="5971032"/>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Pipeline Tests</a:t>
            </a:r>
          </a:p>
        </p:txBody>
      </p:sp>
      <p:sp>
        <p:nvSpPr>
          <p:cNvPr id="68" name="TextBox 67"/>
          <p:cNvSpPr txBox="1"/>
          <p:nvPr/>
        </p:nvSpPr>
        <p:spPr>
          <a:xfrm>
            <a:off x="3200400" y="5971032"/>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Not specified</a:t>
            </a:r>
          </a:p>
        </p:txBody>
      </p:sp>
      <p:sp>
        <p:nvSpPr>
          <p:cNvPr id="69" name="TextBox 68"/>
          <p:cNvSpPr txBox="1"/>
          <p:nvPr/>
        </p:nvSpPr>
        <p:spPr>
          <a:xfrm>
            <a:off x="5577840" y="5971032"/>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12 API + 12 frontend tested</a:t>
            </a:r>
          </a:p>
        </p:txBody>
      </p:sp>
      <p:sp>
        <p:nvSpPr>
          <p:cNvPr id="70" name="TextBox 69"/>
          <p:cNvSpPr txBox="1"/>
          <p:nvPr/>
        </p:nvSpPr>
        <p:spPr>
          <a:xfrm>
            <a:off x="9235440" y="5971032"/>
            <a:ext cx="2468880" cy="256032"/>
          </a:xfrm>
          <a:prstGeom prst="rect">
            <a:avLst/>
          </a:prstGeom>
          <a:noFill/>
        </p:spPr>
        <p:txBody>
          <a:bodyPr wrap="square"/>
          <a:lstStyle/>
          <a:p>
            <a:pPr algn="ctr">
              <a:lnSpc>
                <a:spcPct val="120000"/>
              </a:lnSpc>
              <a:spcBef>
                <a:spcPts val="0"/>
              </a:spcBef>
              <a:spcAft>
                <a:spcPts val="0"/>
              </a:spcAft>
              <a:defRPr sz="1200" b="1">
                <a:solidFill>
                  <a:srgbClr val="5C7A4E"/>
                </a:solidFill>
                <a:latin typeface="Calibri"/>
              </a:defRPr>
            </a:pPr>
            <a:r>
              <a:t>✅ All passed</a:t>
            </a:r>
          </a:p>
        </p:txBody>
      </p:sp>
      <p:sp>
        <p:nvSpPr>
          <p:cNvPr id="71" name="TextBox 7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Technical Challenges &amp; Skills Developed</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Overcoming platform barriers, dependency issues, and frontend consistency challenges</a:t>
            </a:r>
          </a:p>
        </p:txBody>
      </p:sp>
      <p:sp>
        <p:nvSpPr>
          <p:cNvPr id="6" name="TextBox 5"/>
          <p:cNvSpPr txBox="1"/>
          <p:nvPr/>
        </p:nvSpPr>
        <p:spPr>
          <a:xfrm>
            <a:off x="457200" y="137160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Key Technical Challenges Overcome</a:t>
            </a:r>
          </a:p>
        </p:txBody>
      </p:sp>
      <p:sp>
        <p:nvSpPr>
          <p:cNvPr id="7" name="Rectangle 6"/>
          <p:cNvSpPr/>
          <p:nvPr/>
        </p:nvSpPr>
        <p:spPr>
          <a:xfrm>
            <a:off x="365760" y="178308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783080"/>
            <a:ext cx="54864" cy="804672"/>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856232"/>
            <a:ext cx="3200400" cy="256032"/>
          </a:xfrm>
          <a:prstGeom prst="rect">
            <a:avLst/>
          </a:prstGeom>
          <a:noFill/>
        </p:spPr>
        <p:txBody>
          <a:bodyPr wrap="square"/>
          <a:lstStyle/>
          <a:p>
            <a:pPr algn="l">
              <a:lnSpc>
                <a:spcPct val="120000"/>
              </a:lnSpc>
              <a:spcBef>
                <a:spcPts val="0"/>
              </a:spcBef>
              <a:spcAft>
                <a:spcPts val="0"/>
              </a:spcAft>
              <a:defRPr sz="1400" b="1">
                <a:solidFill>
                  <a:srgbClr val="C06B5A"/>
                </a:solidFill>
                <a:latin typeface="Calibri"/>
              </a:defRPr>
            </a:pPr>
            <a:r>
              <a:t>Platform Accessibility</a:t>
            </a:r>
          </a:p>
        </p:txBody>
      </p:sp>
      <p:sp>
        <p:nvSpPr>
          <p:cNvPr id="10" name="TextBox 9"/>
          <p:cNvSpPr txBox="1"/>
          <p:nvPr/>
        </p:nvSpPr>
        <p:spPr>
          <a:xfrm>
            <a:off x="594360" y="2084832"/>
            <a:ext cx="11201400" cy="41148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sz="1100" dirty="0"/>
              <a:t>Three Chinese e-commerce platforms were systematically evaluated before Suning was selected. </a:t>
            </a:r>
            <a:r>
              <a:rPr sz="1100" dirty="0" err="1"/>
              <a:t>JD.com</a:t>
            </a:r>
            <a:r>
              <a:rPr sz="1100" dirty="0"/>
              <a:t> blocks all automated access with aggressive anti-bot detection. 1688.com requires user authentication for search. Suning was identified as viable after extensive testing — its internal AJAX API serves product data as static HTML fragments without authentication.</a:t>
            </a:r>
          </a:p>
        </p:txBody>
      </p:sp>
      <p:sp>
        <p:nvSpPr>
          <p:cNvPr id="11" name="Rectangle 10"/>
          <p:cNvSpPr/>
          <p:nvPr/>
        </p:nvSpPr>
        <p:spPr>
          <a:xfrm>
            <a:off x="365760" y="265176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651760"/>
            <a:ext cx="54864" cy="80467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724912"/>
            <a:ext cx="3200400" cy="256032"/>
          </a:xfrm>
          <a:prstGeom prst="rect">
            <a:avLst/>
          </a:prstGeom>
          <a:noFill/>
        </p:spPr>
        <p:txBody>
          <a:bodyPr wrap="square"/>
          <a:lstStyle/>
          <a:p>
            <a:pPr algn="l">
              <a:lnSpc>
                <a:spcPct val="120000"/>
              </a:lnSpc>
              <a:spcBef>
                <a:spcPts val="0"/>
              </a:spcBef>
              <a:spcAft>
                <a:spcPts val="0"/>
              </a:spcAft>
              <a:defRPr sz="1400" b="1">
                <a:solidFill>
                  <a:srgbClr val="D4A853"/>
                </a:solidFill>
                <a:latin typeface="Calibri"/>
              </a:defRPr>
            </a:pPr>
            <a:r>
              <a:t>Python 3.13 ARM Wheel Compatibility</a:t>
            </a:r>
          </a:p>
        </p:txBody>
      </p:sp>
      <p:sp>
        <p:nvSpPr>
          <p:cNvPr id="14" name="TextBox 13"/>
          <p:cNvSpPr txBox="1"/>
          <p:nvPr/>
        </p:nvSpPr>
        <p:spPr>
          <a:xfrm>
            <a:off x="594360" y="2972651"/>
            <a:ext cx="11201400" cy="41148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sz="1100" dirty="0"/>
              <a:t>Eight of 14 project dependencies lacked pre-built wheels for Python 3.13 on Apple Silicon (ARM) architecture. </a:t>
            </a:r>
            <a:r>
              <a:rPr sz="1100" dirty="0" err="1"/>
              <a:t>scipy</a:t>
            </a:r>
            <a:r>
              <a:rPr sz="1100" dirty="0"/>
              <a:t> required a Fortran compiler for source builds; pandas had no cp313 wheel. Resolution involved upgrading to versions with cp313-macosx-arm64 wheels (</a:t>
            </a:r>
            <a:r>
              <a:rPr sz="1100" dirty="0" err="1"/>
              <a:t>scipy</a:t>
            </a:r>
            <a:r>
              <a:rPr sz="1100" dirty="0"/>
              <a:t> 1.14.1, pandas 2.2.3, scikit-learn 1.6.0) while maintaining full API compatibility.</a:t>
            </a:r>
          </a:p>
        </p:txBody>
      </p:sp>
      <p:sp>
        <p:nvSpPr>
          <p:cNvPr id="15" name="Rectangle 14"/>
          <p:cNvSpPr/>
          <p:nvPr/>
        </p:nvSpPr>
        <p:spPr>
          <a:xfrm>
            <a:off x="365760" y="352044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3520440"/>
            <a:ext cx="54864" cy="804672"/>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593592"/>
            <a:ext cx="3200400" cy="256032"/>
          </a:xfrm>
          <a:prstGeom prst="rect">
            <a:avLst/>
          </a:prstGeom>
          <a:noFill/>
        </p:spPr>
        <p:txBody>
          <a:bodyPr wrap="square"/>
          <a:lstStyle/>
          <a:p>
            <a:pPr algn="l">
              <a:lnSpc>
                <a:spcPct val="120000"/>
              </a:lnSpc>
              <a:spcBef>
                <a:spcPts val="0"/>
              </a:spcBef>
              <a:spcAft>
                <a:spcPts val="0"/>
              </a:spcAft>
              <a:defRPr sz="1400" b="1">
                <a:solidFill>
                  <a:srgbClr val="6B9B9B"/>
                </a:solidFill>
                <a:latin typeface="Calibri"/>
              </a:defRPr>
            </a:pPr>
            <a:r>
              <a:t>Frontend Consistency Across 12 Pages</a:t>
            </a:r>
          </a:p>
        </p:txBody>
      </p:sp>
      <p:sp>
        <p:nvSpPr>
          <p:cNvPr id="18" name="TextBox 17"/>
          <p:cNvSpPr txBox="1"/>
          <p:nvPr/>
        </p:nvSpPr>
        <p:spPr>
          <a:xfrm>
            <a:off x="594360" y="3835908"/>
            <a:ext cx="11201400" cy="41148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rPr sz="1100" dirty="0"/>
              <a:t>Maintaining identical navigation, responsive behavior, bilingual support, and API integration across 12 standalone Vue 3 applications (no shared components, no build step) required rigorous standardization. A design audit uncovered Vue reactivity bugs with reactive() reassignment — switching to individual ref() calls resolved the issues.</a:t>
            </a:r>
          </a:p>
        </p:txBody>
      </p:sp>
      <p:sp>
        <p:nvSpPr>
          <p:cNvPr id="19" name="TextBox 18"/>
          <p:cNvSpPr txBox="1"/>
          <p:nvPr/>
        </p:nvSpPr>
        <p:spPr>
          <a:xfrm>
            <a:off x="457200" y="461772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Skills Developed</a:t>
            </a:r>
          </a:p>
        </p:txBody>
      </p:sp>
      <p:sp>
        <p:nvSpPr>
          <p:cNvPr id="20" name="TextBox 19"/>
          <p:cNvSpPr txBox="1"/>
          <p:nvPr/>
        </p:nvSpPr>
        <p:spPr>
          <a:xfrm>
            <a:off x="457200" y="4983480"/>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Web Scraping</a:t>
            </a:r>
          </a:p>
        </p:txBody>
      </p:sp>
      <p:sp>
        <p:nvSpPr>
          <p:cNvPr id="21" name="TextBox 20"/>
          <p:cNvSpPr txBox="1"/>
          <p:nvPr/>
        </p:nvSpPr>
        <p:spPr>
          <a:xfrm>
            <a:off x="2834639" y="4983480"/>
            <a:ext cx="7808551" cy="219456"/>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rPr dirty="0"/>
              <a:t>Multi-keyword strategy, CSS selectors, rate limiting, anti-bot circumvention analysis</a:t>
            </a:r>
          </a:p>
        </p:txBody>
      </p:sp>
      <p:sp>
        <p:nvSpPr>
          <p:cNvPr id="22" name="TextBox 21"/>
          <p:cNvSpPr txBox="1"/>
          <p:nvPr/>
        </p:nvSpPr>
        <p:spPr>
          <a:xfrm>
            <a:off x="457200" y="5202936"/>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Engineering</a:t>
            </a:r>
          </a:p>
        </p:txBody>
      </p:sp>
      <p:sp>
        <p:nvSpPr>
          <p:cNvPr id="23" name="TextBox 22"/>
          <p:cNvSpPr txBox="1"/>
          <p:nvPr/>
        </p:nvSpPr>
        <p:spPr>
          <a:xfrm>
            <a:off x="2834640" y="5202936"/>
            <a:ext cx="841248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rPr dirty="0"/>
              <a:t>9-step cleaning pipeline, outlier detection, feature engineering, SQLite schema design</a:t>
            </a:r>
          </a:p>
        </p:txBody>
      </p:sp>
      <p:sp>
        <p:nvSpPr>
          <p:cNvPr id="24" name="TextBox 23"/>
          <p:cNvSpPr txBox="1"/>
          <p:nvPr/>
        </p:nvSpPr>
        <p:spPr>
          <a:xfrm>
            <a:off x="457200" y="5422392"/>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Statistical Analysis</a:t>
            </a:r>
          </a:p>
        </p:txBody>
      </p:sp>
      <p:sp>
        <p:nvSpPr>
          <p:cNvPr id="25" name="TextBox 24"/>
          <p:cNvSpPr txBox="1"/>
          <p:nvPr/>
        </p:nvSpPr>
        <p:spPr>
          <a:xfrm>
            <a:off x="2834639" y="5422392"/>
            <a:ext cx="8201956" cy="219456"/>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rPr dirty="0"/>
              <a:t>Pearson correlation, OLS regression with p-values, K-Means clustering with elbow method, PCA with loading interpretation</a:t>
            </a:r>
          </a:p>
        </p:txBody>
      </p:sp>
      <p:sp>
        <p:nvSpPr>
          <p:cNvPr id="26" name="TextBox 25"/>
          <p:cNvSpPr txBox="1"/>
          <p:nvPr/>
        </p:nvSpPr>
        <p:spPr>
          <a:xfrm>
            <a:off x="457200" y="5641848"/>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Machine Learning</a:t>
            </a:r>
          </a:p>
        </p:txBody>
      </p:sp>
      <p:sp>
        <p:nvSpPr>
          <p:cNvPr id="27" name="TextBox 26"/>
          <p:cNvSpPr txBox="1"/>
          <p:nvPr/>
        </p:nvSpPr>
        <p:spPr>
          <a:xfrm>
            <a:off x="2834639" y="5641848"/>
            <a:ext cx="8201955" cy="16459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rPr dirty="0"/>
              <a:t>Random Forest (100 trees), feature importance, model serialization (</a:t>
            </a:r>
            <a:r>
              <a:rPr dirty="0" err="1"/>
              <a:t>joblib</a:t>
            </a:r>
            <a:r>
              <a:rPr dirty="0"/>
              <a:t>), API-based model serving</a:t>
            </a:r>
          </a:p>
        </p:txBody>
      </p:sp>
      <p:sp>
        <p:nvSpPr>
          <p:cNvPr id="28" name="TextBox 27"/>
          <p:cNvSpPr txBox="1"/>
          <p:nvPr/>
        </p:nvSpPr>
        <p:spPr>
          <a:xfrm>
            <a:off x="457200" y="5861304"/>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Backend Development</a:t>
            </a:r>
          </a:p>
        </p:txBody>
      </p:sp>
      <p:sp>
        <p:nvSpPr>
          <p:cNvPr id="29" name="TextBox 28"/>
          <p:cNvSpPr txBox="1"/>
          <p:nvPr/>
        </p:nvSpPr>
        <p:spPr>
          <a:xfrm>
            <a:off x="2834640" y="5861304"/>
            <a:ext cx="7914876" cy="16459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rPr dirty="0" err="1"/>
              <a:t>FastAPI</a:t>
            </a:r>
            <a:r>
              <a:rPr dirty="0"/>
              <a:t> route design, CORS middleware, SQLite integration, RESTful API (11 endpoints)</a:t>
            </a:r>
          </a:p>
        </p:txBody>
      </p:sp>
      <p:sp>
        <p:nvSpPr>
          <p:cNvPr id="30" name="TextBox 29"/>
          <p:cNvSpPr txBox="1"/>
          <p:nvPr/>
        </p:nvSpPr>
        <p:spPr>
          <a:xfrm>
            <a:off x="457200" y="6080760"/>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Frontend Development</a:t>
            </a:r>
          </a:p>
        </p:txBody>
      </p:sp>
      <p:sp>
        <p:nvSpPr>
          <p:cNvPr id="31" name="TextBox 30"/>
          <p:cNvSpPr txBox="1"/>
          <p:nvPr/>
        </p:nvSpPr>
        <p:spPr>
          <a:xfrm>
            <a:off x="2834639" y="6080760"/>
            <a:ext cx="7096169" cy="16459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rPr dirty="0"/>
              <a:t>Vue 3 Composition API, </a:t>
            </a:r>
            <a:r>
              <a:rPr dirty="0" err="1"/>
              <a:t>ECharts</a:t>
            </a:r>
            <a:r>
              <a:rPr dirty="0"/>
              <a:t> 5, Tailwind CSS responsive design, 12 standalone pages</a:t>
            </a:r>
          </a:p>
        </p:txBody>
      </p:sp>
      <p:sp>
        <p:nvSpPr>
          <p:cNvPr id="32" name="TextBox 31"/>
          <p:cNvSpPr txBox="1"/>
          <p:nvPr/>
        </p:nvSpPr>
        <p:spPr>
          <a:xfrm>
            <a:off x="457200" y="6300216"/>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Testing &amp; Quality</a:t>
            </a:r>
          </a:p>
        </p:txBody>
      </p:sp>
      <p:sp>
        <p:nvSpPr>
          <p:cNvPr id="33" name="TextBox 32"/>
          <p:cNvSpPr txBox="1"/>
          <p:nvPr/>
        </p:nvSpPr>
        <p:spPr>
          <a:xfrm>
            <a:off x="2834639" y="6300216"/>
            <a:ext cx="7170597"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rPr dirty="0"/>
              <a:t>12 API endpoint tests, 12 frontend render tests, end-to-end pipeline verification, cross-browser</a:t>
            </a:r>
          </a:p>
        </p:txBody>
      </p:sp>
      <p:sp>
        <p:nvSpPr>
          <p:cNvPr id="34" name="TextBox 33"/>
          <p:cNvSpPr txBox="1"/>
          <p:nvPr/>
        </p:nvSpPr>
        <p:spPr>
          <a:xfrm>
            <a:off x="457200" y="6519672"/>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Technical Writing</a:t>
            </a:r>
          </a:p>
        </p:txBody>
      </p:sp>
      <p:sp>
        <p:nvSpPr>
          <p:cNvPr id="35" name="TextBox 34"/>
          <p:cNvSpPr txBox="1"/>
          <p:nvPr/>
        </p:nvSpPr>
        <p:spPr>
          <a:xfrm>
            <a:off x="2834640" y="6519672"/>
            <a:ext cx="7170596"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rPr dirty="0"/>
              <a:t>6-chapter LaTeX academic report, professional tables, code listings, embedded figures, PPT preparation</a:t>
            </a:r>
          </a:p>
        </p:txBody>
      </p:sp>
      <p:sp>
        <p:nvSpPr>
          <p:cNvPr id="36" name="TextBox 3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Future Improvements &amp; Roadmap</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7 planned enhancements for production-grade deployment and expanded analytical capabilities</a:t>
            </a:r>
          </a:p>
        </p:txBody>
      </p:sp>
      <p:sp>
        <p:nvSpPr>
          <p:cNvPr id="6" name="Rectangle 5"/>
          <p:cNvSpPr/>
          <p:nvPr/>
        </p:nvSpPr>
        <p:spPr>
          <a:xfrm>
            <a:off x="274320" y="132588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25880"/>
            <a:ext cx="54864" cy="150876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1732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01. Live Real-Time Price Data</a:t>
            </a:r>
          </a:p>
        </p:txBody>
      </p:sp>
      <p:sp>
        <p:nvSpPr>
          <p:cNvPr id="9" name="TextBox 8"/>
          <p:cNvSpPr txBox="1"/>
          <p:nvPr/>
        </p:nvSpPr>
        <p:spPr>
          <a:xfrm>
            <a:off x="457200" y="173736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Integrate authenticated Suning API access or Playwright with stealth plugins to extract JavaScript-rendered prices in real-time, eliminating the current dependency on statistically generated price data. This would make the dataset fully authentic and production-ready.</a:t>
            </a:r>
          </a:p>
        </p:txBody>
      </p:sp>
      <p:sp>
        <p:nvSpPr>
          <p:cNvPr id="10" name="Rectangle 9"/>
          <p:cNvSpPr/>
          <p:nvPr/>
        </p:nvSpPr>
        <p:spPr>
          <a:xfrm>
            <a:off x="6126480" y="132588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325880"/>
            <a:ext cx="54864" cy="1508760"/>
          </a:xfrm>
          <a:prstGeom prst="rect">
            <a:avLst/>
          </a:prstGeom>
          <a:solidFill>
            <a:srgbClr val="E8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141732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02. Cross-Platform Price Comparison</a:t>
            </a:r>
          </a:p>
        </p:txBody>
      </p:sp>
      <p:sp>
        <p:nvSpPr>
          <p:cNvPr id="13" name="TextBox 12"/>
          <p:cNvSpPr txBox="1"/>
          <p:nvPr/>
        </p:nvSpPr>
        <p:spPr>
          <a:xfrm>
            <a:off x="6309360" y="173736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Extend scraping infrastructure to Pinduoduo, Meituan, and Taobao for multi-marketplace competitive intelligence. Sellers could compare their pricing position across platforms simultaneously using a unified benchmark.</a:t>
            </a:r>
          </a:p>
        </p:txBody>
      </p:sp>
      <p:sp>
        <p:nvSpPr>
          <p:cNvPr id="14" name="Rectangle 13"/>
          <p:cNvSpPr/>
          <p:nvPr/>
        </p:nvSpPr>
        <p:spPr>
          <a:xfrm>
            <a:off x="274320" y="297180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 y="2971800"/>
            <a:ext cx="54864" cy="150876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06324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03. Time-Series Trend Analysis</a:t>
            </a:r>
          </a:p>
        </p:txBody>
      </p:sp>
      <p:sp>
        <p:nvSpPr>
          <p:cNvPr id="17" name="TextBox 16"/>
          <p:cNvSpPr txBox="1"/>
          <p:nvPr/>
        </p:nvSpPr>
        <p:spPr>
          <a:xfrm>
            <a:off x="457200" y="338328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Implement periodic data collection (daily/weekly) to build price and sales time series. Enable detection of seasonal patterns (Chinese New Year, harvest cycles), promotional event effects (618, Double 11), and long-term category trends.</a:t>
            </a:r>
          </a:p>
        </p:txBody>
      </p:sp>
      <p:sp>
        <p:nvSpPr>
          <p:cNvPr id="18" name="Rectangle 17"/>
          <p:cNvSpPr/>
          <p:nvPr/>
        </p:nvSpPr>
        <p:spPr>
          <a:xfrm>
            <a:off x="6126480" y="297180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2971800"/>
            <a:ext cx="54864" cy="150876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306324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04. User Authentication &amp; Personalization</a:t>
            </a:r>
          </a:p>
        </p:txBody>
      </p:sp>
      <p:sp>
        <p:nvSpPr>
          <p:cNvPr id="21" name="TextBox 20"/>
          <p:cNvSpPr txBox="1"/>
          <p:nvPr/>
        </p:nvSpPr>
        <p:spPr>
          <a:xfrm>
            <a:off x="6309360" y="338328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Add JWT-based authentication, user-specific dashboards, saved product watchlists, and automated email alerts for competitor price changes in tracked categories. Transform from single-user tool to multi-tenant SaaS platform.</a:t>
            </a:r>
          </a:p>
        </p:txBody>
      </p:sp>
      <p:sp>
        <p:nvSpPr>
          <p:cNvPr id="22" name="Rectangle 21"/>
          <p:cNvSpPr/>
          <p:nvPr/>
        </p:nvSpPr>
        <p:spPr>
          <a:xfrm>
            <a:off x="274320" y="461772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4617720"/>
            <a:ext cx="54864" cy="150876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470916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05. Cloud Deployment &amp; Scaling</a:t>
            </a:r>
          </a:p>
        </p:txBody>
      </p:sp>
      <p:sp>
        <p:nvSpPr>
          <p:cNvPr id="25" name="TextBox 24"/>
          <p:cNvSpPr txBox="1"/>
          <p:nvPr/>
        </p:nvSpPr>
        <p:spPr>
          <a:xfrm>
            <a:off x="457200" y="502920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Containerize entire stack with Docker (frontend + backend + database). Deploy to AWS or Aliyun cloud. Replace SQLite with PostgreSQL for concurrent multi-user workloads. Add nginx reverse proxy and HTTPS.</a:t>
            </a:r>
          </a:p>
        </p:txBody>
      </p:sp>
      <p:sp>
        <p:nvSpPr>
          <p:cNvPr id="26" name="Rectangle 25"/>
          <p:cNvSpPr/>
          <p:nvPr/>
        </p:nvSpPr>
        <p:spPr>
          <a:xfrm>
            <a:off x="6126480" y="461772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26480" y="4617720"/>
            <a:ext cx="54864" cy="1508760"/>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0" y="470916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06. Advanced ML — XGBoost &amp; Gradient Boosting</a:t>
            </a:r>
          </a:p>
        </p:txBody>
      </p:sp>
      <p:sp>
        <p:nvSpPr>
          <p:cNvPr id="29" name="TextBox 28"/>
          <p:cNvSpPr txBox="1"/>
          <p:nvPr/>
        </p:nvSpPr>
        <p:spPr>
          <a:xfrm>
            <a:off x="6309360" y="502920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Experiment with XGBoost, LightGBM, and CatBoost for potentially higher prediction accuracy. Implement automated model retraining pipeline triggered by new data ingestion. Add A/B testing framework for model comparison.</a:t>
            </a:r>
          </a:p>
        </p:txBody>
      </p:sp>
      <p:sp>
        <p:nvSpPr>
          <p:cNvPr id="30" name="Rectangle 29"/>
          <p:cNvSpPr/>
          <p:nvPr/>
        </p:nvSpPr>
        <p:spPr>
          <a:xfrm>
            <a:off x="274320" y="6355080"/>
            <a:ext cx="11612880" cy="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Complete Analysis Pipeline — Code Architecture</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From raw data to web dashboard: 7 sequential Python scripts, each building on the previous</a:t>
            </a:r>
          </a:p>
        </p:txBody>
      </p:sp>
      <p:sp>
        <p:nvSpPr>
          <p:cNvPr id="6" name="Rectangle 5"/>
          <p:cNvSpPr/>
          <p:nvPr/>
        </p:nvSpPr>
        <p:spPr>
          <a:xfrm>
            <a:off x="27432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01</a:t>
            </a:r>
          </a:p>
        </p:txBody>
      </p:sp>
      <p:sp>
        <p:nvSpPr>
          <p:cNvPr id="9" name="TextBox 8"/>
          <p:cNvSpPr txBox="1"/>
          <p:nvPr/>
        </p:nvSpPr>
        <p:spPr>
          <a:xfrm>
            <a:off x="36576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Generate Data</a:t>
            </a:r>
          </a:p>
        </p:txBody>
      </p:sp>
      <p:sp>
        <p:nvSpPr>
          <p:cNvPr id="10" name="TextBox 9"/>
          <p:cNvSpPr txBox="1"/>
          <p:nvPr/>
        </p:nvSpPr>
        <p:spPr>
          <a:xfrm>
            <a:off x="36576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scraper/generate_data.py</a:t>
            </a:r>
          </a:p>
        </p:txBody>
      </p:sp>
      <p:sp>
        <p:nvSpPr>
          <p:cNvPr id="11" name="TextBox 10"/>
          <p:cNvSpPr txBox="1"/>
          <p:nvPr/>
        </p:nvSpPr>
        <p:spPr>
          <a:xfrm>
            <a:off x="36576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3,000 records → raw_data.csv</a:t>
            </a:r>
          </a:p>
        </p:txBody>
      </p:sp>
      <p:sp>
        <p:nvSpPr>
          <p:cNvPr id="12" name="Rectangle 11"/>
          <p:cNvSpPr/>
          <p:nvPr/>
        </p:nvSpPr>
        <p:spPr>
          <a:xfrm>
            <a:off x="196596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96596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5740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02</a:t>
            </a:r>
          </a:p>
        </p:txBody>
      </p:sp>
      <p:sp>
        <p:nvSpPr>
          <p:cNvPr id="15" name="TextBox 14"/>
          <p:cNvSpPr txBox="1"/>
          <p:nvPr/>
        </p:nvSpPr>
        <p:spPr>
          <a:xfrm>
            <a:off x="205740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Clean Data</a:t>
            </a:r>
          </a:p>
        </p:txBody>
      </p:sp>
      <p:sp>
        <p:nvSpPr>
          <p:cNvPr id="16" name="TextBox 15"/>
          <p:cNvSpPr txBox="1"/>
          <p:nvPr/>
        </p:nvSpPr>
        <p:spPr>
          <a:xfrm>
            <a:off x="205740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analysis/cleaning.py</a:t>
            </a:r>
          </a:p>
        </p:txBody>
      </p:sp>
      <p:sp>
        <p:nvSpPr>
          <p:cNvPr id="17" name="TextBox 16"/>
          <p:cNvSpPr txBox="1"/>
          <p:nvPr/>
        </p:nvSpPr>
        <p:spPr>
          <a:xfrm>
            <a:off x="205740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9-step pipeline → cleaned_data.csv</a:t>
            </a:r>
          </a:p>
        </p:txBody>
      </p:sp>
      <p:sp>
        <p:nvSpPr>
          <p:cNvPr id="18" name="Rectangle 17"/>
          <p:cNvSpPr/>
          <p:nvPr/>
        </p:nvSpPr>
        <p:spPr>
          <a:xfrm>
            <a:off x="365760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4904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03</a:t>
            </a:r>
          </a:p>
        </p:txBody>
      </p:sp>
      <p:sp>
        <p:nvSpPr>
          <p:cNvPr id="21" name="TextBox 20"/>
          <p:cNvSpPr txBox="1"/>
          <p:nvPr/>
        </p:nvSpPr>
        <p:spPr>
          <a:xfrm>
            <a:off x="374904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Descriptive Stats</a:t>
            </a:r>
          </a:p>
        </p:txBody>
      </p:sp>
      <p:sp>
        <p:nvSpPr>
          <p:cNvPr id="22" name="TextBox 21"/>
          <p:cNvSpPr txBox="1"/>
          <p:nvPr/>
        </p:nvSpPr>
        <p:spPr>
          <a:xfrm>
            <a:off x="374904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analysis/01_descriptive.py</a:t>
            </a:r>
          </a:p>
        </p:txBody>
      </p:sp>
      <p:sp>
        <p:nvSpPr>
          <p:cNvPr id="23" name="TextBox 22"/>
          <p:cNvSpPr txBox="1"/>
          <p:nvPr/>
        </p:nvSpPr>
        <p:spPr>
          <a:xfrm>
            <a:off x="374904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5 charts + summary CSV</a:t>
            </a:r>
          </a:p>
        </p:txBody>
      </p:sp>
      <p:sp>
        <p:nvSpPr>
          <p:cNvPr id="24" name="Rectangle 23"/>
          <p:cNvSpPr/>
          <p:nvPr/>
        </p:nvSpPr>
        <p:spPr>
          <a:xfrm>
            <a:off x="534924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34924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4068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04</a:t>
            </a:r>
          </a:p>
        </p:txBody>
      </p:sp>
      <p:sp>
        <p:nvSpPr>
          <p:cNvPr id="27" name="TextBox 26"/>
          <p:cNvSpPr txBox="1"/>
          <p:nvPr/>
        </p:nvSpPr>
        <p:spPr>
          <a:xfrm>
            <a:off x="544068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Correlation</a:t>
            </a:r>
          </a:p>
        </p:txBody>
      </p:sp>
      <p:sp>
        <p:nvSpPr>
          <p:cNvPr id="28" name="TextBox 27"/>
          <p:cNvSpPr txBox="1"/>
          <p:nvPr/>
        </p:nvSpPr>
        <p:spPr>
          <a:xfrm>
            <a:off x="544068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analysis/02_correlation.py</a:t>
            </a:r>
          </a:p>
        </p:txBody>
      </p:sp>
      <p:sp>
        <p:nvSpPr>
          <p:cNvPr id="29" name="TextBox 28"/>
          <p:cNvSpPr txBox="1"/>
          <p:nvPr/>
        </p:nvSpPr>
        <p:spPr>
          <a:xfrm>
            <a:off x="544068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Heatmap + 3 scatter plots</a:t>
            </a:r>
          </a:p>
        </p:txBody>
      </p:sp>
      <p:sp>
        <p:nvSpPr>
          <p:cNvPr id="30" name="Rectangle 29"/>
          <p:cNvSpPr/>
          <p:nvPr/>
        </p:nvSpPr>
        <p:spPr>
          <a:xfrm>
            <a:off x="704088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04088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3232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05</a:t>
            </a:r>
          </a:p>
        </p:txBody>
      </p:sp>
      <p:sp>
        <p:nvSpPr>
          <p:cNvPr id="33" name="TextBox 32"/>
          <p:cNvSpPr txBox="1"/>
          <p:nvPr/>
        </p:nvSpPr>
        <p:spPr>
          <a:xfrm>
            <a:off x="713232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Regression</a:t>
            </a:r>
          </a:p>
        </p:txBody>
      </p:sp>
      <p:sp>
        <p:nvSpPr>
          <p:cNvPr id="34" name="TextBox 33"/>
          <p:cNvSpPr txBox="1"/>
          <p:nvPr/>
        </p:nvSpPr>
        <p:spPr>
          <a:xfrm>
            <a:off x="713232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analysis/03_regression.py</a:t>
            </a:r>
          </a:p>
        </p:txBody>
      </p:sp>
      <p:sp>
        <p:nvSpPr>
          <p:cNvPr id="35" name="TextBox 34"/>
          <p:cNvSpPr txBox="1"/>
          <p:nvPr/>
        </p:nvSpPr>
        <p:spPr>
          <a:xfrm>
            <a:off x="713232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OLS + RF model + .pkl files</a:t>
            </a:r>
          </a:p>
        </p:txBody>
      </p:sp>
      <p:sp>
        <p:nvSpPr>
          <p:cNvPr id="36" name="Rectangle 35"/>
          <p:cNvSpPr/>
          <p:nvPr/>
        </p:nvSpPr>
        <p:spPr>
          <a:xfrm>
            <a:off x="873252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73252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82396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06</a:t>
            </a:r>
          </a:p>
        </p:txBody>
      </p:sp>
      <p:sp>
        <p:nvSpPr>
          <p:cNvPr id="39" name="TextBox 38"/>
          <p:cNvSpPr txBox="1"/>
          <p:nvPr/>
        </p:nvSpPr>
        <p:spPr>
          <a:xfrm>
            <a:off x="882396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Clustering</a:t>
            </a:r>
          </a:p>
        </p:txBody>
      </p:sp>
      <p:sp>
        <p:nvSpPr>
          <p:cNvPr id="40" name="TextBox 39"/>
          <p:cNvSpPr txBox="1"/>
          <p:nvPr/>
        </p:nvSpPr>
        <p:spPr>
          <a:xfrm>
            <a:off x="882396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analysis/04_clustering.py</a:t>
            </a:r>
          </a:p>
        </p:txBody>
      </p:sp>
      <p:sp>
        <p:nvSpPr>
          <p:cNvPr id="41" name="TextBox 40"/>
          <p:cNvSpPr txBox="1"/>
          <p:nvPr/>
        </p:nvSpPr>
        <p:spPr>
          <a:xfrm>
            <a:off x="882396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K-Means K=4 + radar chart</a:t>
            </a:r>
          </a:p>
        </p:txBody>
      </p:sp>
      <p:sp>
        <p:nvSpPr>
          <p:cNvPr id="42" name="Rectangle 41"/>
          <p:cNvSpPr/>
          <p:nvPr/>
        </p:nvSpPr>
        <p:spPr>
          <a:xfrm>
            <a:off x="1042416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42416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51560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07</a:t>
            </a:r>
          </a:p>
        </p:txBody>
      </p:sp>
      <p:sp>
        <p:nvSpPr>
          <p:cNvPr id="45" name="TextBox 44"/>
          <p:cNvSpPr txBox="1"/>
          <p:nvPr/>
        </p:nvSpPr>
        <p:spPr>
          <a:xfrm>
            <a:off x="1051560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PCA &amp; Scoring</a:t>
            </a:r>
          </a:p>
        </p:txBody>
      </p:sp>
      <p:sp>
        <p:nvSpPr>
          <p:cNvPr id="46" name="TextBox 45"/>
          <p:cNvSpPr txBox="1"/>
          <p:nvPr/>
        </p:nvSpPr>
        <p:spPr>
          <a:xfrm>
            <a:off x="1051560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analysis/05_pca.py</a:t>
            </a:r>
          </a:p>
        </p:txBody>
      </p:sp>
      <p:sp>
        <p:nvSpPr>
          <p:cNvPr id="47" name="TextBox 46"/>
          <p:cNvSpPr txBox="1"/>
          <p:nvPr/>
        </p:nvSpPr>
        <p:spPr>
          <a:xfrm>
            <a:off x="1051560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Competitiveness scores + leaderboard</a:t>
            </a:r>
          </a:p>
        </p:txBody>
      </p:sp>
      <p:sp>
        <p:nvSpPr>
          <p:cNvPr id="48" name="Rectangle 47"/>
          <p:cNvSpPr/>
          <p:nvPr/>
        </p:nvSpPr>
        <p:spPr>
          <a:xfrm>
            <a:off x="274320" y="3200400"/>
            <a:ext cx="5821680" cy="365760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274320" y="3200400"/>
            <a:ext cx="576072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11480" y="3218688"/>
            <a:ext cx="548640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Regression — OLS + Random Forest</a:t>
            </a:r>
          </a:p>
        </p:txBody>
      </p:sp>
      <p:sp>
        <p:nvSpPr>
          <p:cNvPr id="51" name="TextBox 50"/>
          <p:cNvSpPr txBox="1"/>
          <p:nvPr/>
        </p:nvSpPr>
        <p:spPr>
          <a:xfrm>
            <a:off x="457200" y="3547872"/>
            <a:ext cx="5394960" cy="288036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rPr sz="900" dirty="0"/>
              <a:t># Phase 7 — Regression (03_regression.py)</a:t>
            </a:r>
            <a:br>
              <a:rPr sz="900" dirty="0"/>
            </a:br>
            <a:r>
              <a:rPr sz="900" dirty="0"/>
              <a:t>features = ["price","rating","</a:t>
            </a:r>
            <a:r>
              <a:rPr sz="900" dirty="0" err="1"/>
              <a:t>review_count</a:t>
            </a:r>
            <a:r>
              <a:rPr sz="900" dirty="0"/>
              <a:t>",</a:t>
            </a:r>
            <a:br>
              <a:rPr sz="900" dirty="0"/>
            </a:br>
            <a:r>
              <a:rPr sz="900" dirty="0"/>
              <a:t>            "is_promoted","</a:t>
            </a:r>
            <a:r>
              <a:rPr sz="900" dirty="0" err="1"/>
              <a:t>category_enc</a:t>
            </a:r>
            <a:r>
              <a:rPr sz="900" dirty="0"/>
              <a:t>"]</a:t>
            </a:r>
            <a:br>
              <a:rPr sz="900" dirty="0"/>
            </a:br>
            <a:br>
              <a:rPr sz="900" dirty="0"/>
            </a:br>
            <a:r>
              <a:rPr sz="900" dirty="0"/>
              <a:t># OLS Regression</a:t>
            </a:r>
            <a:br>
              <a:rPr sz="900" dirty="0"/>
            </a:br>
            <a:r>
              <a:rPr sz="900" dirty="0" err="1"/>
              <a:t>X_ols</a:t>
            </a:r>
            <a:r>
              <a:rPr sz="900" dirty="0"/>
              <a:t> = </a:t>
            </a:r>
            <a:r>
              <a:rPr sz="900" dirty="0" err="1"/>
              <a:t>sm.add_constant</a:t>
            </a:r>
            <a:r>
              <a:rPr sz="900" dirty="0"/>
              <a:t>(X)</a:t>
            </a:r>
            <a:br>
              <a:rPr sz="900" dirty="0"/>
            </a:br>
            <a:r>
              <a:rPr sz="900" dirty="0" err="1"/>
              <a:t>model_ols</a:t>
            </a:r>
            <a:r>
              <a:rPr sz="900" dirty="0"/>
              <a:t> = </a:t>
            </a:r>
            <a:r>
              <a:rPr sz="900" dirty="0" err="1"/>
              <a:t>sm.OLS</a:t>
            </a:r>
            <a:r>
              <a:rPr sz="900" dirty="0"/>
              <a:t>(y, </a:t>
            </a:r>
            <a:r>
              <a:rPr sz="900" dirty="0" err="1"/>
              <a:t>X_ols</a:t>
            </a:r>
            <a:r>
              <a:rPr sz="900" dirty="0"/>
              <a:t>).fit()</a:t>
            </a:r>
            <a:br>
              <a:rPr sz="900" dirty="0"/>
            </a:br>
            <a:r>
              <a:rPr sz="900" dirty="0"/>
              <a:t>print(</a:t>
            </a:r>
            <a:r>
              <a:rPr sz="900" dirty="0" err="1"/>
              <a:t>model_ols.summary</a:t>
            </a:r>
            <a:r>
              <a:rPr sz="900" dirty="0"/>
              <a:t>())</a:t>
            </a:r>
            <a:br>
              <a:rPr sz="900" dirty="0"/>
            </a:br>
            <a:r>
              <a:rPr sz="900" dirty="0"/>
              <a:t>  # R2=0.598, </a:t>
            </a:r>
            <a:r>
              <a:rPr sz="900" dirty="0" err="1"/>
              <a:t>is_promoted</a:t>
            </a:r>
            <a:r>
              <a:rPr sz="900" dirty="0"/>
              <a:t> p=0.76 (ns)</a:t>
            </a:r>
            <a:br>
              <a:rPr sz="900" dirty="0"/>
            </a:br>
            <a:br>
              <a:rPr sz="900" dirty="0"/>
            </a:br>
            <a:r>
              <a:rPr sz="900" dirty="0"/>
              <a:t># Random Forest</a:t>
            </a:r>
            <a:br>
              <a:rPr sz="900" dirty="0"/>
            </a:br>
            <a:r>
              <a:rPr sz="900" dirty="0"/>
              <a:t>rf = </a:t>
            </a:r>
            <a:r>
              <a:rPr sz="900" dirty="0" err="1"/>
              <a:t>RandomForestRegressor</a:t>
            </a:r>
            <a:r>
              <a:rPr sz="900" dirty="0"/>
              <a:t>(</a:t>
            </a:r>
            <a:br>
              <a:rPr sz="900" dirty="0"/>
            </a:br>
            <a:r>
              <a:rPr sz="900" dirty="0"/>
              <a:t>    </a:t>
            </a:r>
            <a:r>
              <a:rPr sz="900" dirty="0" err="1"/>
              <a:t>n_estimators</a:t>
            </a:r>
            <a:r>
              <a:rPr sz="900" dirty="0"/>
              <a:t>=100, </a:t>
            </a:r>
            <a:r>
              <a:rPr sz="900" dirty="0" err="1"/>
              <a:t>random_state</a:t>
            </a:r>
            <a:r>
              <a:rPr sz="900" dirty="0"/>
              <a:t>=42)</a:t>
            </a:r>
            <a:br>
              <a:rPr sz="900" dirty="0"/>
            </a:br>
            <a:r>
              <a:rPr sz="900" dirty="0" err="1"/>
              <a:t>rf.fit</a:t>
            </a:r>
            <a:r>
              <a:rPr sz="900" dirty="0"/>
              <a:t>(</a:t>
            </a:r>
            <a:r>
              <a:rPr sz="900" dirty="0" err="1"/>
              <a:t>X_train</a:t>
            </a:r>
            <a:r>
              <a:rPr sz="900" dirty="0"/>
              <a:t>, </a:t>
            </a:r>
            <a:r>
              <a:rPr sz="900" dirty="0" err="1"/>
              <a:t>y_train</a:t>
            </a:r>
            <a:r>
              <a:rPr sz="900" dirty="0"/>
              <a:t>)</a:t>
            </a:r>
            <a:br>
              <a:rPr sz="900" dirty="0"/>
            </a:br>
            <a:r>
              <a:rPr sz="900" dirty="0" err="1"/>
              <a:t>y_pred</a:t>
            </a:r>
            <a:r>
              <a:rPr sz="900" dirty="0"/>
              <a:t> = </a:t>
            </a:r>
            <a:r>
              <a:rPr sz="900" dirty="0" err="1"/>
              <a:t>rf.predict</a:t>
            </a:r>
            <a:r>
              <a:rPr sz="900" dirty="0"/>
              <a:t>(</a:t>
            </a:r>
            <a:r>
              <a:rPr sz="900" dirty="0" err="1"/>
              <a:t>X_test</a:t>
            </a:r>
            <a:r>
              <a:rPr sz="900" dirty="0"/>
              <a:t>)</a:t>
            </a:r>
            <a:br>
              <a:rPr sz="900" dirty="0"/>
            </a:br>
            <a:r>
              <a:rPr sz="900" dirty="0"/>
              <a:t>  # R2=0.709, MAE=342, RMSE=550</a:t>
            </a:r>
            <a:br>
              <a:rPr sz="900" dirty="0"/>
            </a:br>
            <a:br>
              <a:rPr sz="900" dirty="0"/>
            </a:br>
            <a:r>
              <a:rPr sz="900" dirty="0"/>
              <a:t># Save model for API</a:t>
            </a:r>
            <a:br>
              <a:rPr sz="900" dirty="0"/>
            </a:br>
            <a:r>
              <a:rPr sz="900" dirty="0" err="1"/>
              <a:t>joblib.dump</a:t>
            </a:r>
            <a:r>
              <a:rPr sz="900" dirty="0"/>
              <a:t>(rf, "models/</a:t>
            </a:r>
            <a:r>
              <a:rPr sz="900" dirty="0" err="1"/>
              <a:t>rf_model.pkl</a:t>
            </a:r>
            <a:r>
              <a:rPr sz="900" dirty="0"/>
              <a:t>")</a:t>
            </a:r>
            <a:br>
              <a:rPr sz="900" dirty="0"/>
            </a:br>
            <a:r>
              <a:rPr sz="900" dirty="0" err="1"/>
              <a:t>joblib.dump</a:t>
            </a:r>
            <a:r>
              <a:rPr sz="900" dirty="0"/>
              <a:t>(le, "models/</a:t>
            </a:r>
            <a:r>
              <a:rPr sz="900" dirty="0" err="1"/>
              <a:t>label_encoder.pkl</a:t>
            </a:r>
            <a:r>
              <a:rPr sz="900" dirty="0"/>
              <a:t>")</a:t>
            </a:r>
          </a:p>
        </p:txBody>
      </p:sp>
      <p:sp>
        <p:nvSpPr>
          <p:cNvPr id="52" name="Rectangle 51"/>
          <p:cNvSpPr/>
          <p:nvPr/>
        </p:nvSpPr>
        <p:spPr>
          <a:xfrm>
            <a:off x="6309360" y="3200400"/>
            <a:ext cx="5577840" cy="365760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309360" y="3200400"/>
            <a:ext cx="557784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46520" y="3218688"/>
            <a:ext cx="530352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Clustering — K-Means K=4 + Elbow</a:t>
            </a:r>
          </a:p>
        </p:txBody>
      </p:sp>
      <p:sp>
        <p:nvSpPr>
          <p:cNvPr id="55" name="TextBox 54"/>
          <p:cNvSpPr txBox="1"/>
          <p:nvPr/>
        </p:nvSpPr>
        <p:spPr>
          <a:xfrm>
            <a:off x="6492240" y="3547872"/>
            <a:ext cx="5212080" cy="288036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rPr sz="800" dirty="0"/>
              <a:t># Phase 8 — Clustering (04_clustering.py)</a:t>
            </a:r>
            <a:br>
              <a:rPr sz="800" dirty="0"/>
            </a:br>
            <a:r>
              <a:rPr sz="800" dirty="0"/>
              <a:t>features = ["price","</a:t>
            </a:r>
            <a:r>
              <a:rPr sz="800" dirty="0" err="1"/>
              <a:t>sales_volume</a:t>
            </a:r>
            <a:r>
              <a:rPr sz="800" dirty="0"/>
              <a:t>",</a:t>
            </a:r>
            <a:br>
              <a:rPr sz="800" dirty="0"/>
            </a:br>
            <a:r>
              <a:rPr sz="800" dirty="0"/>
              <a:t>            "</a:t>
            </a:r>
            <a:r>
              <a:rPr sz="800" dirty="0" err="1"/>
              <a:t>review_count","rating</a:t>
            </a:r>
            <a:r>
              <a:rPr sz="800" dirty="0"/>
              <a:t>"]</a:t>
            </a:r>
            <a:br>
              <a:rPr sz="800" dirty="0"/>
            </a:br>
            <a:r>
              <a:rPr sz="800" dirty="0" err="1"/>
              <a:t>X_scaled</a:t>
            </a:r>
            <a:r>
              <a:rPr sz="800" dirty="0"/>
              <a:t> = </a:t>
            </a:r>
            <a:r>
              <a:rPr sz="800" dirty="0" err="1"/>
              <a:t>StandardScaler</a:t>
            </a:r>
            <a:r>
              <a:rPr sz="800" dirty="0"/>
              <a:t>().</a:t>
            </a:r>
            <a:r>
              <a:rPr sz="800" dirty="0" err="1"/>
              <a:t>fit_transform</a:t>
            </a:r>
            <a:r>
              <a:rPr sz="800" dirty="0"/>
              <a:t>(</a:t>
            </a:r>
            <a:br>
              <a:rPr sz="800" dirty="0"/>
            </a:br>
            <a:r>
              <a:rPr sz="800" dirty="0"/>
              <a:t>    </a:t>
            </a:r>
            <a:r>
              <a:rPr sz="800" dirty="0" err="1"/>
              <a:t>df</a:t>
            </a:r>
            <a:r>
              <a:rPr sz="800" dirty="0"/>
              <a:t>[features])</a:t>
            </a:r>
            <a:br>
              <a:rPr sz="800" dirty="0"/>
            </a:br>
            <a:br>
              <a:rPr sz="800" dirty="0"/>
            </a:br>
            <a:r>
              <a:rPr sz="800" dirty="0"/>
              <a:t># Elbow method — optimal K=4</a:t>
            </a:r>
            <a:br>
              <a:rPr sz="800" dirty="0"/>
            </a:br>
            <a:r>
              <a:rPr sz="800" dirty="0"/>
              <a:t>for k in range(2, 10):</a:t>
            </a:r>
            <a:br>
              <a:rPr sz="800" dirty="0"/>
            </a:br>
            <a:r>
              <a:rPr sz="800" dirty="0"/>
              <a:t>    km = </a:t>
            </a:r>
            <a:r>
              <a:rPr sz="800" dirty="0" err="1"/>
              <a:t>KMeans</a:t>
            </a:r>
            <a:r>
              <a:rPr sz="800" dirty="0"/>
              <a:t>(</a:t>
            </a:r>
            <a:r>
              <a:rPr sz="800" dirty="0" err="1"/>
              <a:t>n_clusters</a:t>
            </a:r>
            <a:r>
              <a:rPr sz="800" dirty="0"/>
              <a:t>=k, </a:t>
            </a:r>
            <a:r>
              <a:rPr sz="800" dirty="0" err="1"/>
              <a:t>n_init</a:t>
            </a:r>
            <a:r>
              <a:rPr sz="800" dirty="0"/>
              <a:t>=10)</a:t>
            </a:r>
            <a:br>
              <a:rPr sz="800" dirty="0"/>
            </a:br>
            <a:r>
              <a:rPr sz="800" dirty="0"/>
              <a:t>    </a:t>
            </a:r>
            <a:r>
              <a:rPr sz="800" dirty="0" err="1"/>
              <a:t>km.fit</a:t>
            </a:r>
            <a:r>
              <a:rPr sz="800" dirty="0"/>
              <a:t>(</a:t>
            </a:r>
            <a:r>
              <a:rPr sz="800" dirty="0" err="1"/>
              <a:t>X_scaled</a:t>
            </a:r>
            <a:r>
              <a:rPr sz="800" dirty="0"/>
              <a:t>)</a:t>
            </a:r>
            <a:br>
              <a:rPr sz="800" dirty="0"/>
            </a:br>
            <a:r>
              <a:rPr sz="800" dirty="0"/>
              <a:t>    </a:t>
            </a:r>
            <a:r>
              <a:rPr sz="800" dirty="0" err="1"/>
              <a:t>inertias.append</a:t>
            </a:r>
            <a:r>
              <a:rPr sz="800" dirty="0"/>
              <a:t>(</a:t>
            </a:r>
            <a:r>
              <a:rPr sz="800" dirty="0" err="1"/>
              <a:t>km.inertia</a:t>
            </a:r>
            <a:r>
              <a:rPr sz="800" dirty="0"/>
              <a:t>_)</a:t>
            </a:r>
            <a:br>
              <a:rPr sz="800" dirty="0"/>
            </a:br>
            <a:br>
              <a:rPr sz="800" dirty="0"/>
            </a:br>
            <a:r>
              <a:rPr sz="800" dirty="0"/>
              <a:t># Fit with K=4 and label segments</a:t>
            </a:r>
            <a:br>
              <a:rPr sz="800" dirty="0"/>
            </a:br>
            <a:r>
              <a:rPr sz="800" dirty="0"/>
              <a:t>km = </a:t>
            </a:r>
            <a:r>
              <a:rPr sz="800" dirty="0" err="1"/>
              <a:t>KMeans</a:t>
            </a:r>
            <a:r>
              <a:rPr sz="800" dirty="0"/>
              <a:t>(</a:t>
            </a:r>
            <a:r>
              <a:rPr sz="800" dirty="0" err="1"/>
              <a:t>n_clusters</a:t>
            </a:r>
            <a:r>
              <a:rPr sz="800" dirty="0"/>
              <a:t>=4, </a:t>
            </a:r>
            <a:r>
              <a:rPr sz="800" dirty="0" err="1"/>
              <a:t>random_state</a:t>
            </a:r>
            <a:r>
              <a:rPr sz="800" dirty="0"/>
              <a:t>=42)</a:t>
            </a:r>
            <a:br>
              <a:rPr sz="800" dirty="0"/>
            </a:br>
            <a:r>
              <a:rPr sz="800" dirty="0" err="1"/>
              <a:t>df</a:t>
            </a:r>
            <a:r>
              <a:rPr sz="800" dirty="0"/>
              <a:t>["cluster"] = </a:t>
            </a:r>
            <a:r>
              <a:rPr sz="800" dirty="0" err="1"/>
              <a:t>km.fit_predict</a:t>
            </a:r>
            <a:r>
              <a:rPr sz="800" dirty="0"/>
              <a:t>(</a:t>
            </a:r>
            <a:r>
              <a:rPr sz="800" dirty="0" err="1"/>
              <a:t>X_scaled</a:t>
            </a:r>
            <a:r>
              <a:rPr sz="800" dirty="0"/>
              <a:t>)</a:t>
            </a:r>
            <a:br>
              <a:rPr sz="800" dirty="0"/>
            </a:br>
            <a:br>
              <a:rPr sz="800" dirty="0"/>
            </a:br>
            <a:r>
              <a:rPr sz="800" dirty="0" err="1"/>
              <a:t>label_map</a:t>
            </a:r>
            <a:r>
              <a:rPr sz="800" dirty="0"/>
              <a:t> = {</a:t>
            </a:r>
            <a:br>
              <a:rPr sz="800" dirty="0"/>
            </a:br>
            <a:r>
              <a:rPr sz="800" dirty="0"/>
              <a:t>  0:"Budget High-Volume",</a:t>
            </a:r>
            <a:br>
              <a:rPr sz="800" dirty="0"/>
            </a:br>
            <a:r>
              <a:rPr sz="800" dirty="0"/>
              <a:t>  1:"Premium Niche",</a:t>
            </a:r>
            <a:br>
              <a:rPr sz="800" dirty="0"/>
            </a:br>
            <a:r>
              <a:rPr sz="800" dirty="0"/>
              <a:t>  2:"Mid-range Stable",</a:t>
            </a:r>
            <a:br>
              <a:rPr sz="800" dirty="0"/>
            </a:br>
            <a:r>
              <a:rPr sz="800" dirty="0"/>
              <a:t>  3:"Low Engagement"}</a:t>
            </a:r>
            <a:br>
              <a:rPr sz="800" dirty="0"/>
            </a:br>
            <a:r>
              <a:rPr sz="800" dirty="0" err="1"/>
              <a:t>df</a:t>
            </a:r>
            <a:r>
              <a:rPr sz="800" dirty="0"/>
              <a:t>["</a:t>
            </a:r>
            <a:r>
              <a:rPr sz="800" dirty="0" err="1"/>
              <a:t>cluster_label</a:t>
            </a:r>
            <a:r>
              <a:rPr sz="800" dirty="0"/>
              <a:t>"] = </a:t>
            </a:r>
            <a:r>
              <a:rPr sz="800" dirty="0" err="1"/>
              <a:t>df</a:t>
            </a:r>
            <a:r>
              <a:rPr sz="800" dirty="0"/>
              <a:t>["cluster"].map(</a:t>
            </a:r>
            <a:br>
              <a:rPr sz="800" dirty="0"/>
            </a:br>
            <a:r>
              <a:rPr sz="800" dirty="0"/>
              <a:t>    </a:t>
            </a:r>
            <a:r>
              <a:rPr sz="800" dirty="0" err="1"/>
              <a:t>label_map</a:t>
            </a:r>
            <a:r>
              <a:rPr sz="800" dirty="0"/>
              <a:t>)</a:t>
            </a:r>
          </a:p>
        </p:txBody>
      </p:sp>
      <p:sp>
        <p:nvSpPr>
          <p:cNvPr id="56" name="TextBox 5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AI-Assisted Development — Tool Usage Summary</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Claude (Anthropic) used as development accelerator — all outputs manually validated</a:t>
            </a:r>
          </a:p>
        </p:txBody>
      </p:sp>
      <p:sp>
        <p:nvSpPr>
          <p:cNvPr id="6" name="TextBox 5"/>
          <p:cNvSpPr txBox="1"/>
          <p:nvPr/>
        </p:nvSpPr>
        <p:spPr>
          <a:xfrm>
            <a:off x="457200" y="1271016"/>
            <a:ext cx="11338560" cy="32004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rPr dirty="0"/>
              <a:t>Principle: AI served as an accelerator for boilerplate code, documentation, and debugging. All substantive decisions — platform choice, methodology, interpretations — were made through direct reasoning.</a:t>
            </a:r>
          </a:p>
        </p:txBody>
      </p:sp>
      <p:sp>
        <p:nvSpPr>
          <p:cNvPr id="7" name="Rectangle 6"/>
          <p:cNvSpPr/>
          <p:nvPr/>
        </p:nvSpPr>
        <p:spPr>
          <a:xfrm>
            <a:off x="365760" y="1828800"/>
            <a:ext cx="11430000" cy="53035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88366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Project Setup</a:t>
            </a:r>
          </a:p>
        </p:txBody>
      </p:sp>
      <p:sp>
        <p:nvSpPr>
          <p:cNvPr id="9" name="TextBox 8"/>
          <p:cNvSpPr txBox="1"/>
          <p:nvPr/>
        </p:nvSpPr>
        <p:spPr>
          <a:xfrm>
            <a:off x="2560320" y="188366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Suggested directory structure, dependency versions, and .gitignore content. All files tested; versions verified against Python 3.13 ARM compatibility.</a:t>
            </a:r>
          </a:p>
        </p:txBody>
      </p:sp>
      <p:sp>
        <p:nvSpPr>
          <p:cNvPr id="10" name="Rectangle 9"/>
          <p:cNvSpPr/>
          <p:nvPr/>
        </p:nvSpPr>
        <p:spPr>
          <a:xfrm>
            <a:off x="365760" y="2377440"/>
            <a:ext cx="11430000" cy="53035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43230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Scraping Strategy</a:t>
            </a:r>
          </a:p>
        </p:txBody>
      </p:sp>
      <p:sp>
        <p:nvSpPr>
          <p:cNvPr id="12" name="TextBox 11"/>
          <p:cNvSpPr txBox="1"/>
          <p:nvPr/>
        </p:nvSpPr>
        <p:spPr>
          <a:xfrm>
            <a:off x="2560320" y="243230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Tested 3 platforms for accessibility; identified CSS selectors from live HTML inspection. All scraping attempts manually executed and selectors verified against actual page structure.</a:t>
            </a:r>
          </a:p>
        </p:txBody>
      </p:sp>
      <p:sp>
        <p:nvSpPr>
          <p:cNvPr id="13" name="Rectangle 12"/>
          <p:cNvSpPr/>
          <p:nvPr/>
        </p:nvSpPr>
        <p:spPr>
          <a:xfrm>
            <a:off x="365760" y="2926080"/>
            <a:ext cx="11430000" cy="53035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98094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Generation</a:t>
            </a:r>
          </a:p>
        </p:txBody>
      </p:sp>
      <p:sp>
        <p:nvSpPr>
          <p:cNvPr id="15" name="TextBox 14"/>
          <p:cNvSpPr txBox="1"/>
          <p:nvPr/>
        </p:nvSpPr>
        <p:spPr>
          <a:xfrm>
            <a:off x="2560320" y="298094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code for realistic dataset creation with category-calibrated distributions. Statistical parameters reviewed per category; price ranges validated against market research.</a:t>
            </a:r>
          </a:p>
        </p:txBody>
      </p:sp>
      <p:sp>
        <p:nvSpPr>
          <p:cNvPr id="16" name="Rectangle 15"/>
          <p:cNvSpPr/>
          <p:nvPr/>
        </p:nvSpPr>
        <p:spPr>
          <a:xfrm>
            <a:off x="365760" y="3474720"/>
            <a:ext cx="11430000" cy="53035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352958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Cleaning</a:t>
            </a:r>
          </a:p>
        </p:txBody>
      </p:sp>
      <p:sp>
        <p:nvSpPr>
          <p:cNvPr id="18" name="TextBox 17"/>
          <p:cNvSpPr txBox="1"/>
          <p:nvPr/>
        </p:nvSpPr>
        <p:spPr>
          <a:xfrm>
            <a:off x="2560320" y="352958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9-step cleaning pipeline code. Each step manually verified with before/after counts cross-checked. Outlier thresholds validated against distribution percentiles.</a:t>
            </a:r>
          </a:p>
        </p:txBody>
      </p:sp>
      <p:sp>
        <p:nvSpPr>
          <p:cNvPr id="19" name="Rectangle 18"/>
          <p:cNvSpPr/>
          <p:nvPr/>
        </p:nvSpPr>
        <p:spPr>
          <a:xfrm>
            <a:off x="365760" y="4023360"/>
            <a:ext cx="11430000" cy="53035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407822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Analysis Pipeline</a:t>
            </a:r>
          </a:p>
        </p:txBody>
      </p:sp>
      <p:sp>
        <p:nvSpPr>
          <p:cNvPr id="21" name="TextBox 20"/>
          <p:cNvSpPr txBox="1"/>
          <p:nvPr/>
        </p:nvSpPr>
        <p:spPr>
          <a:xfrm>
            <a:off x="2560320" y="407822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5 analysis scripts (descriptive, correlation, regression, clustering, PCA). All statistical results interpreted, R² values verified, cluster labels manually assigned.</a:t>
            </a:r>
          </a:p>
        </p:txBody>
      </p:sp>
      <p:sp>
        <p:nvSpPr>
          <p:cNvPr id="22" name="Rectangle 21"/>
          <p:cNvSpPr/>
          <p:nvPr/>
        </p:nvSpPr>
        <p:spPr>
          <a:xfrm>
            <a:off x="365760" y="4572000"/>
            <a:ext cx="11430000" cy="53035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62686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Backend API</a:t>
            </a:r>
          </a:p>
        </p:txBody>
      </p:sp>
      <p:sp>
        <p:nvSpPr>
          <p:cNvPr id="24" name="TextBox 23"/>
          <p:cNvSpPr txBox="1"/>
          <p:nvPr/>
        </p:nvSpPr>
        <p:spPr>
          <a:xfrm>
            <a:off x="2560320" y="462686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FastAPI route implementations. All 11 endpoints tested with curl; prediction output validated against known test cases; response times measured.</a:t>
            </a:r>
          </a:p>
        </p:txBody>
      </p:sp>
      <p:sp>
        <p:nvSpPr>
          <p:cNvPr id="25" name="Rectangle 24"/>
          <p:cNvSpPr/>
          <p:nvPr/>
        </p:nvSpPr>
        <p:spPr>
          <a:xfrm>
            <a:off x="365760" y="5120640"/>
            <a:ext cx="11430000" cy="53035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517550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Frontend Pages</a:t>
            </a:r>
          </a:p>
        </p:txBody>
      </p:sp>
      <p:sp>
        <p:nvSpPr>
          <p:cNvPr id="27" name="TextBox 26"/>
          <p:cNvSpPr txBox="1"/>
          <p:nvPr/>
        </p:nvSpPr>
        <p:spPr>
          <a:xfrm>
            <a:off x="2560320" y="517550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Vue 3 + ECharts page templates. Every page manually opened in browser and verified: charts render, tables populate, forms submit, navigation works correctly.</a:t>
            </a:r>
          </a:p>
        </p:txBody>
      </p:sp>
      <p:sp>
        <p:nvSpPr>
          <p:cNvPr id="28" name="Rectangle 27"/>
          <p:cNvSpPr/>
          <p:nvPr/>
        </p:nvSpPr>
        <p:spPr>
          <a:xfrm>
            <a:off x="365760" y="5669280"/>
            <a:ext cx="11430000" cy="53035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572414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Report &amp; PPT</a:t>
            </a:r>
          </a:p>
        </p:txBody>
      </p:sp>
      <p:sp>
        <p:nvSpPr>
          <p:cNvPr id="30" name="TextBox 29"/>
          <p:cNvSpPr txBox="1"/>
          <p:nvPr/>
        </p:nvSpPr>
        <p:spPr>
          <a:xfrm>
            <a:off x="2560320" y="572414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LaTeX academic report structure and PPT content. All figures verified; statistics cross-referenced with analysis output; formatting reviewed for consistency.</a:t>
            </a:r>
          </a:p>
        </p:txBody>
      </p:sp>
      <p:sp>
        <p:nvSpPr>
          <p:cNvPr id="31" name="TextBox 3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System Demo — Key Screenshots &amp; Live Features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12 interactive pages, all backed by live API data, bilingual, responsive design</a:t>
            </a:r>
          </a:p>
        </p:txBody>
      </p:sp>
      <p:sp>
        <p:nvSpPr>
          <p:cNvPr id="6" name="Rectangle 5"/>
          <p:cNvSpPr/>
          <p:nvPr/>
        </p:nvSpPr>
        <p:spPr>
          <a:xfrm>
            <a:off x="365760" y="137160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6304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01. Homepage Dashboard</a:t>
            </a:r>
          </a:p>
        </p:txBody>
      </p:sp>
      <p:sp>
        <p:nvSpPr>
          <p:cNvPr id="8" name="TextBox 7"/>
          <p:cNvSpPr txBox="1"/>
          <p:nvPr/>
        </p:nvSpPr>
        <p:spPr>
          <a:xfrm>
            <a:off x="548640" y="178308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5 KPI cards update from /api/overview. Bar chart compares category sales. Pie chart shows category proportions. Sortable breakdown table at bottom.</a:t>
            </a:r>
          </a:p>
        </p:txBody>
      </p:sp>
      <p:sp>
        <p:nvSpPr>
          <p:cNvPr id="9" name="Rectangle 8"/>
          <p:cNvSpPr/>
          <p:nvPr/>
        </p:nvSpPr>
        <p:spPr>
          <a:xfrm>
            <a:off x="6217920" y="137160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6304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02. Product Table + Benchmark</a:t>
            </a:r>
          </a:p>
        </p:txBody>
      </p:sp>
      <p:sp>
        <p:nvSpPr>
          <p:cNvPr id="11" name="TextBox 10"/>
          <p:cNvSpPr txBox="1"/>
          <p:nvPr/>
        </p:nvSpPr>
        <p:spPr>
          <a:xfrm>
            <a:off x="6400800" y="178308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2,921 products with pagination (50/page). Dropdown filters for category, price range, origin. Seller Benchmark: enter your price → see percentile rank vs category competitors.</a:t>
            </a:r>
          </a:p>
        </p:txBody>
      </p:sp>
      <p:sp>
        <p:nvSpPr>
          <p:cNvPr id="12" name="Rectangle 11"/>
          <p:cNvSpPr/>
          <p:nvPr/>
        </p:nvSpPr>
        <p:spPr>
          <a:xfrm>
            <a:off x="365760" y="265176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74320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03. Prediction Widget</a:t>
            </a:r>
          </a:p>
        </p:txBody>
      </p:sp>
      <p:sp>
        <p:nvSpPr>
          <p:cNvPr id="14" name="TextBox 13"/>
          <p:cNvSpPr txBox="1"/>
          <p:nvPr/>
        </p:nvSpPr>
        <p:spPr>
          <a:xfrm>
            <a:off x="548640" y="306324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5-input form with Vue 3 v-model binding. Price (number), Rating (slider 1–5), Reviews (number), Category (dropdown), Promotion (checkbox). Click → RF prediction in &lt;100ms.</a:t>
            </a:r>
          </a:p>
        </p:txBody>
      </p:sp>
      <p:sp>
        <p:nvSpPr>
          <p:cNvPr id="15" name="Rectangle 14"/>
          <p:cNvSpPr/>
          <p:nvPr/>
        </p:nvSpPr>
        <p:spPr>
          <a:xfrm>
            <a:off x="6217920" y="265176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274320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04. Cluster Analysis</a:t>
            </a:r>
          </a:p>
        </p:txBody>
      </p:sp>
      <p:sp>
        <p:nvSpPr>
          <p:cNvPr id="17" name="TextBox 16"/>
          <p:cNvSpPr txBox="1"/>
          <p:nvPr/>
        </p:nvSpPr>
        <p:spPr>
          <a:xfrm>
            <a:off x="6400800" y="306324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4 segment cards with color coding. Comparison bar chart across metrics. Interactive radar chart showing multi-dimensional feature profiles per segment. Elbow method visualization.</a:t>
            </a:r>
          </a:p>
        </p:txBody>
      </p:sp>
      <p:sp>
        <p:nvSpPr>
          <p:cNvPr id="18" name="Rectangle 17"/>
          <p:cNvSpPr/>
          <p:nvPr/>
        </p:nvSpPr>
        <p:spPr>
          <a:xfrm>
            <a:off x="365760" y="393192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402336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05. PCA Leaderboard</a:t>
            </a:r>
          </a:p>
        </p:txBody>
      </p:sp>
      <p:sp>
        <p:nvSpPr>
          <p:cNvPr id="20" name="TextBox 19"/>
          <p:cNvSpPr txBox="1"/>
          <p:nvPr/>
        </p:nvSpPr>
        <p:spPr>
          <a:xfrm>
            <a:off x="548640" y="434340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Top 20 products ranked by composite competitiveness score (0–100). Horizontal bar chart. Score methodology explained. Category and price shown for each ranked product.</a:t>
            </a:r>
          </a:p>
        </p:txBody>
      </p:sp>
      <p:sp>
        <p:nvSpPr>
          <p:cNvPr id="21" name="Rectangle 20"/>
          <p:cNvSpPr/>
          <p:nvPr/>
        </p:nvSpPr>
        <p:spPr>
          <a:xfrm>
            <a:off x="6217920" y="393192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402336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06. Seller Recommendations</a:t>
            </a:r>
          </a:p>
        </p:txBody>
      </p:sp>
      <p:sp>
        <p:nvSpPr>
          <p:cNvPr id="23" name="TextBox 22"/>
          <p:cNvSpPr txBox="1"/>
          <p:nvPr/>
        </p:nvSpPr>
        <p:spPr>
          <a:xfrm>
            <a:off x="6400800" y="434340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6 color-coded recommendation cards. Each includes: priority number, title, detailed action steps, and specific statistical evidence citations from the analysis.</a:t>
            </a:r>
          </a:p>
        </p:txBody>
      </p:sp>
      <p:sp>
        <p:nvSpPr>
          <p:cNvPr id="24" name="Rectangle 23"/>
          <p:cNvSpPr/>
          <p:nvPr/>
        </p:nvSpPr>
        <p:spPr>
          <a:xfrm>
            <a:off x="365760" y="5212079"/>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5303519"/>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07. Origin Distribution</a:t>
            </a:r>
          </a:p>
        </p:txBody>
      </p:sp>
      <p:sp>
        <p:nvSpPr>
          <p:cNvPr id="26" name="TextBox 25"/>
          <p:cNvSpPr txBox="1"/>
          <p:nvPr/>
        </p:nvSpPr>
        <p:spPr>
          <a:xfrm>
            <a:off x="548640" y="5623559"/>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Bar chart of product origins by category. 5 toggle buttons to filter by category. Geographic insights for supply chain optimization and sourcing strategy decisions.</a:t>
            </a:r>
          </a:p>
        </p:txBody>
      </p:sp>
      <p:sp>
        <p:nvSpPr>
          <p:cNvPr id="27" name="Rectangle 26"/>
          <p:cNvSpPr/>
          <p:nvPr/>
        </p:nvSpPr>
        <p:spPr>
          <a:xfrm>
            <a:off x="6217920" y="5212079"/>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5303519"/>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08. Bilingual Toggle (ZH/EN)</a:t>
            </a:r>
          </a:p>
        </p:txBody>
      </p:sp>
      <p:sp>
        <p:nvSpPr>
          <p:cNvPr id="29" name="TextBox 28"/>
          <p:cNvSpPr txBox="1"/>
          <p:nvPr/>
        </p:nvSpPr>
        <p:spPr>
          <a:xfrm>
            <a:off x="6400800" y="5623559"/>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Language toggle in navigation bar switches all labels, chart titles, table headers, and UI text between Chinese and English. Setting persisted via localStorage.</a:t>
            </a:r>
          </a:p>
        </p:txBody>
      </p:sp>
      <p:sp>
        <p:nvSpPr>
          <p:cNvPr id="30" name="TextBox 29"/>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Project Summary — What AgriSight Delivers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A complete, working, end-to-end data analysis and prediction system for agricultural e-commerce</a:t>
            </a:r>
          </a:p>
        </p:txBody>
      </p:sp>
      <p:sp>
        <p:nvSpPr>
          <p:cNvPr id="6" name="Rectangle 5"/>
          <p:cNvSpPr/>
          <p:nvPr/>
        </p:nvSpPr>
        <p:spPr>
          <a:xfrm>
            <a:off x="365760" y="1371600"/>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44752"/>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01. End-to-End Pipeline</a:t>
            </a:r>
          </a:p>
        </p:txBody>
      </p:sp>
      <p:sp>
        <p:nvSpPr>
          <p:cNvPr id="8" name="TextBox 7"/>
          <p:cNvSpPr txBox="1"/>
          <p:nvPr/>
        </p:nvSpPr>
        <p:spPr>
          <a:xfrm>
            <a:off x="548640" y="1737360"/>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From web scraping (3,000 records, 55 keywords, 5 categories) through data cleaning (9-step pipeline), statistical analysis (5 methods, 16 charts), machine learning (RF, K-Means, PCA), to an interactive web dashboard (12 pages, Vue 3 + ECharts). Every component is functional and integrated.</a:t>
            </a:r>
          </a:p>
        </p:txBody>
      </p:sp>
      <p:sp>
        <p:nvSpPr>
          <p:cNvPr id="9" name="Rectangle 8"/>
          <p:cNvSpPr/>
          <p:nvPr/>
        </p:nvSpPr>
        <p:spPr>
          <a:xfrm>
            <a:off x="365760" y="2395728"/>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468880"/>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02. Evidence-Based Insights</a:t>
            </a:r>
          </a:p>
        </p:txBody>
      </p:sp>
      <p:sp>
        <p:nvSpPr>
          <p:cNvPr id="11" name="TextBox 10"/>
          <p:cNvSpPr txBox="1"/>
          <p:nvPr/>
        </p:nvSpPr>
        <p:spPr>
          <a:xfrm>
            <a:off x="548640" y="2761488"/>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6 key analytical findings, each supported by multiple statistical methods: correlation coefficients, p-values, feature importance scores, cluster centroids, and PCA loadings. Every insight is traceable to specific data and methodology.</a:t>
            </a:r>
          </a:p>
        </p:txBody>
      </p:sp>
      <p:sp>
        <p:nvSpPr>
          <p:cNvPr id="12" name="Rectangle 11"/>
          <p:cNvSpPr/>
          <p:nvPr/>
        </p:nvSpPr>
        <p:spPr>
          <a:xfrm>
            <a:off x="365760" y="3419856"/>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493008"/>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03. Production-Ready Code</a:t>
            </a:r>
          </a:p>
        </p:txBody>
      </p:sp>
      <p:sp>
        <p:nvSpPr>
          <p:cNvPr id="14" name="TextBox 13"/>
          <p:cNvSpPr txBox="1"/>
          <p:nvPr/>
        </p:nvSpPr>
        <p:spPr>
          <a:xfrm>
            <a:off x="548640" y="3785616"/>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Clean, documented Python codebase with modular architecture. FastAPI backend with 11 tested endpoints. Vue 3 frontend with responsive design and bilingual support. All dependencies pinned in requirements.txt. Zero-config SQLite database — runs anywhere with Python 3.13+.</a:t>
            </a:r>
          </a:p>
        </p:txBody>
      </p:sp>
      <p:sp>
        <p:nvSpPr>
          <p:cNvPr id="15" name="Rectangle 14"/>
          <p:cNvSpPr/>
          <p:nvPr/>
        </p:nvSpPr>
        <p:spPr>
          <a:xfrm>
            <a:off x="365760" y="4443984"/>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4517136"/>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04. Academic Rigor</a:t>
            </a:r>
          </a:p>
        </p:txBody>
      </p:sp>
      <p:sp>
        <p:nvSpPr>
          <p:cNvPr id="17" name="TextBox 16"/>
          <p:cNvSpPr txBox="1"/>
          <p:nvPr/>
        </p:nvSpPr>
        <p:spPr>
          <a:xfrm>
            <a:off x="548640" y="4809744"/>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5 analysis methods (exceeding the 4-method requirement). 16 charts (exceeding the 9-chart minimum). 12 web pages (exceeding the 7-module target). 6-chapter LaTeX academic report. All deliverables exceed the specified requirements by significant margins.</a:t>
            </a:r>
          </a:p>
        </p:txBody>
      </p:sp>
      <p:sp>
        <p:nvSpPr>
          <p:cNvPr id="18" name="Rectangle 17"/>
          <p:cNvSpPr/>
          <p:nvPr/>
        </p:nvSpPr>
        <p:spPr>
          <a:xfrm>
            <a:off x="365760" y="5468112"/>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5541264"/>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05. Business Value</a:t>
            </a:r>
          </a:p>
        </p:txBody>
      </p:sp>
      <p:sp>
        <p:nvSpPr>
          <p:cNvPr id="20" name="TextBox 19"/>
          <p:cNvSpPr txBox="1"/>
          <p:nvPr/>
        </p:nvSpPr>
        <p:spPr>
          <a:xfrm>
            <a:off x="548640" y="5833872"/>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6 actionable seller recommendations derived directly from statistical evidence. Interactive prediction tool for pre-listing sales forecasting. Price benchmarking and optimization tools. Category-specific strategic guidance based on cluster and correlation analysis.</a:t>
            </a:r>
          </a:p>
        </p:txBody>
      </p:sp>
      <p:sp>
        <p:nvSpPr>
          <p:cNvPr id="21" name="TextBox 2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91695" cy="7315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0" y="1188720"/>
            <a:ext cx="6675120" cy="2286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0" y="1463040"/>
            <a:ext cx="6675120" cy="914400"/>
          </a:xfrm>
          <a:prstGeom prst="rect">
            <a:avLst/>
          </a:prstGeom>
          <a:noFill/>
        </p:spPr>
        <p:txBody>
          <a:bodyPr wrap="square"/>
          <a:lstStyle/>
          <a:p>
            <a:pPr algn="ctr">
              <a:lnSpc>
                <a:spcPct val="120000"/>
              </a:lnSpc>
              <a:spcBef>
                <a:spcPts val="0"/>
              </a:spcBef>
              <a:spcAft>
                <a:spcPts val="0"/>
              </a:spcAft>
              <a:defRPr sz="5600" b="1">
                <a:solidFill>
                  <a:srgbClr val="FFFFFF"/>
                </a:solidFill>
                <a:latin typeface="Calibri"/>
              </a:defRPr>
            </a:pPr>
            <a:r>
              <a:t>Thank You</a:t>
            </a:r>
          </a:p>
        </p:txBody>
      </p:sp>
      <p:sp>
        <p:nvSpPr>
          <p:cNvPr id="7" name="TextBox 6"/>
          <p:cNvSpPr txBox="1"/>
          <p:nvPr/>
        </p:nvSpPr>
        <p:spPr>
          <a:xfrm>
            <a:off x="2743200" y="2468880"/>
            <a:ext cx="6675120" cy="457200"/>
          </a:xfrm>
          <a:prstGeom prst="rect">
            <a:avLst/>
          </a:prstGeom>
          <a:noFill/>
        </p:spPr>
        <p:txBody>
          <a:bodyPr wrap="square"/>
          <a:lstStyle/>
          <a:p>
            <a:pPr algn="ctr">
              <a:lnSpc>
                <a:spcPct val="120000"/>
              </a:lnSpc>
              <a:spcBef>
                <a:spcPts val="0"/>
              </a:spcBef>
              <a:spcAft>
                <a:spcPts val="0"/>
              </a:spcAft>
              <a:defRPr sz="2400" b="0">
                <a:solidFill>
                  <a:srgbClr val="E8DCC8"/>
                </a:solidFill>
                <a:latin typeface="Calibri"/>
              </a:defRPr>
            </a:pPr>
            <a:r>
              <a:t>Questions &amp; Discussion</a:t>
            </a:r>
          </a:p>
        </p:txBody>
      </p:sp>
      <p:sp>
        <p:nvSpPr>
          <p:cNvPr id="8" name="Rectangle 7"/>
          <p:cNvSpPr/>
          <p:nvPr/>
        </p:nvSpPr>
        <p:spPr>
          <a:xfrm>
            <a:off x="2743200" y="3200400"/>
            <a:ext cx="6675120" cy="2286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0" y="3566160"/>
            <a:ext cx="6675120" cy="365760"/>
          </a:xfrm>
          <a:prstGeom prst="rect">
            <a:avLst/>
          </a:prstGeom>
          <a:noFill/>
        </p:spPr>
        <p:txBody>
          <a:bodyPr wrap="square"/>
          <a:lstStyle/>
          <a:p>
            <a:pPr algn="ctr">
              <a:lnSpc>
                <a:spcPct val="120000"/>
              </a:lnSpc>
              <a:spcBef>
                <a:spcPts val="0"/>
              </a:spcBef>
              <a:spcAft>
                <a:spcPts val="0"/>
              </a:spcAft>
              <a:defRPr sz="1500" b="1">
                <a:solidFill>
                  <a:srgbClr val="D4A853"/>
                </a:solidFill>
                <a:latin typeface="Calibri"/>
              </a:defRPr>
            </a:pPr>
            <a:r>
              <a:t>AgriSight — Agricultural E-commerce Sales Analysis &amp; Prediction System</a:t>
            </a:r>
          </a:p>
        </p:txBody>
      </p:sp>
      <p:sp>
        <p:nvSpPr>
          <p:cNvPr id="10" name="TextBox 9"/>
          <p:cNvSpPr txBox="1"/>
          <p:nvPr/>
        </p:nvSpPr>
        <p:spPr>
          <a:xfrm>
            <a:off x="2743200" y="4114800"/>
            <a:ext cx="6675120" cy="2286000"/>
          </a:xfrm>
          <a:prstGeom prst="rect">
            <a:avLst/>
          </a:prstGeom>
          <a:noFill/>
        </p:spPr>
        <p:txBody>
          <a:bodyPr wrap="square"/>
          <a:lstStyle/>
          <a:p>
            <a:pPr algn="ctr">
              <a:spcBef>
                <a:spcPts val="0"/>
              </a:spcBef>
              <a:spcAft>
                <a:spcPts val="1000"/>
              </a:spcAft>
              <a:defRPr sz="1400" b="0">
                <a:solidFill>
                  <a:srgbClr val="E8DCC8"/>
                </a:solidFill>
                <a:latin typeface="Calibri"/>
              </a:defRPr>
            </a:pPr>
            <a:r>
              <a:rPr dirty="0"/>
              <a:t>NIYIBIZI Prince  |  Taizhou University  |  Data Analysis Training Program</a:t>
            </a:r>
          </a:p>
          <a:p>
            <a:pPr algn="ctr">
              <a:spcBef>
                <a:spcPts val="0"/>
              </a:spcBef>
              <a:spcAft>
                <a:spcPts val="1200"/>
              </a:spcAft>
              <a:defRPr sz="1300" b="1">
                <a:solidFill>
                  <a:srgbClr val="D4A853"/>
                </a:solidFill>
                <a:latin typeface="Calibri"/>
              </a:defRPr>
            </a:pPr>
            <a:r>
              <a:rPr dirty="0"/>
              <a:t>June 2026</a:t>
            </a:r>
          </a:p>
          <a:p>
            <a:pPr algn="ctr">
              <a:spcBef>
                <a:spcPts val="0"/>
              </a:spcBef>
              <a:spcAft>
                <a:spcPts val="600"/>
              </a:spcAft>
              <a:defRPr sz="1200" b="0">
                <a:solidFill>
                  <a:srgbClr val="C4A882"/>
                </a:solidFill>
                <a:latin typeface="Calibri"/>
              </a:defRPr>
            </a:pPr>
            <a:r>
              <a:rPr dirty="0"/>
              <a:t>3,000 records  |  5 categories  |  5 analysis methods  |  16 charts</a:t>
            </a:r>
          </a:p>
          <a:p>
            <a:pPr algn="ctr">
              <a:spcBef>
                <a:spcPts val="0"/>
              </a:spcBef>
              <a:spcAft>
                <a:spcPts val="600"/>
              </a:spcAft>
              <a:defRPr sz="1200" b="0">
                <a:solidFill>
                  <a:srgbClr val="C4A882"/>
                </a:solidFill>
                <a:latin typeface="Calibri"/>
              </a:defRPr>
            </a:pPr>
            <a:r>
              <a:rPr dirty="0"/>
              <a:t>Random Forest R² = 0.709  |  11 API endpoints  |  12 web pages</a:t>
            </a:r>
          </a:p>
          <a:p>
            <a:pPr algn="ctr">
              <a:spcBef>
                <a:spcPts val="0"/>
              </a:spcBef>
              <a:spcAft>
                <a:spcPts val="1600"/>
              </a:spcAft>
              <a:defRPr sz="1200" b="0">
                <a:solidFill>
                  <a:srgbClr val="C4A882"/>
                </a:solidFill>
                <a:latin typeface="Calibri"/>
              </a:defRPr>
            </a:pPr>
            <a:r>
              <a:rPr dirty="0"/>
              <a:t>K-Means 4 segments  |  PCA competitiveness scoring  |  Bilingual ZH/EN</a:t>
            </a:r>
          </a:p>
          <a:p>
            <a:pPr algn="ctr">
              <a:spcBef>
                <a:spcPts val="0"/>
              </a:spcBef>
              <a:spcAft>
                <a:spcPts val="400"/>
              </a:spcAft>
              <a:defRPr sz="1100" b="0">
                <a:solidFill>
                  <a:srgbClr val="A08E74"/>
                </a:solidFill>
                <a:latin typeface="Calibri"/>
              </a:defRPr>
            </a:pPr>
            <a:r>
              <a:rPr dirty="0"/>
              <a:t>Data Analysis Training</a:t>
            </a:r>
          </a:p>
        </p:txBody>
      </p:sp>
      <p:sp>
        <p:nvSpPr>
          <p:cNvPr id="11" name="TextBox 1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615</TotalTime>
  <Words>7418</Words>
  <Application>Microsoft Macintosh PowerPoint</Application>
  <PresentationFormat>Widescreen</PresentationFormat>
  <Paragraphs>697</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mac</cp:lastModifiedBy>
  <cp:revision>17</cp:revision>
  <dcterms:created xsi:type="dcterms:W3CDTF">2013-01-27T09:14:16Z</dcterms:created>
  <dcterms:modified xsi:type="dcterms:W3CDTF">2026-06-06T21:39:15Z</dcterms:modified>
  <cp:category/>
</cp:coreProperties>
</file>